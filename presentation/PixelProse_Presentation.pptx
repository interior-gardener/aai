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1F0FA"/>
                </a:solidFill>
                <a:latin typeface="Arial"/>
              </a:defRPr>
            </a:pPr>
            <a:r>
              <a:rPr sz="1200" b="0" i="0" u="none" strike="noStrike">
                <a:solidFill>
                  <a:srgbClr val="F1F0FA"/>
                </a:solidFill>
                <a:latin typeface="Arial"/>
              </a:rPr>
              <a:t>CIDEr-D, main COCO metric (higher is better)</a:t>
            </a:r>
          </a:p>
        </c:rich>
      </c:tx>
      <c:layout/>
      <c:overlay val="0"/>
    </c:title>
    <c:autoTitleDeleted val="0"/>
    <c:plotArea>
      <c:layout/>
      <c:barChart>
        <c:barDir val="col"/>
        <c:grouping val="clustered"/>
        <c:varyColors val="0"/>
        <c:ser>
          <c:idx val="0"/>
          <c:order val="0"/>
          <c:tx>
            <c:strRef>
              <c:f>Sheet1!$B$1</c:f>
              <c:strCache>
                <c:ptCount val="1"/>
                <c:pt idx="0">
                  <c:v>CIDEr-D</c:v>
                </c:pt>
              </c:strCache>
            </c:strRef>
          </c:tx>
          <c:spPr>
            <a:solidFill>
              <a:srgbClr val="74718F"/>
            </a:solidFill>
            <a:effectLst/>
          </c:spPr>
          <c:invertIfNegative val="0"/>
          <c:dLbls>
            <c:numFmt formatCode="0.00" sourceLinked="0"/>
            <c:txPr>
              <a:bodyPr/>
              <a:lstStyle/>
              <a:p>
                <a:pPr>
                  <a:defRPr b="0" i="0" strike="noStrike" sz="1100" u="none">
                    <a:solidFill>
                      <a:srgbClr val="F1F0FA"/>
                    </a:solidFill>
                    <a:latin typeface="Arial"/>
                  </a:defRPr>
                </a:pPr>
              </a:p>
            </c:txPr>
            <c:showLegendKey val="0"/>
            <c:showVal val="1"/>
            <c:showCatName val="0"/>
            <c:showSerName val="0"/>
            <c:showPercent val="0"/>
            <c:showBubbleSize val="0"/>
            <c:showLeaderLines val="0"/>
          </c:dLbls>
          <c:dPt>
            <c:idx val="0"/>
            <c:invertIfNegative val="0"/>
            <c:bubble3D val="0"/>
            <c:spPr>
              <a:solidFill>
                <a:srgbClr val="74718F"/>
              </a:solidFill>
              <a:effectLst/>
            </c:spPr>
          </c:dPt>
          <c:dPt>
            <c:idx val="1"/>
            <c:invertIfNegative val="0"/>
            <c:bubble3D val="0"/>
            <c:spPr>
              <a:solidFill>
                <a:srgbClr val="74718F"/>
              </a:solidFill>
              <a:effectLst/>
            </c:spPr>
          </c:dPt>
          <c:dPt>
            <c:idx val="2"/>
            <c:invertIfNegative val="0"/>
            <c:bubble3D val="0"/>
            <c:spPr>
              <a:solidFill>
                <a:srgbClr val="6366F1"/>
              </a:solidFill>
              <a:effectLst/>
            </c:spPr>
          </c:dPt>
          <c:dPt>
            <c:idx val="3"/>
            <c:invertIfNegative val="0"/>
            <c:bubble3D val="0"/>
            <c:spPr>
              <a:solidFill>
                <a:srgbClr val="8B5CF6"/>
              </a:solidFill>
              <a:effectLst/>
            </c:spPr>
          </c:dPt>
          <c:dPt>
            <c:idx val="4"/>
            <c:invertIfNegative val="0"/>
            <c:bubble3D val="0"/>
            <c:spPr>
              <a:solidFill>
                <a:srgbClr val="22D3EE"/>
              </a:solidFill>
              <a:effectLst/>
            </c:spPr>
          </c:dPt>
          <c:cat>
            <c:multiLvlStrRef>
              <c:f>Sheet1!$A$2:$A$6</c:f>
              <c:multiLvlStrCache>
                <c:ptCount val="5"/>
                <c:lvl>
                  <c:pt idx="0">
                    <c:v>Base greedy</c:v>
                  </c:pt>
                  <c:pt idx="1">
                    <c:v>Large greedy</c:v>
                  </c:pt>
                  <c:pt idx="2">
                    <c:v>Large beam-5</c:v>
                  </c:pt>
                  <c:pt idx="3">
                    <c:v>Balanced*</c:v>
                  </c:pt>
                  <c:pt idx="4">
                    <c:v>Detailed</c:v>
                  </c:pt>
                </c:lvl>
              </c:multiLvlStrCache>
            </c:multiLvlStrRef>
          </c:cat>
          <c:val>
            <c:numRef>
              <c:f>Sheet1!$B$2:$B$6</c:f>
              <c:numCache>
                <c:formatCode>General</c:formatCode>
                <c:ptCount val="5"/>
                <c:pt idx="0">
                  <c:v>1.819</c:v>
                </c:pt>
                <c:pt idx="1">
                  <c:v>1.757</c:v>
                </c:pt>
                <c:pt idx="2">
                  <c:v>1.957</c:v>
                </c:pt>
                <c:pt idx="3">
                  <c:v>1.945</c:v>
                </c:pt>
                <c:pt idx="4">
                  <c:v>1.913</c:v>
                </c:pt>
              </c:numCache>
            </c:numRef>
          </c:val>
        </c:ser>
        <c:dLbls>
          <c:numFmt formatCode="0.00" sourceLinked="0"/>
          <c:txPr>
            <a:bodyPr/>
            <a:lstStyle/>
            <a:p>
              <a:pPr>
                <a:defRPr b="0" i="0" strike="noStrike" sz="1100" u="none">
                  <a:solidFill>
                    <a:srgbClr val="F1F0F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A9A7C0"/>
                </a:solidFill>
                <a:latin typeface="Arial"/>
              </a:defRPr>
            </a:pPr>
            <a:endParaRPr lang="en-US"/>
          </a:p>
        </c:txPr>
        <c:crossAx val="2094734552"/>
        <c:crosses val="autoZero"/>
        <c:auto val="1"/>
        <c:lblAlgn val="ctr"/>
        <c:noMultiLvlLbl val="1"/>
      </c:catAx>
      <c:valAx>
        <c:axId val="2094734552"/>
        <c:scaling>
          <c:orientation val="minMax"/>
          <c:max val="2.05"/>
          <c:min val="1.5"/>
        </c:scaling>
        <c:delete val="0"/>
        <c:axPos val="l"/>
        <c:majorGridlines>
          <c:spPr>
            <a:ln w="6350" cap="flat">
              <a:solidFill>
                <a:srgbClr val="2A2745"/>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4718F"/>
                </a:solidFill>
                <a:latin typeface="Arial"/>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Kartik Verma  (~50 s)
Good morning everyone. We are Kartik Verma, Dhir Thakar and Kushal Soni, and our Advanced AI project is PixelProse, an explainable image caption generator.
In one line: you give it any photo, and it writes a human-like sentence describing it. More importantly, it can show you where it looked for every word, and it can answer questions about the image.
Everything you'll see today runs locally on this laptop's CPU, with no cloud API. We'll also do a live demo in a few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Kartik Verma  (~60 s)
Why does this matter? According to the WHO, at least 2.2 billion people live with a vision impairment. They rely on screen readers, and screen readers rely on alt-text, a written description of every image. Yet more than half of the web's most popular home pages have images with no alt-text at all.
Beyond accessibility, automatic captions power image search, social media and content moderation, and robots or smart assistants that need to describe what they see.
Describing an image sounds trivial for a human, but for a computer it combines two hard problems: computer vision to understand the scene, and natural language generation to express it fluently.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Kartik Verma  (~45 s)
We set ourselves six goals.
One: captions that are genuinely accurate, not just plausible.
Two: explainability, because the AI shouldn't be a black box.
Three: interactivity, so you can ask follow-up questions.
Four: a clean, modern interface that anyone can use.
Five: it must run on an ordinary student laptop without a GPU or paid API.
And six: we wanted to measure quality with the standard research metrics instead of just claiming it's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Kartik Verma  (~50 s)
This is PixelProse. On the left you pick an image: upload, drag and drop, paste, a URL, your webcam, or one of 44 built-in samples.
On the right you get the caption, with a confidence score and an independent image-match score.
Then there are four tabs. Candidates shows every sentence the model considered. Explain shows attention heatmaps. Ask is a chat for questions. Match lets you test your own descriptions.
Dhir will show all of this live in a few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Kartik Verma  (~60 s)
Under the hood there are three layers.
The frontend is plain HTML, CSS and JavaScript modules, so there is no build step and it's easy to run anywhere.
It talks over a REST API to a FastAPI server written in Python. FastAPI validates every request and also generates interactive API documentation automatically.
The server has independent services: the Captioner, the Matcher, the question answerer and image utilities. A Model Manager loads four transformer networks lazily, picks the best device (NVIDIA GPU, Apple Silicon or CPU), and makes sure requests don't fight over the processor.
Caches mean an image is uploaded once, and repeated requests are instant.
HANDOVER: "Now Kushal will explain the AI model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Kushal Soni  (~70 s)
Our core model is BLIP, "Bootstrapping Language-Image Pre-training", published by Salesforce Research at ICML 2022. It has two halves.
First, a Vision Transformer. The image is resized to 384 by 384 and cut into 576 small patches of 16 by 16 pixels, a 24 by 24 grid. Each patch becomes a vector, and 24 layers of self-attention let every patch look at every other patch. The output is 577 vectors of 1024 numbers each (576 patches plus one global token), a numeric "understanding" of the image.
Second, a text decoder similar to BERT writes the caption one word at a time. At every word it uses cross-attention to look back at the image patches.
BLIP was pre-trained on 129 million image-text pairs. Its key trick, CapFilt, uses a captioner to write synthetic captions and a filter to throw away noisy web captions, which cleans the training data.
The large model we use has 446 million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Kushal Soni  (~70 s)
We didn't just call the model once. We built a pipeline around it.
Step one: encode the image only once. That's the expensive part, so we reuse it.
Step two: generate several candidate sentences. Beam search keeps the 5 most probable partial sentences at every step, which is accurate. In the Detailed mode we also add nucleus sampling, which picks words from the top 90% of the probability mass: more varied and natural.
Step three: clean them and remove duplicates. We also block repeated phrases like "a dog and a dog".
Step four: score every word's probability in a single batched pass. That gives us a confidence value, which is the inverse of perplexity.
Step five: a second network, the Image-Text Matching model, re-reads each sentence together with the image and says how well they match.
The final score is 65% match plus 35% confidence, so the winner is both fluent AND grounded in the picture. It's like having the model write several drafts and asking a fact-checker to pick the best one.
HANDOVER: "Dhir will now show how we made the AI explain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Dhir Thakar  (~60 s)
A common criticism of deep learning is that it's a black box. PixelProse opens the box.
For every word in the caption we compute a heatmap with Grad-CAM. We take the cross-attention between the word and the 576 image patches, and weight it by the gradient of the match score, which tells us how much that attention actually mattered for the decision.
Look: for the word "dog", the dog lights up. For "woman", the heat moves to her. These maps are real outputs from our app.
The app also shows a bar chart of how confident the model was about each individual word. Orange bars mark words where it hesitated.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Dhir Thakar  (~50 s)
The Ask tab uses a third network, BLIP-VQA, for Visual Question Answering. It encodes your question together with the image, and a decoder generates a short answer. For example: "What is the woman wearing?" gives "plaid shirt", and "Is the dog happy?" gives "yes", each with a confidence.
The Match tab turns the matching model into a playground. Type any descriptions and it scores each one. A correct description scores near 100%, a wrong one like "a cat sleeping on a sofa" scores 0%. Notice "a dog giving a high five" gets 29%: partly right, since it misses the woman. The model is genuinely reading the whole scene. It's a great way to probe what the model really understands, and we'll let you try it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Dhir Thakar  (~50 s)
Beyond the core AI we added a lot of practical features:
guided captions like "a painting of…", a fast/accurate model switch, keywords and hashtags, the image's colour palette, accessible alt-text HTML ready to paste into a website, text-to-speech, a downloadable caption card for social media, batch mode for up to 12 images with CSV or JSON export, a history drawer, webcam capture, a REST API with interactive documentation, and a command-line tool.
All 22 features are documented in docs/FEATURES.md.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Dhir Thakar  (~50 s)
We treated the interface as seriously as the model. It's a glassmorphism design with dark and light themes, and it's fully responsive, so it even works on a phone.
Every wait is visualised: while the AI works, a scanning beam sweeps the image over a 24 by 24 grid, which is exactly how the Vision Transformer sees it, and a live checklist shows each stage of the pipeline.
We also respected accessibility: keyboard shortcuts, visible focus states, screen-reader labels and reduced-motion support for people who get motion sickness.
Now let's see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Dhir Thakar presents · Kartik Verma drives the laptop  (~5 min)
Follow the run-sheet in docs/PRESENTATION_GUIDE.md, section 4:
1. Samples → people → "woman and dog on beach" → Generate. Point out the scanning 24×24 grid.
2. Read the caption and the 99.7% image match. Open Candidates and click the 2nd candidate.
3. Explain tab: hover "dog", then "woman", then "beach", then press Play. Pause and let the audience watch.
4. Ask: "what is the woman wearing?" and the chip "How many people are there?"
5. Match: "a cat sleeping on a sofa" vs "a woman playing with her dog".
6. Drag in a FRESH photo taken today from the desktop → Generate.
7. Settings: prefix "a painting of", Base model → Generate.
8. Speak, then download the Card. Optional: T for theme, H for history, the /docs tab.
If anything fails: switch to Base model, or go back to slides 4, 8 and 9 (they show real 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Kushal Soni  (~75 s)
To measure quality objectively we wrote three human reference captions for each of our 44 test images, 132 references in total. We compared five configurations with the standard captioning metrics: BLEU counts matching word sequences; ROUGE-L finds the longest common subsequence; CIDEr-D, the main COCO metric, weights informative words like "giraffe" higher than common words like "the". We implemented all three ourselves and unit-tested them.
Results (CIDEr-D): the base model with greedy decoding scores 1.82. Interestingly, the large model with greedy decoding is slightly lower at 1.76: a bigger model alone doesn't help if you decode naively. Beam search jumps to 1.96, a 8% gain.
Adding our ITM re-ranking on top of beam search keeps CIDEr-D essentially the same (1.94) but raises the image-match from 88% to 92%, so that's our default "Balanced" mode, at 3.9 seconds per image.
The Detailed mode reaches 97% image-match with longer, more specific captions, like "a bunch of red and white airplanes parked on an airport tarmac". Our short references don't contain those extra details, so n-gram metrics slightly penalise it. That's a known limitation of reference-based metrics.
Honesty note: 44 images is a small test set, so these numbers show trends rather than leaderboard scores, and the match score comes from the same model we re-rank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Kushal Soni  (~70 s)
Three problems taught us the most.
One: when we first tested the matching model, it said a correct caption matched with only 2% probability. After debugging we found the configuration used 8 attention heads instead of BLIP's 12. The weight shapes are identical either way, so everything loaded without any error, but the maths was wrong. Fixing it brought the score to 99.6%, exactly the value in the official reference tests. Lesson: silent errors are the dangerous ones, so always validate against known outputs.
Two: in the browser, captioning sometimes took over 90 seconds instead of 5. PyTorch's threads spin-wait for each other, and when the browser's animations used one CPU core, all four threads stalled. Leaving one core free made it more than 10 times faster. We also pause decorative animations while the AI works.
Three: BLIP-large sometimes outputs nonsense words like "arafed". It learned them from noisy web alt-text. Conditioning on the prompt it was trained with ("a picture of"), plus a cleanup step, fixed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Kushal Soni  (~40 s)
Our stack: Python, PyTorch and Hugging Face Transformers for the AI; FastAPI and Uvicorn for the server; Pillow for image processing; plain HTML, CSS and JavaScript for the interface, using the Canvas API for heatmaps and the Web Speech API for text-to-speech; and pytest for 35 automated tests. The neural networks are mocked in the tests, so the whole suite runs in about five seconds.
In total: four transformer models with about 1.25 billion parameters, eight REST endpoints and 22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Kushal Soni  (~40 s)
Where next?
- Captions in Indian languages like Hindi, Gujarati and Marathi through a translation model.
- Larger vision-language models such as BLIP-2 or Florence-2 for paragraph-length descriptions when a GPU is available.
- Video captioning, scene by scene.
- Fine-tuning on Indian scenes and domain data, because most training data is Western.
- A quantised model running on-device in a mobile app.
- And a bias and safety audit of the captions.
HANDOVER: "Kartik will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Kartik Verma, then all three for questions
To conclude: PixelProse generates accurate captions, verifies them with a second model, explains them word by word, answers questions, and runs entirely on a laptop.
Thank you for your attention. We're happy to take questions.
Q&amp;A prep: see docs/PRESENTATION_GUIDE.md section 5 (did you train it, CNN-LSTM vs transformers, attention, confidence, BLEU/CIDEr, why not GPT-4V, Grad-CAM, decoding strategies, limitations, speed,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jp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slideLayout" Target="../slideLayouts/slideLayout1.xml"/><Relationship Id="rId1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image" Target="../media/image-11-5.jp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13-image-1.jpe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jp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731520"/>
            <a:ext cx="6400800" cy="274320"/>
          </a:xfrm>
          <a:prstGeom prst="rect">
            <a:avLst/>
          </a:prstGeom>
          <a:noFill/>
          <a:ln/>
        </p:spPr>
        <p:txBody>
          <a:bodyPr wrap="square" lIns="0" tIns="0" rIns="0" bIns="0" rtlCol="0" anchor="ctr"/>
          <a:lstStyle/>
          <a:p>
            <a:pPr indent="0" marL="0">
              <a:buNone/>
            </a:pPr>
            <a:r>
              <a:rPr lang="en-US" sz="1100" b="1" spc="200" kern="0" dirty="0">
                <a:solidFill>
                  <a:srgbClr val="22D3EE"/>
                </a:solidFill>
                <a:latin typeface="Arial" pitchFamily="34" charset="0"/>
                <a:ea typeface="Arial" pitchFamily="34" charset="-122"/>
                <a:cs typeface="Arial" pitchFamily="34" charset="-120"/>
              </a:rPr>
              <a:t>ADVANCED ARTIFICIAL INTELLIGENCE  ·  PROJECT PRESENTATION</a:t>
            </a:r>
            <a:endParaRPr lang="en-US" sz="1100" dirty="0"/>
          </a:p>
        </p:txBody>
      </p:sp>
      <p:sp>
        <p:nvSpPr>
          <p:cNvPr id="3" name="Text 1"/>
          <p:cNvSpPr txBox="1"/>
          <p:nvPr/>
        </p:nvSpPr>
        <p:spPr>
          <a:xfrm>
            <a:off x="548640" y="1234440"/>
            <a:ext cx="6217920" cy="1188720"/>
          </a:xfrm>
          <a:prstGeom prst="rect">
            <a:avLst/>
          </a:prstGeom>
          <a:noFill/>
          <a:ln/>
        </p:spPr>
        <p:txBody>
          <a:bodyPr wrap="square" lIns="0" tIns="0" rIns="0" bIns="0" rtlCol="0" anchor="ctr"/>
          <a:lstStyle/>
          <a:p>
            <a:pPr indent="0" marL="0">
              <a:buNone/>
            </a:pPr>
            <a:r>
              <a:rPr lang="en-US" sz="7200" b="1" dirty="0">
                <a:solidFill>
                  <a:srgbClr val="F1F0FA"/>
                </a:solidFill>
                <a:latin typeface="Arial" pitchFamily="34" charset="0"/>
                <a:ea typeface="Arial" pitchFamily="34" charset="-122"/>
                <a:cs typeface="Arial" pitchFamily="34" charset="-120"/>
              </a:rPr>
              <a:t>PixelProse</a:t>
            </a:r>
            <a:endParaRPr lang="en-US" sz="7200" dirty="0"/>
          </a:p>
        </p:txBody>
      </p:sp>
      <p:sp>
        <p:nvSpPr>
          <p:cNvPr id="4" name="Text 2"/>
          <p:cNvSpPr txBox="1"/>
          <p:nvPr/>
        </p:nvSpPr>
        <p:spPr>
          <a:xfrm>
            <a:off x="548640" y="2423160"/>
            <a:ext cx="6035040" cy="548640"/>
          </a:xfrm>
          <a:prstGeom prst="rect">
            <a:avLst/>
          </a:prstGeom>
          <a:noFill/>
          <a:ln/>
        </p:spPr>
        <p:txBody>
          <a:bodyPr wrap="square" lIns="0" tIns="0" rIns="0" bIns="0" rtlCol="0" anchor="ctr"/>
          <a:lstStyle/>
          <a:p>
            <a:pPr indent="0" marL="0">
              <a:buNone/>
            </a:pPr>
            <a:r>
              <a:rPr lang="en-US" sz="2400" b="1" dirty="0">
                <a:solidFill>
                  <a:srgbClr val="8B5CF6"/>
                </a:solidFill>
                <a:latin typeface="Arial" pitchFamily="34" charset="0"/>
                <a:ea typeface="Arial" pitchFamily="34" charset="-122"/>
                <a:cs typeface="Arial" pitchFamily="34" charset="-120"/>
              </a:rPr>
              <a:t>Explainable AI Image Caption Generator</a:t>
            </a:r>
            <a:endParaRPr lang="en-US" sz="2400" dirty="0"/>
          </a:p>
        </p:txBody>
      </p:sp>
      <p:sp>
        <p:nvSpPr>
          <p:cNvPr id="5" name="Text 3"/>
          <p:cNvSpPr txBox="1"/>
          <p:nvPr/>
        </p:nvSpPr>
        <p:spPr>
          <a:xfrm>
            <a:off x="548640" y="3108960"/>
            <a:ext cx="5669280" cy="868680"/>
          </a:xfrm>
          <a:prstGeom prst="rect">
            <a:avLst/>
          </a:prstGeom>
          <a:noFill/>
          <a:ln/>
        </p:spPr>
        <p:txBody>
          <a:bodyPr wrap="square" lIns="0" tIns="0" rIns="0" bIns="0" rtlCol="0" anchor="ctr"/>
          <a:lstStyle/>
          <a:p>
            <a:pPr indent="0" marL="0">
              <a:buNone/>
            </a:pPr>
            <a:r>
              <a:rPr lang="en-US" sz="1600" dirty="0">
                <a:solidFill>
                  <a:srgbClr val="A9A7C0"/>
                </a:solidFill>
                <a:latin typeface="Calibri" pitchFamily="34" charset="0"/>
                <a:ea typeface="Calibri" pitchFamily="34" charset="-122"/>
                <a:cs typeface="Calibri" pitchFamily="34" charset="-120"/>
              </a:rPr>
              <a:t>Upload any photo → get a human-like caption, see where the AI looked for every word, and ask it questions. Runs fully offline on a laptop.</a:t>
            </a:r>
            <a:endParaRPr lang="en-US" sz="1600" dirty="0"/>
          </a:p>
        </p:txBody>
      </p:sp>
      <p:sp>
        <p:nvSpPr>
          <p:cNvPr id="6" name="Shape 4"/>
          <p:cNvSpPr/>
          <p:nvPr/>
        </p:nvSpPr>
        <p:spPr>
          <a:xfrm>
            <a:off x="548640" y="4434840"/>
            <a:ext cx="1783080" cy="502920"/>
          </a:xfrm>
          <a:prstGeom prst="roundRect">
            <a:avLst>
              <a:gd name="adj" fmla="val 49091"/>
            </a:avLst>
          </a:prstGeom>
          <a:solidFill>
            <a:srgbClr val="1C1A36"/>
          </a:solidFill>
          <a:ln w="15875">
            <a:solidFill>
              <a:srgbClr val="8B5CF6"/>
            </a:solidFill>
            <a:prstDash val="solid"/>
          </a:ln>
        </p:spPr>
      </p:sp>
      <p:sp>
        <p:nvSpPr>
          <p:cNvPr id="7" name="Text 5"/>
          <p:cNvSpPr txBox="1"/>
          <p:nvPr/>
        </p:nvSpPr>
        <p:spPr>
          <a:xfrm>
            <a:off x="548640" y="4434840"/>
            <a:ext cx="1783080" cy="502920"/>
          </a:xfrm>
          <a:prstGeom prst="rect">
            <a:avLst/>
          </a:prstGeom>
          <a:noFill/>
          <a:ln/>
        </p:spPr>
        <p:txBody>
          <a:bodyPr wrap="square" lIns="0" tIns="0" rIns="0" bIns="0" rtlCol="0" anchor="ctr"/>
          <a:lstStyle/>
          <a:p>
            <a:pPr algn="ctr" indent="0" marL="0">
              <a:buNone/>
            </a:pPr>
            <a:r>
              <a:rPr lang="en-US" sz="1400" b="1" dirty="0">
                <a:solidFill>
                  <a:srgbClr val="F1F0FA"/>
                </a:solidFill>
                <a:latin typeface="Calibri" pitchFamily="34" charset="0"/>
                <a:ea typeface="Calibri" pitchFamily="34" charset="-122"/>
                <a:cs typeface="Calibri" pitchFamily="34" charset="-120"/>
              </a:rPr>
              <a:t>Kartik Verma</a:t>
            </a:r>
            <a:endParaRPr lang="en-US" sz="1400" dirty="0"/>
          </a:p>
        </p:txBody>
      </p:sp>
      <p:sp>
        <p:nvSpPr>
          <p:cNvPr id="8" name="Shape 6"/>
          <p:cNvSpPr/>
          <p:nvPr/>
        </p:nvSpPr>
        <p:spPr>
          <a:xfrm>
            <a:off x="2468880" y="4434840"/>
            <a:ext cx="1783080" cy="502920"/>
          </a:xfrm>
          <a:prstGeom prst="roundRect">
            <a:avLst>
              <a:gd name="adj" fmla="val 49091"/>
            </a:avLst>
          </a:prstGeom>
          <a:solidFill>
            <a:srgbClr val="1C1A36"/>
          </a:solidFill>
          <a:ln w="15875">
            <a:solidFill>
              <a:srgbClr val="22D3EE"/>
            </a:solidFill>
            <a:prstDash val="solid"/>
          </a:ln>
        </p:spPr>
      </p:sp>
      <p:sp>
        <p:nvSpPr>
          <p:cNvPr id="9" name="Text 7"/>
          <p:cNvSpPr txBox="1"/>
          <p:nvPr/>
        </p:nvSpPr>
        <p:spPr>
          <a:xfrm>
            <a:off x="2468880" y="4434840"/>
            <a:ext cx="1783080" cy="502920"/>
          </a:xfrm>
          <a:prstGeom prst="rect">
            <a:avLst/>
          </a:prstGeom>
          <a:noFill/>
          <a:ln/>
        </p:spPr>
        <p:txBody>
          <a:bodyPr wrap="square" lIns="0" tIns="0" rIns="0" bIns="0" rtlCol="0" anchor="ctr"/>
          <a:lstStyle/>
          <a:p>
            <a:pPr algn="ctr" indent="0" marL="0">
              <a:buNone/>
            </a:pPr>
            <a:r>
              <a:rPr lang="en-US" sz="1400" b="1" dirty="0">
                <a:solidFill>
                  <a:srgbClr val="F1F0FA"/>
                </a:solidFill>
                <a:latin typeface="Calibri" pitchFamily="34" charset="0"/>
                <a:ea typeface="Calibri" pitchFamily="34" charset="-122"/>
                <a:cs typeface="Calibri" pitchFamily="34" charset="-120"/>
              </a:rPr>
              <a:t>Dhir Thakar</a:t>
            </a:r>
            <a:endParaRPr lang="en-US" sz="1400" dirty="0"/>
          </a:p>
        </p:txBody>
      </p:sp>
      <p:sp>
        <p:nvSpPr>
          <p:cNvPr id="10" name="Shape 8"/>
          <p:cNvSpPr/>
          <p:nvPr/>
        </p:nvSpPr>
        <p:spPr>
          <a:xfrm>
            <a:off x="4389120" y="4434840"/>
            <a:ext cx="1783080" cy="502920"/>
          </a:xfrm>
          <a:prstGeom prst="roundRect">
            <a:avLst>
              <a:gd name="adj" fmla="val 49091"/>
            </a:avLst>
          </a:prstGeom>
          <a:solidFill>
            <a:srgbClr val="1C1A36"/>
          </a:solidFill>
          <a:ln w="15875">
            <a:solidFill>
              <a:srgbClr val="F472B6"/>
            </a:solidFill>
            <a:prstDash val="solid"/>
          </a:ln>
        </p:spPr>
      </p:sp>
      <p:sp>
        <p:nvSpPr>
          <p:cNvPr id="11" name="Text 9"/>
          <p:cNvSpPr txBox="1"/>
          <p:nvPr/>
        </p:nvSpPr>
        <p:spPr>
          <a:xfrm>
            <a:off x="4389120" y="4434840"/>
            <a:ext cx="1783080" cy="502920"/>
          </a:xfrm>
          <a:prstGeom prst="rect">
            <a:avLst/>
          </a:prstGeom>
          <a:noFill/>
          <a:ln/>
        </p:spPr>
        <p:txBody>
          <a:bodyPr wrap="square" lIns="0" tIns="0" rIns="0" bIns="0" rtlCol="0" anchor="ctr"/>
          <a:lstStyle/>
          <a:p>
            <a:pPr algn="ctr" indent="0" marL="0">
              <a:buNone/>
            </a:pPr>
            <a:r>
              <a:rPr lang="en-US" sz="1400" b="1" dirty="0">
                <a:solidFill>
                  <a:srgbClr val="F1F0FA"/>
                </a:solidFill>
                <a:latin typeface="Calibri" pitchFamily="34" charset="0"/>
                <a:ea typeface="Calibri" pitchFamily="34" charset="-122"/>
                <a:cs typeface="Calibri" pitchFamily="34" charset="-120"/>
              </a:rPr>
              <a:t>Kushal Soni</a:t>
            </a:r>
            <a:endParaRPr lang="en-US" sz="1400" dirty="0"/>
          </a:p>
        </p:txBody>
      </p:sp>
      <p:sp>
        <p:nvSpPr>
          <p:cNvPr id="12" name="Text 10"/>
          <p:cNvSpPr txBox="1"/>
          <p:nvPr/>
        </p:nvSpPr>
        <p:spPr>
          <a:xfrm>
            <a:off x="548640" y="5166360"/>
            <a:ext cx="5943600" cy="320040"/>
          </a:xfrm>
          <a:prstGeom prst="rect">
            <a:avLst/>
          </a:prstGeom>
          <a:noFill/>
          <a:ln/>
        </p:spPr>
        <p:txBody>
          <a:bodyPr wrap="square" lIns="0" tIns="0" rIns="0" bIns="0" rtlCol="0" anchor="ctr"/>
          <a:lstStyle/>
          <a:p>
            <a:pPr indent="0" marL="0">
              <a:buNone/>
            </a:pPr>
            <a:r>
              <a:rPr lang="en-US" sz="1300" dirty="0">
                <a:solidFill>
                  <a:srgbClr val="74718F"/>
                </a:solidFill>
                <a:latin typeface="Calibri" pitchFamily="34" charset="0"/>
                <a:ea typeface="Calibri" pitchFamily="34" charset="-122"/>
                <a:cs typeface="Calibri" pitchFamily="34" charset="-120"/>
              </a:rPr>
              <a:t>Computer Engineering  ·  Salesforce BLIP · PyTorch · FastAPI</a:t>
            </a:r>
            <a:endParaRPr lang="en-US" sz="1300" dirty="0"/>
          </a:p>
        </p:txBody>
      </p:sp>
      <p:sp>
        <p:nvSpPr>
          <p:cNvPr id="13" name="Shape 11"/>
          <p:cNvSpPr/>
          <p:nvPr/>
        </p:nvSpPr>
        <p:spPr>
          <a:xfrm>
            <a:off x="6665976" y="1785366"/>
            <a:ext cx="5047488" cy="3195828"/>
          </a:xfrm>
          <a:prstGeom prst="roundRect">
            <a:avLst>
              <a:gd name="adj" fmla="val 3433"/>
            </a:avLst>
          </a:prstGeom>
          <a:solidFill>
            <a:srgbClr val="1C1A36"/>
          </a:solidFill>
          <a:ln w="12700">
            <a:solidFill>
              <a:srgbClr val="2E2A4F"/>
            </a:solidFill>
            <a:prstDash val="solid"/>
          </a:ln>
          <a:effectLst>
            <a:outerShdw sx="100000" sy="100000" kx="0" ky="0" algn="bl" rotWithShape="0" blurRad="228600" dist="76200" dir="5400000">
              <a:srgbClr val="000000">
                <a:alpha val="45000"/>
              </a:srgbClr>
            </a:outerShdw>
          </a:effectLst>
        </p:spPr>
      </p:sp>
      <p:pic>
        <p:nvPicPr>
          <p:cNvPr id="14" name="Image 0" descr="/home/user/AAI/docs/images/hero.jpg">    </p:cNvPr>
          <p:cNvPicPr>
            <a:picLocks noChangeAspect="1"/>
          </p:cNvPicPr>
          <p:nvPr/>
        </p:nvPicPr>
        <p:blipFill>
          <a:blip r:embed="rId2"/>
          <a:stretch>
            <a:fillRect/>
          </a:stretch>
        </p:blipFill>
        <p:spPr>
          <a:xfrm>
            <a:off x="6720840" y="1840230"/>
            <a:ext cx="4937760" cy="3086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indent="0" marL="0">
              <a:buNone/>
            </a:pPr>
            <a:r>
              <a:rPr lang="en-US" sz="1100" b="1" spc="300" kern="0" dirty="0">
                <a:solidFill>
                  <a:srgbClr val="8B5CF6"/>
                </a:solidFill>
                <a:latin typeface="Arial" pitchFamily="34" charset="0"/>
                <a:ea typeface="Arial" pitchFamily="34" charset="-122"/>
                <a:cs typeface="Arial" pitchFamily="34" charset="-120"/>
              </a:rPr>
              <a:t>THE PROBLEM</a:t>
            </a:r>
            <a:endParaRPr lang="en-US" sz="1100" dirty="0"/>
          </a:p>
        </p:txBody>
      </p:sp>
      <p:sp>
        <p:nvSpPr>
          <p:cNvPr id="3" name="Text 1"/>
          <p:cNvSpPr txBox="1"/>
          <p:nvPr/>
        </p:nvSpPr>
        <p:spPr>
          <a:xfrm>
            <a:off x="548640" y="777240"/>
            <a:ext cx="11094415" cy="777240"/>
          </a:xfrm>
          <a:prstGeom prst="rect">
            <a:avLst/>
          </a:prstGeom>
          <a:noFill/>
          <a:ln/>
        </p:spPr>
        <p:txBody>
          <a:bodyPr wrap="square" lIns="0" tIns="0" rIns="0" bIns="0" rtlCol="0" anchor="t"/>
          <a:lstStyle/>
          <a:p>
            <a:pPr indent="0" marL="0">
              <a:buNone/>
            </a:pPr>
            <a:r>
              <a:rPr lang="en-US" sz="3400" b="1" dirty="0">
                <a:solidFill>
                  <a:srgbClr val="F1F0FA"/>
                </a:solidFill>
                <a:latin typeface="Arial" pitchFamily="34" charset="0"/>
                <a:ea typeface="Arial" pitchFamily="34" charset="-122"/>
                <a:cs typeface="Arial" pitchFamily="34" charset="-120"/>
              </a:rPr>
              <a:t>Machines need to describe what they see</a:t>
            </a:r>
            <a:endParaRPr lang="en-US" sz="3400" dirty="0"/>
          </a:p>
        </p:txBody>
      </p:sp>
      <p:sp>
        <p:nvSpPr>
          <p:cNvPr id="4" name="Shape 2"/>
          <p:cNvSpPr/>
          <p:nvPr/>
        </p:nvSpPr>
        <p:spPr>
          <a:xfrm>
            <a:off x="548640" y="1828800"/>
            <a:ext cx="5120640" cy="1828800"/>
          </a:xfrm>
          <a:prstGeom prst="roundRect">
            <a:avLst>
              <a:gd name="adj" fmla="val 7000"/>
            </a:avLst>
          </a:prstGeom>
          <a:solidFill>
            <a:srgbClr val="15132A"/>
          </a:solidFill>
          <a:ln w="12700">
            <a:solidFill>
              <a:srgbClr val="2E2A4F"/>
            </a:solidFill>
            <a:prstDash val="solid"/>
          </a:ln>
        </p:spPr>
      </p:sp>
      <p:sp>
        <p:nvSpPr>
          <p:cNvPr id="5" name="Text 3"/>
          <p:cNvSpPr txBox="1"/>
          <p:nvPr/>
        </p:nvSpPr>
        <p:spPr>
          <a:xfrm>
            <a:off x="868680" y="1965960"/>
            <a:ext cx="4389120" cy="777240"/>
          </a:xfrm>
          <a:prstGeom prst="rect">
            <a:avLst/>
          </a:prstGeom>
          <a:noFill/>
          <a:ln/>
        </p:spPr>
        <p:txBody>
          <a:bodyPr wrap="square" lIns="0" tIns="0" rIns="0" bIns="0" rtlCol="0" anchor="ctr"/>
          <a:lstStyle/>
          <a:p>
            <a:pPr indent="0" marL="0">
              <a:buNone/>
            </a:pPr>
            <a:r>
              <a:rPr lang="en-US" sz="4600" b="1" dirty="0">
                <a:solidFill>
                  <a:srgbClr val="8B5CF6"/>
                </a:solidFill>
                <a:latin typeface="Arial" pitchFamily="34" charset="0"/>
                <a:ea typeface="Arial" pitchFamily="34" charset="-122"/>
                <a:cs typeface="Arial" pitchFamily="34" charset="-120"/>
              </a:rPr>
              <a:t>2.2 B</a:t>
            </a:r>
            <a:endParaRPr lang="en-US" sz="4600" dirty="0"/>
          </a:p>
        </p:txBody>
      </p:sp>
      <p:sp>
        <p:nvSpPr>
          <p:cNvPr id="6" name="Text 4"/>
          <p:cNvSpPr txBox="1"/>
          <p:nvPr/>
        </p:nvSpPr>
        <p:spPr>
          <a:xfrm>
            <a:off x="868680" y="2724912"/>
            <a:ext cx="4572000" cy="548640"/>
          </a:xfrm>
          <a:prstGeom prst="rect">
            <a:avLst/>
          </a:prstGeom>
          <a:noFill/>
          <a:ln/>
        </p:spPr>
        <p:txBody>
          <a:bodyPr wrap="square" lIns="0" tIns="0" rIns="0" bIns="0" rtlCol="0" anchor="t"/>
          <a:lstStyle/>
          <a:p>
            <a:pPr indent="0" marL="0">
              <a:buNone/>
            </a:pPr>
            <a:r>
              <a:rPr lang="en-US" sz="1400" dirty="0">
                <a:solidFill>
                  <a:srgbClr val="F1F0FA"/>
                </a:solidFill>
                <a:latin typeface="Calibri" pitchFamily="34" charset="0"/>
                <a:ea typeface="Calibri" pitchFamily="34" charset="-122"/>
                <a:cs typeface="Calibri" pitchFamily="34" charset="-120"/>
              </a:rPr>
              <a:t>people live with a near or distance vision impairment</a:t>
            </a:r>
            <a:endParaRPr lang="en-US" sz="1400" dirty="0"/>
          </a:p>
        </p:txBody>
      </p:sp>
      <p:sp>
        <p:nvSpPr>
          <p:cNvPr id="7" name="Text 5"/>
          <p:cNvSpPr txBox="1"/>
          <p:nvPr/>
        </p:nvSpPr>
        <p:spPr>
          <a:xfrm>
            <a:off x="868680" y="3310128"/>
            <a:ext cx="4572000" cy="228600"/>
          </a:xfrm>
          <a:prstGeom prst="rect">
            <a:avLst/>
          </a:prstGeom>
          <a:noFill/>
          <a:ln/>
        </p:spPr>
        <p:txBody>
          <a:bodyPr wrap="square" lIns="0" tIns="0" rIns="0" bIns="0" rtlCol="0" anchor="ctr"/>
          <a:lstStyle/>
          <a:p>
            <a:pPr indent="0" marL="0">
              <a:buNone/>
            </a:pPr>
            <a:r>
              <a:rPr lang="en-US" sz="1000" i="1" dirty="0">
                <a:solidFill>
                  <a:srgbClr val="74718F"/>
                </a:solidFill>
                <a:latin typeface="Calibri" pitchFamily="34" charset="0"/>
                <a:ea typeface="Calibri" pitchFamily="34" charset="-122"/>
                <a:cs typeface="Calibri" pitchFamily="34" charset="-120"/>
              </a:rPr>
              <a:t>WHO World Report on Vision, 2019</a:t>
            </a:r>
            <a:endParaRPr lang="en-US" sz="1000" dirty="0"/>
          </a:p>
        </p:txBody>
      </p:sp>
      <p:sp>
        <p:nvSpPr>
          <p:cNvPr id="8" name="Shape 6"/>
          <p:cNvSpPr/>
          <p:nvPr/>
        </p:nvSpPr>
        <p:spPr>
          <a:xfrm>
            <a:off x="548640" y="3840480"/>
            <a:ext cx="5120640" cy="1828800"/>
          </a:xfrm>
          <a:prstGeom prst="roundRect">
            <a:avLst>
              <a:gd name="adj" fmla="val 7000"/>
            </a:avLst>
          </a:prstGeom>
          <a:solidFill>
            <a:srgbClr val="15132A"/>
          </a:solidFill>
          <a:ln w="12700">
            <a:solidFill>
              <a:srgbClr val="2E2A4F"/>
            </a:solidFill>
            <a:prstDash val="solid"/>
          </a:ln>
        </p:spPr>
      </p:sp>
      <p:sp>
        <p:nvSpPr>
          <p:cNvPr id="9" name="Text 7"/>
          <p:cNvSpPr txBox="1"/>
          <p:nvPr/>
        </p:nvSpPr>
        <p:spPr>
          <a:xfrm>
            <a:off x="868680" y="3977640"/>
            <a:ext cx="4389120" cy="777240"/>
          </a:xfrm>
          <a:prstGeom prst="rect">
            <a:avLst/>
          </a:prstGeom>
          <a:noFill/>
          <a:ln/>
        </p:spPr>
        <p:txBody>
          <a:bodyPr wrap="square" lIns="0" tIns="0" rIns="0" bIns="0" rtlCol="0" anchor="ctr"/>
          <a:lstStyle/>
          <a:p>
            <a:pPr indent="0" marL="0">
              <a:buNone/>
            </a:pPr>
            <a:r>
              <a:rPr lang="en-US" sz="4600" b="1" dirty="0">
                <a:solidFill>
                  <a:srgbClr val="22D3EE"/>
                </a:solidFill>
                <a:latin typeface="Arial" pitchFamily="34" charset="0"/>
                <a:ea typeface="Arial" pitchFamily="34" charset="-122"/>
                <a:cs typeface="Arial" pitchFamily="34" charset="-120"/>
              </a:rPr>
              <a:t>&gt;50%</a:t>
            </a:r>
            <a:endParaRPr lang="en-US" sz="4600" dirty="0"/>
          </a:p>
        </p:txBody>
      </p:sp>
      <p:sp>
        <p:nvSpPr>
          <p:cNvPr id="10" name="Text 8"/>
          <p:cNvSpPr txBox="1"/>
          <p:nvPr/>
        </p:nvSpPr>
        <p:spPr>
          <a:xfrm>
            <a:off x="868680" y="4736592"/>
            <a:ext cx="4572000" cy="548640"/>
          </a:xfrm>
          <a:prstGeom prst="rect">
            <a:avLst/>
          </a:prstGeom>
          <a:noFill/>
          <a:ln/>
        </p:spPr>
        <p:txBody>
          <a:bodyPr wrap="square" lIns="0" tIns="0" rIns="0" bIns="0" rtlCol="0" anchor="t"/>
          <a:lstStyle/>
          <a:p>
            <a:pPr indent="0" marL="0">
              <a:buNone/>
            </a:pPr>
            <a:r>
              <a:rPr lang="en-US" sz="1400" dirty="0">
                <a:solidFill>
                  <a:srgbClr val="F1F0FA"/>
                </a:solidFill>
                <a:latin typeface="Calibri" pitchFamily="34" charset="0"/>
                <a:ea typeface="Calibri" pitchFamily="34" charset="-122"/>
                <a:cs typeface="Calibri" pitchFamily="34" charset="-120"/>
              </a:rPr>
              <a:t>of the top 1 million home pages contain images with missing alt-text</a:t>
            </a:r>
            <a:endParaRPr lang="en-US" sz="1400" dirty="0"/>
          </a:p>
        </p:txBody>
      </p:sp>
      <p:sp>
        <p:nvSpPr>
          <p:cNvPr id="11" name="Text 9"/>
          <p:cNvSpPr txBox="1"/>
          <p:nvPr/>
        </p:nvSpPr>
        <p:spPr>
          <a:xfrm>
            <a:off x="868680" y="5321808"/>
            <a:ext cx="4572000" cy="228600"/>
          </a:xfrm>
          <a:prstGeom prst="rect">
            <a:avLst/>
          </a:prstGeom>
          <a:noFill/>
          <a:ln/>
        </p:spPr>
        <p:txBody>
          <a:bodyPr wrap="square" lIns="0" tIns="0" rIns="0" bIns="0" rtlCol="0" anchor="ctr"/>
          <a:lstStyle/>
          <a:p>
            <a:pPr indent="0" marL="0">
              <a:buNone/>
            </a:pPr>
            <a:r>
              <a:rPr lang="en-US" sz="1000" i="1" dirty="0">
                <a:solidFill>
                  <a:srgbClr val="74718F"/>
                </a:solidFill>
                <a:latin typeface="Calibri" pitchFamily="34" charset="0"/>
                <a:ea typeface="Calibri" pitchFamily="34" charset="-122"/>
                <a:cs typeface="Calibri" pitchFamily="34" charset="-120"/>
              </a:rPr>
              <a:t>WebAIM Million report</a:t>
            </a:r>
            <a:endParaRPr lang="en-US" sz="1000" dirty="0"/>
          </a:p>
        </p:txBody>
      </p:sp>
      <p:sp>
        <p:nvSpPr>
          <p:cNvPr id="12" name="Text 10"/>
          <p:cNvSpPr txBox="1"/>
          <p:nvPr/>
        </p:nvSpPr>
        <p:spPr>
          <a:xfrm>
            <a:off x="6309360" y="1828800"/>
            <a:ext cx="5303520" cy="365760"/>
          </a:xfrm>
          <a:prstGeom prst="rect">
            <a:avLst/>
          </a:prstGeom>
          <a:noFill/>
          <a:ln/>
        </p:spPr>
        <p:txBody>
          <a:bodyPr wrap="square" lIns="0" tIns="0" rIns="0" bIns="0" rtlCol="0" anchor="ctr"/>
          <a:lstStyle/>
          <a:p>
            <a:pPr indent="0" marL="0">
              <a:buNone/>
            </a:pPr>
            <a:r>
              <a:rPr lang="en-US" sz="1800" b="1" dirty="0">
                <a:solidFill>
                  <a:srgbClr val="F1F0FA"/>
                </a:solidFill>
                <a:latin typeface="Arial" pitchFamily="34" charset="0"/>
                <a:ea typeface="Arial" pitchFamily="34" charset="-122"/>
                <a:cs typeface="Arial" pitchFamily="34" charset="-120"/>
              </a:rPr>
              <a:t>Where captioning is used</a:t>
            </a:r>
            <a:endParaRPr lang="en-US" sz="1800" dirty="0"/>
          </a:p>
        </p:txBody>
      </p:sp>
      <p:sp>
        <p:nvSpPr>
          <p:cNvPr id="13" name="Shape 11"/>
          <p:cNvSpPr/>
          <p:nvPr/>
        </p:nvSpPr>
        <p:spPr>
          <a:xfrm>
            <a:off x="6309360" y="2377440"/>
            <a:ext cx="566928" cy="566928"/>
          </a:xfrm>
          <a:prstGeom prst="ellipse">
            <a:avLst/>
          </a:prstGeom>
          <a:solidFill>
            <a:srgbClr val="8B5CF6">
              <a:alpha val="18000"/>
            </a:srgbClr>
          </a:solidFill>
          <a:ln w="12700">
            <a:solidFill>
              <a:srgbClr val="8B5CF6">
                <a:alpha val="60000"/>
              </a:srgbClr>
            </a:solidFill>
            <a:prstDash val="solid"/>
          </a:ln>
        </p:spPr>
      </p:sp>
      <p:pic>
        <p:nvPicPr>
          <p:cNvPr id="14" name="Image 0" descr="preencoded.png">    </p:cNvPr>
          <p:cNvPicPr>
            <a:picLocks noChangeAspect="1"/>
          </p:cNvPicPr>
          <p:nvPr/>
        </p:nvPicPr>
        <p:blipFill>
          <a:blip r:embed="rId2"/>
          <a:stretch>
            <a:fillRect/>
          </a:stretch>
        </p:blipFill>
        <p:spPr>
          <a:xfrm>
            <a:off x="6434084" y="2502164"/>
            <a:ext cx="317480" cy="317480"/>
          </a:xfrm>
          <a:prstGeom prst="rect">
            <a:avLst/>
          </a:prstGeom>
        </p:spPr>
      </p:pic>
      <p:sp>
        <p:nvSpPr>
          <p:cNvPr id="15" name="Text 12"/>
          <p:cNvSpPr txBox="1"/>
          <p:nvPr/>
        </p:nvSpPr>
        <p:spPr>
          <a:xfrm>
            <a:off x="7086600" y="2359152"/>
            <a:ext cx="4480560" cy="320040"/>
          </a:xfrm>
          <a:prstGeom prst="rect">
            <a:avLst/>
          </a:prstGeom>
          <a:noFill/>
          <a:ln/>
        </p:spPr>
        <p:txBody>
          <a:bodyPr wrap="square" lIns="0" tIns="0" rIns="0" bIns="0" rtlCol="0" anchor="ctr"/>
          <a:lstStyle/>
          <a:p>
            <a:pPr indent="0" marL="0">
              <a:buNone/>
            </a:pPr>
            <a:r>
              <a:rPr lang="en-US" sz="1600" b="1" dirty="0">
                <a:solidFill>
                  <a:srgbClr val="F1F0FA"/>
                </a:solidFill>
                <a:latin typeface="Arial" pitchFamily="34" charset="0"/>
                <a:ea typeface="Arial" pitchFamily="34" charset="-122"/>
                <a:cs typeface="Arial" pitchFamily="34" charset="-120"/>
              </a:rPr>
              <a:t>Accessibility</a:t>
            </a:r>
            <a:endParaRPr lang="en-US" sz="1600" dirty="0"/>
          </a:p>
        </p:txBody>
      </p:sp>
      <p:sp>
        <p:nvSpPr>
          <p:cNvPr id="16" name="Text 13"/>
          <p:cNvSpPr txBox="1"/>
          <p:nvPr/>
        </p:nvSpPr>
        <p:spPr>
          <a:xfrm>
            <a:off x="7086600" y="2670048"/>
            <a:ext cx="4480560" cy="274320"/>
          </a:xfrm>
          <a:prstGeom prst="rect">
            <a:avLst/>
          </a:prstGeom>
          <a:noFill/>
          <a:ln/>
        </p:spPr>
        <p:txBody>
          <a:bodyPr wrap="square" lIns="0" tIns="0" rIns="0" bIns="0" rtlCol="0" anchor="ctr"/>
          <a:lstStyle/>
          <a:p>
            <a:pPr indent="0" marL="0">
              <a:buNone/>
            </a:pPr>
            <a:r>
              <a:rPr lang="en-US" sz="1300" dirty="0">
                <a:solidFill>
                  <a:srgbClr val="A9A7C0"/>
                </a:solidFill>
                <a:latin typeface="Calibri" pitchFamily="34" charset="0"/>
                <a:ea typeface="Calibri" pitchFamily="34" charset="-122"/>
                <a:cs typeface="Calibri" pitchFamily="34" charset="-120"/>
              </a:rPr>
              <a:t>Automatic alt-text for screen readers</a:t>
            </a:r>
            <a:endParaRPr lang="en-US" sz="1300" dirty="0"/>
          </a:p>
        </p:txBody>
      </p:sp>
      <p:sp>
        <p:nvSpPr>
          <p:cNvPr id="17" name="Shape 14"/>
          <p:cNvSpPr/>
          <p:nvPr/>
        </p:nvSpPr>
        <p:spPr>
          <a:xfrm>
            <a:off x="6309360" y="3246120"/>
            <a:ext cx="566928" cy="566928"/>
          </a:xfrm>
          <a:prstGeom prst="ellipse">
            <a:avLst/>
          </a:prstGeom>
          <a:solidFill>
            <a:srgbClr val="22D3EE">
              <a:alpha val="18000"/>
            </a:srgbClr>
          </a:solidFill>
          <a:ln w="12700">
            <a:solidFill>
              <a:srgbClr val="22D3EE">
                <a:alpha val="60000"/>
              </a:srgbClr>
            </a:solidFill>
            <a:prstDash val="solid"/>
          </a:ln>
        </p:spPr>
      </p:sp>
      <p:pic>
        <p:nvPicPr>
          <p:cNvPr id="18" name="Image 1" descr="preencoded.png">    </p:cNvPr>
          <p:cNvPicPr>
            <a:picLocks noChangeAspect="1"/>
          </p:cNvPicPr>
          <p:nvPr/>
        </p:nvPicPr>
        <p:blipFill>
          <a:blip r:embed="rId3"/>
          <a:stretch>
            <a:fillRect/>
          </a:stretch>
        </p:blipFill>
        <p:spPr>
          <a:xfrm>
            <a:off x="6434084" y="3370844"/>
            <a:ext cx="317480" cy="317480"/>
          </a:xfrm>
          <a:prstGeom prst="rect">
            <a:avLst/>
          </a:prstGeom>
        </p:spPr>
      </p:pic>
      <p:sp>
        <p:nvSpPr>
          <p:cNvPr id="19" name="Text 15"/>
          <p:cNvSpPr txBox="1"/>
          <p:nvPr/>
        </p:nvSpPr>
        <p:spPr>
          <a:xfrm>
            <a:off x="7086600" y="3227832"/>
            <a:ext cx="4480560" cy="320040"/>
          </a:xfrm>
          <a:prstGeom prst="rect">
            <a:avLst/>
          </a:prstGeom>
          <a:noFill/>
          <a:ln/>
        </p:spPr>
        <p:txBody>
          <a:bodyPr wrap="square" lIns="0" tIns="0" rIns="0" bIns="0" rtlCol="0" anchor="ctr"/>
          <a:lstStyle/>
          <a:p>
            <a:pPr indent="0" marL="0">
              <a:buNone/>
            </a:pPr>
            <a:r>
              <a:rPr lang="en-US" sz="1600" b="1" dirty="0">
                <a:solidFill>
                  <a:srgbClr val="F1F0FA"/>
                </a:solidFill>
                <a:latin typeface="Arial" pitchFamily="34" charset="0"/>
                <a:ea typeface="Arial" pitchFamily="34" charset="-122"/>
                <a:cs typeface="Arial" pitchFamily="34" charset="-120"/>
              </a:rPr>
              <a:t>Search &amp; indexing</a:t>
            </a:r>
            <a:endParaRPr lang="en-US" sz="1600" dirty="0"/>
          </a:p>
        </p:txBody>
      </p:sp>
      <p:sp>
        <p:nvSpPr>
          <p:cNvPr id="20" name="Text 16"/>
          <p:cNvSpPr txBox="1"/>
          <p:nvPr/>
        </p:nvSpPr>
        <p:spPr>
          <a:xfrm>
            <a:off x="7086600" y="3538728"/>
            <a:ext cx="4480560" cy="274320"/>
          </a:xfrm>
          <a:prstGeom prst="rect">
            <a:avLst/>
          </a:prstGeom>
          <a:noFill/>
          <a:ln/>
        </p:spPr>
        <p:txBody>
          <a:bodyPr wrap="square" lIns="0" tIns="0" rIns="0" bIns="0" rtlCol="0" anchor="ctr"/>
          <a:lstStyle/>
          <a:p>
            <a:pPr indent="0" marL="0">
              <a:buNone/>
            </a:pPr>
            <a:r>
              <a:rPr lang="en-US" sz="1300" dirty="0">
                <a:solidFill>
                  <a:srgbClr val="A9A7C0"/>
                </a:solidFill>
                <a:latin typeface="Calibri" pitchFamily="34" charset="0"/>
                <a:ea typeface="Calibri" pitchFamily="34" charset="-122"/>
                <a:cs typeface="Calibri" pitchFamily="34" charset="-120"/>
              </a:rPr>
              <a:t>Find photos by what's in them</a:t>
            </a:r>
            <a:endParaRPr lang="en-US" sz="1300" dirty="0"/>
          </a:p>
        </p:txBody>
      </p:sp>
      <p:sp>
        <p:nvSpPr>
          <p:cNvPr id="21" name="Shape 17"/>
          <p:cNvSpPr/>
          <p:nvPr/>
        </p:nvSpPr>
        <p:spPr>
          <a:xfrm>
            <a:off x="6309360" y="4114800"/>
            <a:ext cx="566928" cy="566928"/>
          </a:xfrm>
          <a:prstGeom prst="ellipse">
            <a:avLst/>
          </a:prstGeom>
          <a:solidFill>
            <a:srgbClr val="F472B6">
              <a:alpha val="18000"/>
            </a:srgbClr>
          </a:solidFill>
          <a:ln w="12700">
            <a:solidFill>
              <a:srgbClr val="F472B6">
                <a:alpha val="60000"/>
              </a:srgbClr>
            </a:solidFill>
            <a:prstDash val="solid"/>
          </a:ln>
        </p:spPr>
      </p:sp>
      <p:pic>
        <p:nvPicPr>
          <p:cNvPr id="22" name="Image 2" descr="preencoded.png">    </p:cNvPr>
          <p:cNvPicPr>
            <a:picLocks noChangeAspect="1"/>
          </p:cNvPicPr>
          <p:nvPr/>
        </p:nvPicPr>
        <p:blipFill>
          <a:blip r:embed="rId4"/>
          <a:stretch>
            <a:fillRect/>
          </a:stretch>
        </p:blipFill>
        <p:spPr>
          <a:xfrm>
            <a:off x="6434084" y="4239524"/>
            <a:ext cx="317480" cy="317480"/>
          </a:xfrm>
          <a:prstGeom prst="rect">
            <a:avLst/>
          </a:prstGeom>
        </p:spPr>
      </p:pic>
      <p:sp>
        <p:nvSpPr>
          <p:cNvPr id="23" name="Text 18"/>
          <p:cNvSpPr txBox="1"/>
          <p:nvPr/>
        </p:nvSpPr>
        <p:spPr>
          <a:xfrm>
            <a:off x="7086600" y="4096512"/>
            <a:ext cx="4480560" cy="320040"/>
          </a:xfrm>
          <a:prstGeom prst="rect">
            <a:avLst/>
          </a:prstGeom>
          <a:noFill/>
          <a:ln/>
        </p:spPr>
        <p:txBody>
          <a:bodyPr wrap="square" lIns="0" tIns="0" rIns="0" bIns="0" rtlCol="0" anchor="ctr"/>
          <a:lstStyle/>
          <a:p>
            <a:pPr indent="0" marL="0">
              <a:buNone/>
            </a:pPr>
            <a:r>
              <a:rPr lang="en-US" sz="1600" b="1" dirty="0">
                <a:solidFill>
                  <a:srgbClr val="F1F0FA"/>
                </a:solidFill>
                <a:latin typeface="Arial" pitchFamily="34" charset="0"/>
                <a:ea typeface="Arial" pitchFamily="34" charset="-122"/>
                <a:cs typeface="Arial" pitchFamily="34" charset="-120"/>
              </a:rPr>
              <a:t>Social &amp; content</a:t>
            </a:r>
            <a:endParaRPr lang="en-US" sz="1600" dirty="0"/>
          </a:p>
        </p:txBody>
      </p:sp>
      <p:sp>
        <p:nvSpPr>
          <p:cNvPr id="24" name="Text 19"/>
          <p:cNvSpPr txBox="1"/>
          <p:nvPr/>
        </p:nvSpPr>
        <p:spPr>
          <a:xfrm>
            <a:off x="7086600" y="4407408"/>
            <a:ext cx="4480560" cy="274320"/>
          </a:xfrm>
          <a:prstGeom prst="rect">
            <a:avLst/>
          </a:prstGeom>
          <a:noFill/>
          <a:ln/>
        </p:spPr>
        <p:txBody>
          <a:bodyPr wrap="square" lIns="0" tIns="0" rIns="0" bIns="0" rtlCol="0" anchor="ctr"/>
          <a:lstStyle/>
          <a:p>
            <a:pPr indent="0" marL="0">
              <a:buNone/>
            </a:pPr>
            <a:r>
              <a:rPr lang="en-US" sz="1300" dirty="0">
                <a:solidFill>
                  <a:srgbClr val="A9A7C0"/>
                </a:solidFill>
                <a:latin typeface="Calibri" pitchFamily="34" charset="0"/>
                <a:ea typeface="Calibri" pitchFamily="34" charset="-122"/>
                <a:cs typeface="Calibri" pitchFamily="34" charset="-120"/>
              </a:rPr>
              <a:t>Captions, hashtags and moderation</a:t>
            </a:r>
            <a:endParaRPr lang="en-US" sz="1300" dirty="0"/>
          </a:p>
        </p:txBody>
      </p:sp>
      <p:sp>
        <p:nvSpPr>
          <p:cNvPr id="25" name="Shape 20"/>
          <p:cNvSpPr/>
          <p:nvPr/>
        </p:nvSpPr>
        <p:spPr>
          <a:xfrm>
            <a:off x="6309360" y="4983480"/>
            <a:ext cx="566928" cy="566928"/>
          </a:xfrm>
          <a:prstGeom prst="ellipse">
            <a:avLst/>
          </a:prstGeom>
          <a:solidFill>
            <a:srgbClr val="FBBF24">
              <a:alpha val="18000"/>
            </a:srgbClr>
          </a:solidFill>
          <a:ln w="12700">
            <a:solidFill>
              <a:srgbClr val="FBBF24">
                <a:alpha val="60000"/>
              </a:srgbClr>
            </a:solidFill>
            <a:prstDash val="solid"/>
          </a:ln>
        </p:spPr>
      </p:sp>
      <p:pic>
        <p:nvPicPr>
          <p:cNvPr id="26" name="Image 3" descr="preencoded.png">    </p:cNvPr>
          <p:cNvPicPr>
            <a:picLocks noChangeAspect="1"/>
          </p:cNvPicPr>
          <p:nvPr/>
        </p:nvPicPr>
        <p:blipFill>
          <a:blip r:embed="rId5"/>
          <a:stretch>
            <a:fillRect/>
          </a:stretch>
        </p:blipFill>
        <p:spPr>
          <a:xfrm>
            <a:off x="6434084" y="5108204"/>
            <a:ext cx="317480" cy="317480"/>
          </a:xfrm>
          <a:prstGeom prst="rect">
            <a:avLst/>
          </a:prstGeom>
        </p:spPr>
      </p:pic>
      <p:sp>
        <p:nvSpPr>
          <p:cNvPr id="27" name="Text 21"/>
          <p:cNvSpPr txBox="1"/>
          <p:nvPr/>
        </p:nvSpPr>
        <p:spPr>
          <a:xfrm>
            <a:off x="7086600" y="4965192"/>
            <a:ext cx="4480560" cy="320040"/>
          </a:xfrm>
          <a:prstGeom prst="rect">
            <a:avLst/>
          </a:prstGeom>
          <a:noFill/>
          <a:ln/>
        </p:spPr>
        <p:txBody>
          <a:bodyPr wrap="square" lIns="0" tIns="0" rIns="0" bIns="0" rtlCol="0" anchor="ctr"/>
          <a:lstStyle/>
          <a:p>
            <a:pPr indent="0" marL="0">
              <a:buNone/>
            </a:pPr>
            <a:r>
              <a:rPr lang="en-US" sz="1600" b="1" dirty="0">
                <a:solidFill>
                  <a:srgbClr val="F1F0FA"/>
                </a:solidFill>
                <a:latin typeface="Arial" pitchFamily="34" charset="0"/>
                <a:ea typeface="Arial" pitchFamily="34" charset="-122"/>
                <a:cs typeface="Arial" pitchFamily="34" charset="-120"/>
              </a:rPr>
              <a:t>Robotics &amp; assistants</a:t>
            </a:r>
            <a:endParaRPr lang="en-US" sz="1600" dirty="0"/>
          </a:p>
        </p:txBody>
      </p:sp>
      <p:sp>
        <p:nvSpPr>
          <p:cNvPr id="28" name="Text 22"/>
          <p:cNvSpPr txBox="1"/>
          <p:nvPr/>
        </p:nvSpPr>
        <p:spPr>
          <a:xfrm>
            <a:off x="7086600" y="5276088"/>
            <a:ext cx="4480560" cy="274320"/>
          </a:xfrm>
          <a:prstGeom prst="rect">
            <a:avLst/>
          </a:prstGeom>
          <a:noFill/>
          <a:ln/>
        </p:spPr>
        <p:txBody>
          <a:bodyPr wrap="square" lIns="0" tIns="0" rIns="0" bIns="0" rtlCol="0" anchor="ctr"/>
          <a:lstStyle/>
          <a:p>
            <a:pPr indent="0" marL="0">
              <a:buNone/>
            </a:pPr>
            <a:r>
              <a:rPr lang="en-US" sz="1300" dirty="0">
                <a:solidFill>
                  <a:srgbClr val="A9A7C0"/>
                </a:solidFill>
                <a:latin typeface="Calibri" pitchFamily="34" charset="0"/>
                <a:ea typeface="Calibri" pitchFamily="34" charset="-122"/>
                <a:cs typeface="Calibri" pitchFamily="34" charset="-120"/>
              </a:rPr>
              <a:t>Describe surroundings in real time</a:t>
            </a:r>
            <a:endParaRPr lang="en-US" sz="1300" dirty="0"/>
          </a:p>
        </p:txBody>
      </p:sp>
      <p:sp>
        <p:nvSpPr>
          <p:cNvPr id="29" name="Text 23"/>
          <p:cNvSpPr txBox="1"/>
          <p:nvPr/>
        </p:nvSpPr>
        <p:spPr>
          <a:xfrm>
            <a:off x="6309360" y="5806440"/>
            <a:ext cx="5303520" cy="548640"/>
          </a:xfrm>
          <a:prstGeom prst="rect">
            <a:avLst/>
          </a:prstGeom>
          <a:noFill/>
          <a:ln/>
        </p:spPr>
        <p:txBody>
          <a:bodyPr wrap="square" lIns="0" tIns="0" rIns="0" bIns="0" rtlCol="0" anchor="ctr"/>
          <a:lstStyle/>
          <a:p>
            <a:pPr indent="0" marL="0">
              <a:buNone/>
            </a:pPr>
            <a:r>
              <a:rPr lang="en-US" sz="1300" i="1" dirty="0">
                <a:solidFill>
                  <a:srgbClr val="22D3EE"/>
                </a:solidFill>
                <a:latin typeface="Calibri" pitchFamily="34" charset="0"/>
                <a:ea typeface="Calibri" pitchFamily="34" charset="-122"/>
                <a:cs typeface="Calibri" pitchFamily="34" charset="-120"/>
              </a:rPr>
              <a:t>It combines two hard problems: computer vision (understand the scene) + natural language generation (say it fluently).</a:t>
            </a:r>
            <a:endParaRPr lang="en-US" sz="1300" dirty="0"/>
          </a:p>
        </p:txBody>
      </p:sp>
      <p:sp>
        <p:nvSpPr>
          <p:cNvPr id="30" name="Text 24"/>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b="1" dirty="0">
                <a:solidFill>
                  <a:srgbClr val="A9A7C0"/>
                </a:solidFill>
                <a:latin typeface="Calibri" pitchFamily="34" charset="0"/>
                <a:ea typeface="Calibri" pitchFamily="34" charset="-122"/>
                <a:cs typeface="Calibri" pitchFamily="34" charset="-120"/>
              </a:rPr>
              <a:t>PixelProse</a:t>
            </a:r>
            <a:pPr algn="r" indent="0" marL="0">
              <a:buNone/>
            </a:pPr>
            <a:r>
              <a:rPr lang="en-US" sz="1000" dirty="0">
                <a:solidFill>
                  <a:srgbClr val="74718F"/>
                </a:solidFill>
                <a:latin typeface="Calibri" pitchFamily="34" charset="0"/>
                <a:ea typeface="Calibri" pitchFamily="34" charset="-122"/>
                <a:cs typeface="Calibri" pitchFamily="34" charset="-120"/>
              </a:rPr>
              <a:t>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indent="0" marL="0">
              <a:buNone/>
            </a:pPr>
            <a:r>
              <a:rPr lang="en-US" sz="1100" b="1" spc="300" kern="0" dirty="0">
                <a:solidFill>
                  <a:srgbClr val="8B5CF6"/>
                </a:solidFill>
                <a:latin typeface="Arial" pitchFamily="34" charset="0"/>
                <a:ea typeface="Arial" pitchFamily="34" charset="-122"/>
                <a:cs typeface="Arial" pitchFamily="34" charset="-120"/>
              </a:rPr>
              <a:t>OBJECTIVES</a:t>
            </a:r>
            <a:endParaRPr lang="en-US" sz="1100" dirty="0"/>
          </a:p>
        </p:txBody>
      </p:sp>
      <p:sp>
        <p:nvSpPr>
          <p:cNvPr id="3" name="Text 1"/>
          <p:cNvSpPr txBox="1"/>
          <p:nvPr/>
        </p:nvSpPr>
        <p:spPr>
          <a:xfrm>
            <a:off x="548640" y="777240"/>
            <a:ext cx="11094415" cy="777240"/>
          </a:xfrm>
          <a:prstGeom prst="rect">
            <a:avLst/>
          </a:prstGeom>
          <a:noFill/>
          <a:ln/>
        </p:spPr>
        <p:txBody>
          <a:bodyPr wrap="square" lIns="0" tIns="0" rIns="0" bIns="0" rtlCol="0" anchor="t"/>
          <a:lstStyle/>
          <a:p>
            <a:pPr indent="0" marL="0">
              <a:buNone/>
            </a:pPr>
            <a:r>
              <a:rPr lang="en-US" sz="3400" b="1" dirty="0">
                <a:solidFill>
                  <a:srgbClr val="F1F0FA"/>
                </a:solidFill>
                <a:latin typeface="Arial" pitchFamily="34" charset="0"/>
                <a:ea typeface="Arial" pitchFamily="34" charset="-122"/>
                <a:cs typeface="Arial" pitchFamily="34" charset="-120"/>
              </a:rPr>
              <a:t>What we set out to build</a:t>
            </a:r>
            <a:endParaRPr lang="en-US" sz="3400" dirty="0"/>
          </a:p>
        </p:txBody>
      </p:sp>
      <p:sp>
        <p:nvSpPr>
          <p:cNvPr id="4" name="Shape 2"/>
          <p:cNvSpPr/>
          <p:nvPr/>
        </p:nvSpPr>
        <p:spPr>
          <a:xfrm>
            <a:off x="548640" y="1828800"/>
            <a:ext cx="3520440" cy="1920240"/>
          </a:xfrm>
          <a:prstGeom prst="roundRect">
            <a:avLst>
              <a:gd name="adj" fmla="val 6667"/>
            </a:avLst>
          </a:prstGeom>
          <a:solidFill>
            <a:srgbClr val="15132A"/>
          </a:solidFill>
          <a:ln w="12700">
            <a:solidFill>
              <a:srgbClr val="2E2A4F"/>
            </a:solidFill>
            <a:prstDash val="solid"/>
          </a:ln>
        </p:spPr>
      </p:sp>
      <p:sp>
        <p:nvSpPr>
          <p:cNvPr id="5" name="Shape 3"/>
          <p:cNvSpPr/>
          <p:nvPr/>
        </p:nvSpPr>
        <p:spPr>
          <a:xfrm>
            <a:off x="822960" y="2103120"/>
            <a:ext cx="603504" cy="603504"/>
          </a:xfrm>
          <a:prstGeom prst="ellipse">
            <a:avLst/>
          </a:prstGeom>
          <a:solidFill>
            <a:srgbClr val="8B5CF6">
              <a:alpha val="18000"/>
            </a:srgbClr>
          </a:solidFill>
          <a:ln w="12700">
            <a:solidFill>
              <a:srgbClr val="8B5CF6">
                <a:alpha val="60000"/>
              </a:srgbClr>
            </a:solidFill>
            <a:prstDash val="solid"/>
          </a:ln>
        </p:spPr>
      </p:sp>
      <p:pic>
        <p:nvPicPr>
          <p:cNvPr id="6" name="Image 0" descr="preencoded.png">    </p:cNvPr>
          <p:cNvPicPr>
            <a:picLocks noChangeAspect="1"/>
          </p:cNvPicPr>
          <p:nvPr/>
        </p:nvPicPr>
        <p:blipFill>
          <a:blip r:embed="rId2"/>
          <a:stretch>
            <a:fillRect/>
          </a:stretch>
        </p:blipFill>
        <p:spPr>
          <a:xfrm>
            <a:off x="955731" y="2235891"/>
            <a:ext cx="337962" cy="337962"/>
          </a:xfrm>
          <a:prstGeom prst="rect">
            <a:avLst/>
          </a:prstGeom>
        </p:spPr>
      </p:pic>
      <p:sp>
        <p:nvSpPr>
          <p:cNvPr id="7" name="Text 4"/>
          <p:cNvSpPr txBox="1"/>
          <p:nvPr/>
        </p:nvSpPr>
        <p:spPr>
          <a:xfrm>
            <a:off x="3246120" y="2103120"/>
            <a:ext cx="548640" cy="320040"/>
          </a:xfrm>
          <a:prstGeom prst="rect">
            <a:avLst/>
          </a:prstGeom>
          <a:noFill/>
          <a:ln/>
        </p:spPr>
        <p:txBody>
          <a:bodyPr wrap="square" lIns="0" tIns="0" rIns="0" bIns="0" rtlCol="0" anchor="ctr"/>
          <a:lstStyle/>
          <a:p>
            <a:pPr algn="r" indent="0" marL="0">
              <a:buNone/>
            </a:pPr>
            <a:r>
              <a:rPr lang="en-US" sz="1400" b="1" dirty="0">
                <a:solidFill>
                  <a:srgbClr val="74718F"/>
                </a:solidFill>
                <a:latin typeface="Arial" pitchFamily="34" charset="0"/>
                <a:ea typeface="Arial" pitchFamily="34" charset="-122"/>
                <a:cs typeface="Arial" pitchFamily="34" charset="-120"/>
              </a:rPr>
              <a:t>01</a:t>
            </a:r>
            <a:endParaRPr lang="en-US" sz="1400" dirty="0"/>
          </a:p>
        </p:txBody>
      </p:sp>
      <p:sp>
        <p:nvSpPr>
          <p:cNvPr id="8" name="Text 5"/>
          <p:cNvSpPr txBox="1"/>
          <p:nvPr/>
        </p:nvSpPr>
        <p:spPr>
          <a:xfrm>
            <a:off x="822960" y="2834640"/>
            <a:ext cx="2971800" cy="365760"/>
          </a:xfrm>
          <a:prstGeom prst="rect">
            <a:avLst/>
          </a:prstGeom>
          <a:noFill/>
          <a:ln/>
        </p:spPr>
        <p:txBody>
          <a:bodyPr wrap="square" lIns="0" tIns="0" rIns="0" bIns="0" rtlCol="0" anchor="ctr"/>
          <a:lstStyle/>
          <a:p>
            <a:pPr indent="0" marL="0">
              <a:buNone/>
            </a:pPr>
            <a:r>
              <a:rPr lang="en-US" sz="1800" b="1" dirty="0">
                <a:solidFill>
                  <a:srgbClr val="F1F0FA"/>
                </a:solidFill>
                <a:latin typeface="Arial" pitchFamily="34" charset="0"/>
                <a:ea typeface="Arial" pitchFamily="34" charset="-122"/>
                <a:cs typeface="Arial" pitchFamily="34" charset="-120"/>
              </a:rPr>
              <a:t>Accurate captions</a:t>
            </a:r>
            <a:endParaRPr lang="en-US" sz="1800" dirty="0"/>
          </a:p>
        </p:txBody>
      </p:sp>
      <p:sp>
        <p:nvSpPr>
          <p:cNvPr id="9" name="Text 6"/>
          <p:cNvSpPr txBox="1"/>
          <p:nvPr/>
        </p:nvSpPr>
        <p:spPr>
          <a:xfrm>
            <a:off x="822960" y="3200400"/>
            <a:ext cx="2971800" cy="411480"/>
          </a:xfrm>
          <a:prstGeom prst="rect">
            <a:avLst/>
          </a:prstGeom>
          <a:noFill/>
          <a:ln/>
        </p:spPr>
        <p:txBody>
          <a:bodyPr wrap="square" lIns="0" tIns="0" rIns="0" bIns="0" rtlCol="0" anchor="ctr"/>
          <a:lstStyle/>
          <a:p>
            <a:pPr indent="0" marL="0">
              <a:buNone/>
            </a:pPr>
            <a:r>
              <a:rPr lang="en-US" sz="1300" dirty="0">
                <a:solidFill>
                  <a:srgbClr val="A9A7C0"/>
                </a:solidFill>
                <a:latin typeface="Calibri" pitchFamily="34" charset="0"/>
                <a:ea typeface="Calibri" pitchFamily="34" charset="-122"/>
                <a:cs typeface="Calibri" pitchFamily="34" charset="-120"/>
              </a:rPr>
              <a:t>Grounded, fluent sentences, not just plausible ones</a:t>
            </a:r>
            <a:endParaRPr lang="en-US" sz="1300" dirty="0"/>
          </a:p>
        </p:txBody>
      </p:sp>
      <p:sp>
        <p:nvSpPr>
          <p:cNvPr id="10" name="Shape 7"/>
          <p:cNvSpPr/>
          <p:nvPr/>
        </p:nvSpPr>
        <p:spPr>
          <a:xfrm>
            <a:off x="4334256" y="1828800"/>
            <a:ext cx="3520440" cy="1920240"/>
          </a:xfrm>
          <a:prstGeom prst="roundRect">
            <a:avLst>
              <a:gd name="adj" fmla="val 6667"/>
            </a:avLst>
          </a:prstGeom>
          <a:solidFill>
            <a:srgbClr val="15132A"/>
          </a:solidFill>
          <a:ln w="12700">
            <a:solidFill>
              <a:srgbClr val="2E2A4F"/>
            </a:solidFill>
            <a:prstDash val="solid"/>
          </a:ln>
        </p:spPr>
      </p:sp>
      <p:sp>
        <p:nvSpPr>
          <p:cNvPr id="11" name="Shape 8"/>
          <p:cNvSpPr/>
          <p:nvPr/>
        </p:nvSpPr>
        <p:spPr>
          <a:xfrm>
            <a:off x="4608576" y="2103120"/>
            <a:ext cx="603504" cy="603504"/>
          </a:xfrm>
          <a:prstGeom prst="ellipse">
            <a:avLst/>
          </a:prstGeom>
          <a:solidFill>
            <a:srgbClr val="22D3EE">
              <a:alpha val="18000"/>
            </a:srgbClr>
          </a:solidFill>
          <a:ln w="12700">
            <a:solidFill>
              <a:srgbClr val="22D3EE">
                <a:alpha val="60000"/>
              </a:srgbClr>
            </a:solidFill>
            <a:prstDash val="solid"/>
          </a:ln>
        </p:spPr>
      </p:sp>
      <p:pic>
        <p:nvPicPr>
          <p:cNvPr id="12" name="Image 1" descr="preencoded.png">    </p:cNvPr>
          <p:cNvPicPr>
            <a:picLocks noChangeAspect="1"/>
          </p:cNvPicPr>
          <p:nvPr/>
        </p:nvPicPr>
        <p:blipFill>
          <a:blip r:embed="rId3"/>
          <a:stretch>
            <a:fillRect/>
          </a:stretch>
        </p:blipFill>
        <p:spPr>
          <a:xfrm>
            <a:off x="4741347" y="2235891"/>
            <a:ext cx="337962" cy="337962"/>
          </a:xfrm>
          <a:prstGeom prst="rect">
            <a:avLst/>
          </a:prstGeom>
        </p:spPr>
      </p:pic>
      <p:sp>
        <p:nvSpPr>
          <p:cNvPr id="13" name="Text 9"/>
          <p:cNvSpPr txBox="1"/>
          <p:nvPr/>
        </p:nvSpPr>
        <p:spPr>
          <a:xfrm>
            <a:off x="7031736" y="2103120"/>
            <a:ext cx="548640" cy="320040"/>
          </a:xfrm>
          <a:prstGeom prst="rect">
            <a:avLst/>
          </a:prstGeom>
          <a:noFill/>
          <a:ln/>
        </p:spPr>
        <p:txBody>
          <a:bodyPr wrap="square" lIns="0" tIns="0" rIns="0" bIns="0" rtlCol="0" anchor="ctr"/>
          <a:lstStyle/>
          <a:p>
            <a:pPr algn="r" indent="0" marL="0">
              <a:buNone/>
            </a:pPr>
            <a:r>
              <a:rPr lang="en-US" sz="1400" b="1" dirty="0">
                <a:solidFill>
                  <a:srgbClr val="74718F"/>
                </a:solidFill>
                <a:latin typeface="Arial" pitchFamily="34" charset="0"/>
                <a:ea typeface="Arial" pitchFamily="34" charset="-122"/>
                <a:cs typeface="Arial" pitchFamily="34" charset="-120"/>
              </a:rPr>
              <a:t>02</a:t>
            </a:r>
            <a:endParaRPr lang="en-US" sz="1400" dirty="0"/>
          </a:p>
        </p:txBody>
      </p:sp>
      <p:sp>
        <p:nvSpPr>
          <p:cNvPr id="14" name="Text 10"/>
          <p:cNvSpPr txBox="1"/>
          <p:nvPr/>
        </p:nvSpPr>
        <p:spPr>
          <a:xfrm>
            <a:off x="4608576" y="2834640"/>
            <a:ext cx="2971800" cy="365760"/>
          </a:xfrm>
          <a:prstGeom prst="rect">
            <a:avLst/>
          </a:prstGeom>
          <a:noFill/>
          <a:ln/>
        </p:spPr>
        <p:txBody>
          <a:bodyPr wrap="square" lIns="0" tIns="0" rIns="0" bIns="0" rtlCol="0" anchor="ctr"/>
          <a:lstStyle/>
          <a:p>
            <a:pPr indent="0" marL="0">
              <a:buNone/>
            </a:pPr>
            <a:r>
              <a:rPr lang="en-US" sz="1800" b="1" dirty="0">
                <a:solidFill>
                  <a:srgbClr val="F1F0FA"/>
                </a:solidFill>
                <a:latin typeface="Arial" pitchFamily="34" charset="0"/>
                <a:ea typeface="Arial" pitchFamily="34" charset="-122"/>
                <a:cs typeface="Arial" pitchFamily="34" charset="-120"/>
              </a:rPr>
              <a:t>Explainable</a:t>
            </a:r>
            <a:endParaRPr lang="en-US" sz="1800" dirty="0"/>
          </a:p>
        </p:txBody>
      </p:sp>
      <p:sp>
        <p:nvSpPr>
          <p:cNvPr id="15" name="Text 11"/>
          <p:cNvSpPr txBox="1"/>
          <p:nvPr/>
        </p:nvSpPr>
        <p:spPr>
          <a:xfrm>
            <a:off x="4608576" y="3200400"/>
            <a:ext cx="2971800" cy="411480"/>
          </a:xfrm>
          <a:prstGeom prst="rect">
            <a:avLst/>
          </a:prstGeom>
          <a:noFill/>
          <a:ln/>
        </p:spPr>
        <p:txBody>
          <a:bodyPr wrap="square" lIns="0" tIns="0" rIns="0" bIns="0" rtlCol="0" anchor="ctr"/>
          <a:lstStyle/>
          <a:p>
            <a:pPr indent="0" marL="0">
              <a:buNone/>
            </a:pPr>
            <a:r>
              <a:rPr lang="en-US" sz="1300" dirty="0">
                <a:solidFill>
                  <a:srgbClr val="A9A7C0"/>
                </a:solidFill>
                <a:latin typeface="Calibri" pitchFamily="34" charset="0"/>
                <a:ea typeface="Calibri" pitchFamily="34" charset="-122"/>
                <a:cs typeface="Calibri" pitchFamily="34" charset="-120"/>
              </a:rPr>
              <a:t>Show where the model looked for every word</a:t>
            </a:r>
            <a:endParaRPr lang="en-US" sz="1300" dirty="0"/>
          </a:p>
        </p:txBody>
      </p:sp>
      <p:sp>
        <p:nvSpPr>
          <p:cNvPr id="16" name="Shape 12"/>
          <p:cNvSpPr/>
          <p:nvPr/>
        </p:nvSpPr>
        <p:spPr>
          <a:xfrm>
            <a:off x="8119872" y="1828800"/>
            <a:ext cx="3520440" cy="1920240"/>
          </a:xfrm>
          <a:prstGeom prst="roundRect">
            <a:avLst>
              <a:gd name="adj" fmla="val 6667"/>
            </a:avLst>
          </a:prstGeom>
          <a:solidFill>
            <a:srgbClr val="15132A"/>
          </a:solidFill>
          <a:ln w="12700">
            <a:solidFill>
              <a:srgbClr val="2E2A4F"/>
            </a:solidFill>
            <a:prstDash val="solid"/>
          </a:ln>
        </p:spPr>
      </p:sp>
      <p:sp>
        <p:nvSpPr>
          <p:cNvPr id="17" name="Shape 13"/>
          <p:cNvSpPr/>
          <p:nvPr/>
        </p:nvSpPr>
        <p:spPr>
          <a:xfrm>
            <a:off x="8394192" y="2103120"/>
            <a:ext cx="603504" cy="603504"/>
          </a:xfrm>
          <a:prstGeom prst="ellipse">
            <a:avLst/>
          </a:prstGeom>
          <a:solidFill>
            <a:srgbClr val="F472B6">
              <a:alpha val="18000"/>
            </a:srgbClr>
          </a:solidFill>
          <a:ln w="12700">
            <a:solidFill>
              <a:srgbClr val="F472B6">
                <a:alpha val="60000"/>
              </a:srgbClr>
            </a:solidFill>
            <a:prstDash val="solid"/>
          </a:ln>
        </p:spPr>
      </p:sp>
      <p:pic>
        <p:nvPicPr>
          <p:cNvPr id="18" name="Image 2" descr="preencoded.png">    </p:cNvPr>
          <p:cNvPicPr>
            <a:picLocks noChangeAspect="1"/>
          </p:cNvPicPr>
          <p:nvPr/>
        </p:nvPicPr>
        <p:blipFill>
          <a:blip r:embed="rId4"/>
          <a:stretch>
            <a:fillRect/>
          </a:stretch>
        </p:blipFill>
        <p:spPr>
          <a:xfrm>
            <a:off x="8526963" y="2235891"/>
            <a:ext cx="337962" cy="337962"/>
          </a:xfrm>
          <a:prstGeom prst="rect">
            <a:avLst/>
          </a:prstGeom>
        </p:spPr>
      </p:pic>
      <p:sp>
        <p:nvSpPr>
          <p:cNvPr id="19" name="Text 14"/>
          <p:cNvSpPr txBox="1"/>
          <p:nvPr/>
        </p:nvSpPr>
        <p:spPr>
          <a:xfrm>
            <a:off x="10817352" y="2103120"/>
            <a:ext cx="548640" cy="320040"/>
          </a:xfrm>
          <a:prstGeom prst="rect">
            <a:avLst/>
          </a:prstGeom>
          <a:noFill/>
          <a:ln/>
        </p:spPr>
        <p:txBody>
          <a:bodyPr wrap="square" lIns="0" tIns="0" rIns="0" bIns="0" rtlCol="0" anchor="ctr"/>
          <a:lstStyle/>
          <a:p>
            <a:pPr algn="r" indent="0" marL="0">
              <a:buNone/>
            </a:pPr>
            <a:r>
              <a:rPr lang="en-US" sz="1400" b="1" dirty="0">
                <a:solidFill>
                  <a:srgbClr val="74718F"/>
                </a:solidFill>
                <a:latin typeface="Arial" pitchFamily="34" charset="0"/>
                <a:ea typeface="Arial" pitchFamily="34" charset="-122"/>
                <a:cs typeface="Arial" pitchFamily="34" charset="-120"/>
              </a:rPr>
              <a:t>03</a:t>
            </a:r>
            <a:endParaRPr lang="en-US" sz="1400" dirty="0"/>
          </a:p>
        </p:txBody>
      </p:sp>
      <p:sp>
        <p:nvSpPr>
          <p:cNvPr id="20" name="Text 15"/>
          <p:cNvSpPr txBox="1"/>
          <p:nvPr/>
        </p:nvSpPr>
        <p:spPr>
          <a:xfrm>
            <a:off x="8394192" y="2834640"/>
            <a:ext cx="2971800" cy="365760"/>
          </a:xfrm>
          <a:prstGeom prst="rect">
            <a:avLst/>
          </a:prstGeom>
          <a:noFill/>
          <a:ln/>
        </p:spPr>
        <p:txBody>
          <a:bodyPr wrap="square" lIns="0" tIns="0" rIns="0" bIns="0" rtlCol="0" anchor="ctr"/>
          <a:lstStyle/>
          <a:p>
            <a:pPr indent="0" marL="0">
              <a:buNone/>
            </a:pPr>
            <a:r>
              <a:rPr lang="en-US" sz="1800" b="1" dirty="0">
                <a:solidFill>
                  <a:srgbClr val="F1F0FA"/>
                </a:solidFill>
                <a:latin typeface="Arial" pitchFamily="34" charset="0"/>
                <a:ea typeface="Arial" pitchFamily="34" charset="-122"/>
                <a:cs typeface="Arial" pitchFamily="34" charset="-120"/>
              </a:rPr>
              <a:t>Interactive</a:t>
            </a:r>
            <a:endParaRPr lang="en-US" sz="1800" dirty="0"/>
          </a:p>
        </p:txBody>
      </p:sp>
      <p:sp>
        <p:nvSpPr>
          <p:cNvPr id="21" name="Text 16"/>
          <p:cNvSpPr txBox="1"/>
          <p:nvPr/>
        </p:nvSpPr>
        <p:spPr>
          <a:xfrm>
            <a:off x="8394192" y="3200400"/>
            <a:ext cx="2971800" cy="411480"/>
          </a:xfrm>
          <a:prstGeom prst="rect">
            <a:avLst/>
          </a:prstGeom>
          <a:noFill/>
          <a:ln/>
        </p:spPr>
        <p:txBody>
          <a:bodyPr wrap="square" lIns="0" tIns="0" rIns="0" bIns="0" rtlCol="0" anchor="ctr"/>
          <a:lstStyle/>
          <a:p>
            <a:pPr indent="0" marL="0">
              <a:buNone/>
            </a:pPr>
            <a:r>
              <a:rPr lang="en-US" sz="1300" dirty="0">
                <a:solidFill>
                  <a:srgbClr val="A9A7C0"/>
                </a:solidFill>
                <a:latin typeface="Calibri" pitchFamily="34" charset="0"/>
                <a:ea typeface="Calibri" pitchFamily="34" charset="-122"/>
                <a:cs typeface="Calibri" pitchFamily="34" charset="-120"/>
              </a:rPr>
              <a:t>Ask follow-up questions about the image</a:t>
            </a:r>
            <a:endParaRPr lang="en-US" sz="1300" dirty="0"/>
          </a:p>
        </p:txBody>
      </p:sp>
      <p:sp>
        <p:nvSpPr>
          <p:cNvPr id="22" name="Shape 17"/>
          <p:cNvSpPr/>
          <p:nvPr/>
        </p:nvSpPr>
        <p:spPr>
          <a:xfrm>
            <a:off x="548640" y="4023360"/>
            <a:ext cx="3520440" cy="1920240"/>
          </a:xfrm>
          <a:prstGeom prst="roundRect">
            <a:avLst>
              <a:gd name="adj" fmla="val 6667"/>
            </a:avLst>
          </a:prstGeom>
          <a:solidFill>
            <a:srgbClr val="15132A"/>
          </a:solidFill>
          <a:ln w="12700">
            <a:solidFill>
              <a:srgbClr val="2E2A4F"/>
            </a:solidFill>
            <a:prstDash val="solid"/>
          </a:ln>
        </p:spPr>
      </p:sp>
      <p:sp>
        <p:nvSpPr>
          <p:cNvPr id="23" name="Shape 18"/>
          <p:cNvSpPr/>
          <p:nvPr/>
        </p:nvSpPr>
        <p:spPr>
          <a:xfrm>
            <a:off x="822960" y="4297680"/>
            <a:ext cx="603504" cy="603504"/>
          </a:xfrm>
          <a:prstGeom prst="ellipse">
            <a:avLst/>
          </a:prstGeom>
          <a:solidFill>
            <a:srgbClr val="8B5CF6">
              <a:alpha val="18000"/>
            </a:srgbClr>
          </a:solidFill>
          <a:ln w="12700">
            <a:solidFill>
              <a:srgbClr val="8B5CF6">
                <a:alpha val="60000"/>
              </a:srgbClr>
            </a:solidFill>
            <a:prstDash val="solid"/>
          </a:ln>
        </p:spPr>
      </p:sp>
      <p:pic>
        <p:nvPicPr>
          <p:cNvPr id="24" name="Image 3" descr="preencoded.png">    </p:cNvPr>
          <p:cNvPicPr>
            <a:picLocks noChangeAspect="1"/>
          </p:cNvPicPr>
          <p:nvPr/>
        </p:nvPicPr>
        <p:blipFill>
          <a:blip r:embed="rId5"/>
          <a:stretch>
            <a:fillRect/>
          </a:stretch>
        </p:blipFill>
        <p:spPr>
          <a:xfrm>
            <a:off x="955731" y="4430451"/>
            <a:ext cx="337962" cy="337962"/>
          </a:xfrm>
          <a:prstGeom prst="rect">
            <a:avLst/>
          </a:prstGeom>
        </p:spPr>
      </p:pic>
      <p:sp>
        <p:nvSpPr>
          <p:cNvPr id="25" name="Text 19"/>
          <p:cNvSpPr txBox="1"/>
          <p:nvPr/>
        </p:nvSpPr>
        <p:spPr>
          <a:xfrm>
            <a:off x="3246120" y="4297680"/>
            <a:ext cx="548640" cy="320040"/>
          </a:xfrm>
          <a:prstGeom prst="rect">
            <a:avLst/>
          </a:prstGeom>
          <a:noFill/>
          <a:ln/>
        </p:spPr>
        <p:txBody>
          <a:bodyPr wrap="square" lIns="0" tIns="0" rIns="0" bIns="0" rtlCol="0" anchor="ctr"/>
          <a:lstStyle/>
          <a:p>
            <a:pPr algn="r" indent="0" marL="0">
              <a:buNone/>
            </a:pPr>
            <a:r>
              <a:rPr lang="en-US" sz="1400" b="1" dirty="0">
                <a:solidFill>
                  <a:srgbClr val="74718F"/>
                </a:solidFill>
                <a:latin typeface="Arial" pitchFamily="34" charset="0"/>
                <a:ea typeface="Arial" pitchFamily="34" charset="-122"/>
                <a:cs typeface="Arial" pitchFamily="34" charset="-120"/>
              </a:rPr>
              <a:t>04</a:t>
            </a:r>
            <a:endParaRPr lang="en-US" sz="1400" dirty="0"/>
          </a:p>
        </p:txBody>
      </p:sp>
      <p:sp>
        <p:nvSpPr>
          <p:cNvPr id="26" name="Text 20"/>
          <p:cNvSpPr txBox="1"/>
          <p:nvPr/>
        </p:nvSpPr>
        <p:spPr>
          <a:xfrm>
            <a:off x="822960" y="5029200"/>
            <a:ext cx="2971800" cy="365760"/>
          </a:xfrm>
          <a:prstGeom prst="rect">
            <a:avLst/>
          </a:prstGeom>
          <a:noFill/>
          <a:ln/>
        </p:spPr>
        <p:txBody>
          <a:bodyPr wrap="square" lIns="0" tIns="0" rIns="0" bIns="0" rtlCol="0" anchor="ctr"/>
          <a:lstStyle/>
          <a:p>
            <a:pPr indent="0" marL="0">
              <a:buNone/>
            </a:pPr>
            <a:r>
              <a:rPr lang="en-US" sz="1800" b="1" dirty="0">
                <a:solidFill>
                  <a:srgbClr val="F1F0FA"/>
                </a:solidFill>
                <a:latin typeface="Arial" pitchFamily="34" charset="0"/>
                <a:ea typeface="Arial" pitchFamily="34" charset="-122"/>
                <a:cs typeface="Arial" pitchFamily="34" charset="-120"/>
              </a:rPr>
              <a:t>Beautiful &amp; usable</a:t>
            </a:r>
            <a:endParaRPr lang="en-US" sz="1800" dirty="0"/>
          </a:p>
        </p:txBody>
      </p:sp>
      <p:sp>
        <p:nvSpPr>
          <p:cNvPr id="27" name="Text 21"/>
          <p:cNvSpPr txBox="1"/>
          <p:nvPr/>
        </p:nvSpPr>
        <p:spPr>
          <a:xfrm>
            <a:off x="822960" y="5394960"/>
            <a:ext cx="2971800" cy="411480"/>
          </a:xfrm>
          <a:prstGeom prst="rect">
            <a:avLst/>
          </a:prstGeom>
          <a:noFill/>
          <a:ln/>
        </p:spPr>
        <p:txBody>
          <a:bodyPr wrap="square" lIns="0" tIns="0" rIns="0" bIns="0" rtlCol="0" anchor="ctr"/>
          <a:lstStyle/>
          <a:p>
            <a:pPr indent="0" marL="0">
              <a:buNone/>
            </a:pPr>
            <a:r>
              <a:rPr lang="en-US" sz="1300" dirty="0">
                <a:solidFill>
                  <a:srgbClr val="A9A7C0"/>
                </a:solidFill>
                <a:latin typeface="Calibri" pitchFamily="34" charset="0"/>
                <a:ea typeface="Calibri" pitchFamily="34" charset="-122"/>
                <a:cs typeface="Calibri" pitchFamily="34" charset="-120"/>
              </a:rPr>
              <a:t>Modern, animated, responsive, accessible UI</a:t>
            </a:r>
            <a:endParaRPr lang="en-US" sz="1300" dirty="0"/>
          </a:p>
        </p:txBody>
      </p:sp>
      <p:sp>
        <p:nvSpPr>
          <p:cNvPr id="28" name="Shape 22"/>
          <p:cNvSpPr/>
          <p:nvPr/>
        </p:nvSpPr>
        <p:spPr>
          <a:xfrm>
            <a:off x="4334256" y="4023360"/>
            <a:ext cx="3520440" cy="1920240"/>
          </a:xfrm>
          <a:prstGeom prst="roundRect">
            <a:avLst>
              <a:gd name="adj" fmla="val 6667"/>
            </a:avLst>
          </a:prstGeom>
          <a:solidFill>
            <a:srgbClr val="15132A"/>
          </a:solidFill>
          <a:ln w="12700">
            <a:solidFill>
              <a:srgbClr val="2E2A4F"/>
            </a:solidFill>
            <a:prstDash val="solid"/>
          </a:ln>
        </p:spPr>
      </p:sp>
      <p:sp>
        <p:nvSpPr>
          <p:cNvPr id="29" name="Shape 23"/>
          <p:cNvSpPr/>
          <p:nvPr/>
        </p:nvSpPr>
        <p:spPr>
          <a:xfrm>
            <a:off x="4608576" y="4297680"/>
            <a:ext cx="603504" cy="603504"/>
          </a:xfrm>
          <a:prstGeom prst="ellipse">
            <a:avLst/>
          </a:prstGeom>
          <a:solidFill>
            <a:srgbClr val="22D3EE">
              <a:alpha val="18000"/>
            </a:srgbClr>
          </a:solidFill>
          <a:ln w="12700">
            <a:solidFill>
              <a:srgbClr val="22D3EE">
                <a:alpha val="60000"/>
              </a:srgbClr>
            </a:solidFill>
            <a:prstDash val="solid"/>
          </a:ln>
        </p:spPr>
      </p:sp>
      <p:pic>
        <p:nvPicPr>
          <p:cNvPr id="30" name="Image 4" descr="preencoded.png">    </p:cNvPr>
          <p:cNvPicPr>
            <a:picLocks noChangeAspect="1"/>
          </p:cNvPicPr>
          <p:nvPr/>
        </p:nvPicPr>
        <p:blipFill>
          <a:blip r:embed="rId6"/>
          <a:stretch>
            <a:fillRect/>
          </a:stretch>
        </p:blipFill>
        <p:spPr>
          <a:xfrm>
            <a:off x="4741347" y="4430451"/>
            <a:ext cx="337962" cy="337962"/>
          </a:xfrm>
          <a:prstGeom prst="rect">
            <a:avLst/>
          </a:prstGeom>
        </p:spPr>
      </p:pic>
      <p:sp>
        <p:nvSpPr>
          <p:cNvPr id="31" name="Text 24"/>
          <p:cNvSpPr txBox="1"/>
          <p:nvPr/>
        </p:nvSpPr>
        <p:spPr>
          <a:xfrm>
            <a:off x="7031736" y="4297680"/>
            <a:ext cx="548640" cy="320040"/>
          </a:xfrm>
          <a:prstGeom prst="rect">
            <a:avLst/>
          </a:prstGeom>
          <a:noFill/>
          <a:ln/>
        </p:spPr>
        <p:txBody>
          <a:bodyPr wrap="square" lIns="0" tIns="0" rIns="0" bIns="0" rtlCol="0" anchor="ctr"/>
          <a:lstStyle/>
          <a:p>
            <a:pPr algn="r" indent="0" marL="0">
              <a:buNone/>
            </a:pPr>
            <a:r>
              <a:rPr lang="en-US" sz="1400" b="1" dirty="0">
                <a:solidFill>
                  <a:srgbClr val="74718F"/>
                </a:solidFill>
                <a:latin typeface="Arial" pitchFamily="34" charset="0"/>
                <a:ea typeface="Arial" pitchFamily="34" charset="-122"/>
                <a:cs typeface="Arial" pitchFamily="34" charset="-120"/>
              </a:rPr>
              <a:t>05</a:t>
            </a:r>
            <a:endParaRPr lang="en-US" sz="1400" dirty="0"/>
          </a:p>
        </p:txBody>
      </p:sp>
      <p:sp>
        <p:nvSpPr>
          <p:cNvPr id="32" name="Text 25"/>
          <p:cNvSpPr txBox="1"/>
          <p:nvPr/>
        </p:nvSpPr>
        <p:spPr>
          <a:xfrm>
            <a:off x="4608576" y="5029200"/>
            <a:ext cx="2971800" cy="365760"/>
          </a:xfrm>
          <a:prstGeom prst="rect">
            <a:avLst/>
          </a:prstGeom>
          <a:noFill/>
          <a:ln/>
        </p:spPr>
        <p:txBody>
          <a:bodyPr wrap="square" lIns="0" tIns="0" rIns="0" bIns="0" rtlCol="0" anchor="ctr"/>
          <a:lstStyle/>
          <a:p>
            <a:pPr indent="0" marL="0">
              <a:buNone/>
            </a:pPr>
            <a:r>
              <a:rPr lang="en-US" sz="1800" b="1" dirty="0">
                <a:solidFill>
                  <a:srgbClr val="F1F0FA"/>
                </a:solidFill>
                <a:latin typeface="Arial" pitchFamily="34" charset="0"/>
                <a:ea typeface="Arial" pitchFamily="34" charset="-122"/>
                <a:cs typeface="Arial" pitchFamily="34" charset="-120"/>
              </a:rPr>
              <a:t>Runs on a laptop</a:t>
            </a:r>
            <a:endParaRPr lang="en-US" sz="1800" dirty="0"/>
          </a:p>
        </p:txBody>
      </p:sp>
      <p:sp>
        <p:nvSpPr>
          <p:cNvPr id="33" name="Text 26"/>
          <p:cNvSpPr txBox="1"/>
          <p:nvPr/>
        </p:nvSpPr>
        <p:spPr>
          <a:xfrm>
            <a:off x="4608576" y="5394960"/>
            <a:ext cx="2971800" cy="411480"/>
          </a:xfrm>
          <a:prstGeom prst="rect">
            <a:avLst/>
          </a:prstGeom>
          <a:noFill/>
          <a:ln/>
        </p:spPr>
        <p:txBody>
          <a:bodyPr wrap="square" lIns="0" tIns="0" rIns="0" bIns="0" rtlCol="0" anchor="ctr"/>
          <a:lstStyle/>
          <a:p>
            <a:pPr indent="0" marL="0">
              <a:buNone/>
            </a:pPr>
            <a:r>
              <a:rPr lang="en-US" sz="1300" dirty="0">
                <a:solidFill>
                  <a:srgbClr val="A9A7C0"/>
                </a:solidFill>
                <a:latin typeface="Calibri" pitchFamily="34" charset="0"/>
                <a:ea typeface="Calibri" pitchFamily="34" charset="-122"/>
                <a:cs typeface="Calibri" pitchFamily="34" charset="-120"/>
              </a:rPr>
              <a:t>Offline, private, no GPU or paid API required</a:t>
            </a:r>
            <a:endParaRPr lang="en-US" sz="1300" dirty="0"/>
          </a:p>
        </p:txBody>
      </p:sp>
      <p:sp>
        <p:nvSpPr>
          <p:cNvPr id="34" name="Shape 27"/>
          <p:cNvSpPr/>
          <p:nvPr/>
        </p:nvSpPr>
        <p:spPr>
          <a:xfrm>
            <a:off x="8119872" y="4023360"/>
            <a:ext cx="3520440" cy="1920240"/>
          </a:xfrm>
          <a:prstGeom prst="roundRect">
            <a:avLst>
              <a:gd name="adj" fmla="val 6667"/>
            </a:avLst>
          </a:prstGeom>
          <a:solidFill>
            <a:srgbClr val="15132A"/>
          </a:solidFill>
          <a:ln w="12700">
            <a:solidFill>
              <a:srgbClr val="2E2A4F"/>
            </a:solidFill>
            <a:prstDash val="solid"/>
          </a:ln>
        </p:spPr>
      </p:sp>
      <p:sp>
        <p:nvSpPr>
          <p:cNvPr id="35" name="Shape 28"/>
          <p:cNvSpPr/>
          <p:nvPr/>
        </p:nvSpPr>
        <p:spPr>
          <a:xfrm>
            <a:off x="8394192" y="4297680"/>
            <a:ext cx="603504" cy="603504"/>
          </a:xfrm>
          <a:prstGeom prst="ellipse">
            <a:avLst/>
          </a:prstGeom>
          <a:solidFill>
            <a:srgbClr val="F472B6">
              <a:alpha val="18000"/>
            </a:srgbClr>
          </a:solidFill>
          <a:ln w="12700">
            <a:solidFill>
              <a:srgbClr val="F472B6">
                <a:alpha val="60000"/>
              </a:srgbClr>
            </a:solidFill>
            <a:prstDash val="solid"/>
          </a:ln>
        </p:spPr>
      </p:sp>
      <p:pic>
        <p:nvPicPr>
          <p:cNvPr id="36" name="Image 5" descr="preencoded.png">    </p:cNvPr>
          <p:cNvPicPr>
            <a:picLocks noChangeAspect="1"/>
          </p:cNvPicPr>
          <p:nvPr/>
        </p:nvPicPr>
        <p:blipFill>
          <a:blip r:embed="rId7"/>
          <a:stretch>
            <a:fillRect/>
          </a:stretch>
        </p:blipFill>
        <p:spPr>
          <a:xfrm>
            <a:off x="8526963" y="4430451"/>
            <a:ext cx="337962" cy="337962"/>
          </a:xfrm>
          <a:prstGeom prst="rect">
            <a:avLst/>
          </a:prstGeom>
        </p:spPr>
      </p:pic>
      <p:sp>
        <p:nvSpPr>
          <p:cNvPr id="37" name="Text 29"/>
          <p:cNvSpPr txBox="1"/>
          <p:nvPr/>
        </p:nvSpPr>
        <p:spPr>
          <a:xfrm>
            <a:off x="10817352" y="4297680"/>
            <a:ext cx="548640" cy="320040"/>
          </a:xfrm>
          <a:prstGeom prst="rect">
            <a:avLst/>
          </a:prstGeom>
          <a:noFill/>
          <a:ln/>
        </p:spPr>
        <p:txBody>
          <a:bodyPr wrap="square" lIns="0" tIns="0" rIns="0" bIns="0" rtlCol="0" anchor="ctr"/>
          <a:lstStyle/>
          <a:p>
            <a:pPr algn="r" indent="0" marL="0">
              <a:buNone/>
            </a:pPr>
            <a:r>
              <a:rPr lang="en-US" sz="1400" b="1" dirty="0">
                <a:solidFill>
                  <a:srgbClr val="74718F"/>
                </a:solidFill>
                <a:latin typeface="Arial" pitchFamily="34" charset="0"/>
                <a:ea typeface="Arial" pitchFamily="34" charset="-122"/>
                <a:cs typeface="Arial" pitchFamily="34" charset="-120"/>
              </a:rPr>
              <a:t>06</a:t>
            </a:r>
            <a:endParaRPr lang="en-US" sz="1400" dirty="0"/>
          </a:p>
        </p:txBody>
      </p:sp>
      <p:sp>
        <p:nvSpPr>
          <p:cNvPr id="38" name="Text 30"/>
          <p:cNvSpPr txBox="1"/>
          <p:nvPr/>
        </p:nvSpPr>
        <p:spPr>
          <a:xfrm>
            <a:off x="8394192" y="5029200"/>
            <a:ext cx="2971800" cy="365760"/>
          </a:xfrm>
          <a:prstGeom prst="rect">
            <a:avLst/>
          </a:prstGeom>
          <a:noFill/>
          <a:ln/>
        </p:spPr>
        <p:txBody>
          <a:bodyPr wrap="square" lIns="0" tIns="0" rIns="0" bIns="0" rtlCol="0" anchor="ctr"/>
          <a:lstStyle/>
          <a:p>
            <a:pPr indent="0" marL="0">
              <a:buNone/>
            </a:pPr>
            <a:r>
              <a:rPr lang="en-US" sz="1800" b="1" dirty="0">
                <a:solidFill>
                  <a:srgbClr val="F1F0FA"/>
                </a:solidFill>
                <a:latin typeface="Arial" pitchFamily="34" charset="0"/>
                <a:ea typeface="Arial" pitchFamily="34" charset="-122"/>
                <a:cs typeface="Arial" pitchFamily="34" charset="-120"/>
              </a:rPr>
              <a:t>Measurable</a:t>
            </a:r>
            <a:endParaRPr lang="en-US" sz="1800" dirty="0"/>
          </a:p>
        </p:txBody>
      </p:sp>
      <p:sp>
        <p:nvSpPr>
          <p:cNvPr id="39" name="Text 31"/>
          <p:cNvSpPr txBox="1"/>
          <p:nvPr/>
        </p:nvSpPr>
        <p:spPr>
          <a:xfrm>
            <a:off x="8394192" y="5394960"/>
            <a:ext cx="2971800" cy="411480"/>
          </a:xfrm>
          <a:prstGeom prst="rect">
            <a:avLst/>
          </a:prstGeom>
          <a:noFill/>
          <a:ln/>
        </p:spPr>
        <p:txBody>
          <a:bodyPr wrap="square" lIns="0" tIns="0" rIns="0" bIns="0" rtlCol="0" anchor="ctr"/>
          <a:lstStyle/>
          <a:p>
            <a:pPr indent="0" marL="0">
              <a:buNone/>
            </a:pPr>
            <a:r>
              <a:rPr lang="en-US" sz="1300" dirty="0">
                <a:solidFill>
                  <a:srgbClr val="A9A7C0"/>
                </a:solidFill>
                <a:latin typeface="Calibri" pitchFamily="34" charset="0"/>
                <a:ea typeface="Calibri" pitchFamily="34" charset="-122"/>
                <a:cs typeface="Calibri" pitchFamily="34" charset="-120"/>
              </a:rPr>
              <a:t>Benchmark with BLEU, ROUGE-L and CIDEr-D</a:t>
            </a:r>
            <a:endParaRPr lang="en-US" sz="1300" dirty="0"/>
          </a:p>
        </p:txBody>
      </p:sp>
      <p:sp>
        <p:nvSpPr>
          <p:cNvPr id="40" name="Text 32"/>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b="1" dirty="0">
                <a:solidFill>
                  <a:srgbClr val="A9A7C0"/>
                </a:solidFill>
                <a:latin typeface="Calibri" pitchFamily="34" charset="0"/>
                <a:ea typeface="Calibri" pitchFamily="34" charset="-122"/>
                <a:cs typeface="Calibri" pitchFamily="34" charset="-120"/>
              </a:rPr>
              <a:t>PixelProse</a:t>
            </a:r>
            <a:pPr algn="r" indent="0" marL="0">
              <a:buNone/>
            </a:pPr>
            <a:r>
              <a:rPr lang="en-US" sz="1000" dirty="0">
                <a:solidFill>
                  <a:srgbClr val="74718F"/>
                </a:solidFill>
                <a:latin typeface="Calibri" pitchFamily="34" charset="0"/>
                <a:ea typeface="Calibri" pitchFamily="34" charset="-122"/>
                <a:cs typeface="Calibri" pitchFamily="34" charset="-120"/>
              </a:rPr>
              <a:t>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indent="0" marL="0">
              <a:buNone/>
            </a:pPr>
            <a:r>
              <a:rPr lang="en-US" sz="1100" b="1" spc="300" kern="0" dirty="0">
                <a:solidFill>
                  <a:srgbClr val="8B5CF6"/>
                </a:solidFill>
                <a:latin typeface="Arial" pitchFamily="34" charset="0"/>
                <a:ea typeface="Arial" pitchFamily="34" charset="-122"/>
                <a:cs typeface="Arial" pitchFamily="34" charset="-120"/>
              </a:rPr>
              <a:t>THE PRODUCT</a:t>
            </a:r>
            <a:endParaRPr lang="en-US" sz="1100" dirty="0"/>
          </a:p>
        </p:txBody>
      </p:sp>
      <p:sp>
        <p:nvSpPr>
          <p:cNvPr id="3" name="Text 1"/>
          <p:cNvSpPr txBox="1"/>
          <p:nvPr/>
        </p:nvSpPr>
        <p:spPr>
          <a:xfrm>
            <a:off x="548640" y="777240"/>
            <a:ext cx="11094415" cy="777240"/>
          </a:xfrm>
          <a:prstGeom prst="rect">
            <a:avLst/>
          </a:prstGeom>
          <a:noFill/>
          <a:ln/>
        </p:spPr>
        <p:txBody>
          <a:bodyPr wrap="square" lIns="0" tIns="0" rIns="0" bIns="0" rtlCol="0" anchor="t"/>
          <a:lstStyle/>
          <a:p>
            <a:pPr indent="0" marL="0">
              <a:buNone/>
            </a:pPr>
            <a:r>
              <a:rPr lang="en-US" sz="3400" b="1" dirty="0">
                <a:solidFill>
                  <a:srgbClr val="F1F0FA"/>
                </a:solidFill>
                <a:latin typeface="Arial" pitchFamily="34" charset="0"/>
                <a:ea typeface="Arial" pitchFamily="34" charset="-122"/>
                <a:cs typeface="Arial" pitchFamily="34" charset="-120"/>
              </a:rPr>
              <a:t>Meet PixelProse</a:t>
            </a:r>
            <a:endParaRPr lang="en-US" sz="3400" dirty="0"/>
          </a:p>
        </p:txBody>
      </p:sp>
      <p:sp>
        <p:nvSpPr>
          <p:cNvPr id="4" name="Shape 2"/>
          <p:cNvSpPr/>
          <p:nvPr/>
        </p:nvSpPr>
        <p:spPr>
          <a:xfrm>
            <a:off x="493776" y="1636776"/>
            <a:ext cx="5745305" cy="4773168"/>
          </a:xfrm>
          <a:prstGeom prst="roundRect">
            <a:avLst>
              <a:gd name="adj" fmla="val 2299"/>
            </a:avLst>
          </a:prstGeom>
          <a:solidFill>
            <a:srgbClr val="1C1A36"/>
          </a:solidFill>
          <a:ln w="12700">
            <a:solidFill>
              <a:srgbClr val="2E2A4F"/>
            </a:solidFill>
            <a:prstDash val="solid"/>
          </a:ln>
          <a:effectLst>
            <a:outerShdw sx="100000" sy="100000" kx="0" ky="0" algn="bl" rotWithShape="0" blurRad="228600" dist="76200" dir="5400000">
              <a:srgbClr val="000000">
                <a:alpha val="45000"/>
              </a:srgbClr>
            </a:outerShdw>
          </a:effectLst>
        </p:spPr>
      </p:sp>
      <p:pic>
        <p:nvPicPr>
          <p:cNvPr id="5" name="Image 0" descr="/home/user/AAI/docs/images/studio_result.jpg">    </p:cNvPr>
          <p:cNvPicPr>
            <a:picLocks noChangeAspect="1"/>
          </p:cNvPicPr>
          <p:nvPr/>
        </p:nvPicPr>
        <p:blipFill>
          <a:blip r:embed="rId2"/>
          <a:stretch>
            <a:fillRect/>
          </a:stretch>
        </p:blipFill>
        <p:spPr>
          <a:xfrm>
            <a:off x="548640" y="1691640"/>
            <a:ext cx="5635577" cy="4663440"/>
          </a:xfrm>
          <a:prstGeom prst="rect">
            <a:avLst/>
          </a:prstGeom>
        </p:spPr>
      </p:pic>
      <p:sp>
        <p:nvSpPr>
          <p:cNvPr id="6" name="Shape 3"/>
          <p:cNvSpPr/>
          <p:nvPr/>
        </p:nvSpPr>
        <p:spPr>
          <a:xfrm>
            <a:off x="8001000" y="1828800"/>
            <a:ext cx="603504" cy="603504"/>
          </a:xfrm>
          <a:prstGeom prst="ellipse">
            <a:avLst/>
          </a:prstGeom>
          <a:solidFill>
            <a:srgbClr val="8B5CF6">
              <a:alpha val="18000"/>
            </a:srgbClr>
          </a:solidFill>
          <a:ln w="12700">
            <a:solidFill>
              <a:srgbClr val="8B5CF6">
                <a:alpha val="60000"/>
              </a:srgbClr>
            </a:solidFill>
            <a:prstDash val="solid"/>
          </a:ln>
        </p:spPr>
      </p:sp>
      <p:pic>
        <p:nvPicPr>
          <p:cNvPr id="7" name="Image 1" descr="preencoded.png">    </p:cNvPr>
          <p:cNvPicPr>
            <a:picLocks noChangeAspect="1"/>
          </p:cNvPicPr>
          <p:nvPr/>
        </p:nvPicPr>
        <p:blipFill>
          <a:blip r:embed="rId3"/>
          <a:stretch>
            <a:fillRect/>
          </a:stretch>
        </p:blipFill>
        <p:spPr>
          <a:xfrm>
            <a:off x="8133771" y="1961571"/>
            <a:ext cx="337962" cy="337962"/>
          </a:xfrm>
          <a:prstGeom prst="rect">
            <a:avLst/>
          </a:prstGeom>
        </p:spPr>
      </p:pic>
      <p:sp>
        <p:nvSpPr>
          <p:cNvPr id="8" name="Text 4"/>
          <p:cNvSpPr txBox="1"/>
          <p:nvPr/>
        </p:nvSpPr>
        <p:spPr>
          <a:xfrm>
            <a:off x="8778240" y="1810512"/>
            <a:ext cx="2926080" cy="347472"/>
          </a:xfrm>
          <a:prstGeom prst="rect">
            <a:avLst/>
          </a:prstGeom>
          <a:noFill/>
          <a:ln/>
        </p:spPr>
        <p:txBody>
          <a:bodyPr wrap="square" lIns="0" tIns="0" rIns="0" bIns="0" rtlCol="0" anchor="ctr"/>
          <a:lstStyle/>
          <a:p>
            <a:pPr indent="0" marL="0">
              <a:buNone/>
            </a:pPr>
            <a:r>
              <a:rPr lang="en-US" sz="1800" b="1" dirty="0">
                <a:solidFill>
                  <a:srgbClr val="F1F0FA"/>
                </a:solidFill>
                <a:latin typeface="Arial" pitchFamily="34" charset="0"/>
                <a:ea typeface="Arial" pitchFamily="34" charset="-122"/>
                <a:cs typeface="Arial" pitchFamily="34" charset="-120"/>
              </a:rPr>
              <a:t>Caption</a:t>
            </a:r>
            <a:endParaRPr lang="en-US" sz="1800" dirty="0"/>
          </a:p>
        </p:txBody>
      </p:sp>
      <p:sp>
        <p:nvSpPr>
          <p:cNvPr id="9" name="Text 5"/>
          <p:cNvSpPr txBox="1"/>
          <p:nvPr/>
        </p:nvSpPr>
        <p:spPr>
          <a:xfrm>
            <a:off x="8778240" y="2157984"/>
            <a:ext cx="2926080" cy="548640"/>
          </a:xfrm>
          <a:prstGeom prst="rect">
            <a:avLst/>
          </a:prstGeom>
          <a:noFill/>
          <a:ln/>
        </p:spPr>
        <p:txBody>
          <a:bodyPr wrap="square" lIns="0" tIns="0" rIns="0" bIns="0" rtlCol="0" anchor="t"/>
          <a:lstStyle/>
          <a:p>
            <a:pPr indent="0" marL="0">
              <a:buNone/>
            </a:pPr>
            <a:r>
              <a:rPr lang="en-US" sz="1300" dirty="0">
                <a:solidFill>
                  <a:srgbClr val="A9A7C0"/>
                </a:solidFill>
                <a:latin typeface="Calibri" pitchFamily="34" charset="0"/>
                <a:ea typeface="Calibri" pitchFamily="34" charset="-122"/>
                <a:cs typeface="Calibri" pitchFamily="34" charset="-120"/>
              </a:rPr>
              <a:t>Accurate sentence + confidence + image-match score</a:t>
            </a:r>
            <a:endParaRPr lang="en-US" sz="1300" dirty="0"/>
          </a:p>
        </p:txBody>
      </p:sp>
      <p:sp>
        <p:nvSpPr>
          <p:cNvPr id="10" name="Shape 6"/>
          <p:cNvSpPr/>
          <p:nvPr/>
        </p:nvSpPr>
        <p:spPr>
          <a:xfrm>
            <a:off x="8001000" y="2907792"/>
            <a:ext cx="603504" cy="603504"/>
          </a:xfrm>
          <a:prstGeom prst="ellipse">
            <a:avLst/>
          </a:prstGeom>
          <a:solidFill>
            <a:srgbClr val="22D3EE">
              <a:alpha val="18000"/>
            </a:srgbClr>
          </a:solidFill>
          <a:ln w="12700">
            <a:solidFill>
              <a:srgbClr val="22D3EE">
                <a:alpha val="60000"/>
              </a:srgbClr>
            </a:solidFill>
            <a:prstDash val="solid"/>
          </a:ln>
        </p:spPr>
      </p:sp>
      <p:pic>
        <p:nvPicPr>
          <p:cNvPr id="11" name="Image 2" descr="preencoded.png">    </p:cNvPr>
          <p:cNvPicPr>
            <a:picLocks noChangeAspect="1"/>
          </p:cNvPicPr>
          <p:nvPr/>
        </p:nvPicPr>
        <p:blipFill>
          <a:blip r:embed="rId4"/>
          <a:stretch>
            <a:fillRect/>
          </a:stretch>
        </p:blipFill>
        <p:spPr>
          <a:xfrm>
            <a:off x="8133771" y="3040563"/>
            <a:ext cx="337962" cy="337962"/>
          </a:xfrm>
          <a:prstGeom prst="rect">
            <a:avLst/>
          </a:prstGeom>
        </p:spPr>
      </p:pic>
      <p:sp>
        <p:nvSpPr>
          <p:cNvPr id="12" name="Text 7"/>
          <p:cNvSpPr txBox="1"/>
          <p:nvPr/>
        </p:nvSpPr>
        <p:spPr>
          <a:xfrm>
            <a:off x="8778240" y="2889504"/>
            <a:ext cx="2926080" cy="347472"/>
          </a:xfrm>
          <a:prstGeom prst="rect">
            <a:avLst/>
          </a:prstGeom>
          <a:noFill/>
          <a:ln/>
        </p:spPr>
        <p:txBody>
          <a:bodyPr wrap="square" lIns="0" tIns="0" rIns="0" bIns="0" rtlCol="0" anchor="ctr"/>
          <a:lstStyle/>
          <a:p>
            <a:pPr indent="0" marL="0">
              <a:buNone/>
            </a:pPr>
            <a:r>
              <a:rPr lang="en-US" sz="1800" b="1" dirty="0">
                <a:solidFill>
                  <a:srgbClr val="F1F0FA"/>
                </a:solidFill>
                <a:latin typeface="Arial" pitchFamily="34" charset="0"/>
                <a:ea typeface="Arial" pitchFamily="34" charset="-122"/>
                <a:cs typeface="Arial" pitchFamily="34" charset="-120"/>
              </a:rPr>
              <a:t>Explain</a:t>
            </a:r>
            <a:endParaRPr lang="en-US" sz="1800" dirty="0"/>
          </a:p>
        </p:txBody>
      </p:sp>
      <p:sp>
        <p:nvSpPr>
          <p:cNvPr id="13" name="Text 8"/>
          <p:cNvSpPr txBox="1"/>
          <p:nvPr/>
        </p:nvSpPr>
        <p:spPr>
          <a:xfrm>
            <a:off x="8778240" y="3236976"/>
            <a:ext cx="2926080" cy="548640"/>
          </a:xfrm>
          <a:prstGeom prst="rect">
            <a:avLst/>
          </a:prstGeom>
          <a:noFill/>
          <a:ln/>
        </p:spPr>
        <p:txBody>
          <a:bodyPr wrap="square" lIns="0" tIns="0" rIns="0" bIns="0" rtlCol="0" anchor="t"/>
          <a:lstStyle/>
          <a:p>
            <a:pPr indent="0" marL="0">
              <a:buNone/>
            </a:pPr>
            <a:r>
              <a:rPr lang="en-US" sz="1300" dirty="0">
                <a:solidFill>
                  <a:srgbClr val="A9A7C0"/>
                </a:solidFill>
                <a:latin typeface="Calibri" pitchFamily="34" charset="0"/>
                <a:ea typeface="Calibri" pitchFamily="34" charset="-122"/>
                <a:cs typeface="Calibri" pitchFamily="34" charset="-120"/>
              </a:rPr>
              <a:t>Per-word attention heatmaps over the photo</a:t>
            </a:r>
            <a:endParaRPr lang="en-US" sz="1300" dirty="0"/>
          </a:p>
        </p:txBody>
      </p:sp>
      <p:sp>
        <p:nvSpPr>
          <p:cNvPr id="14" name="Shape 9"/>
          <p:cNvSpPr/>
          <p:nvPr/>
        </p:nvSpPr>
        <p:spPr>
          <a:xfrm>
            <a:off x="8001000" y="3986784"/>
            <a:ext cx="603504" cy="603504"/>
          </a:xfrm>
          <a:prstGeom prst="ellipse">
            <a:avLst/>
          </a:prstGeom>
          <a:solidFill>
            <a:srgbClr val="F472B6">
              <a:alpha val="18000"/>
            </a:srgbClr>
          </a:solidFill>
          <a:ln w="12700">
            <a:solidFill>
              <a:srgbClr val="F472B6">
                <a:alpha val="60000"/>
              </a:srgbClr>
            </a:solidFill>
            <a:prstDash val="solid"/>
          </a:ln>
        </p:spPr>
      </p:sp>
      <p:pic>
        <p:nvPicPr>
          <p:cNvPr id="15" name="Image 3" descr="preencoded.png">    </p:cNvPr>
          <p:cNvPicPr>
            <a:picLocks noChangeAspect="1"/>
          </p:cNvPicPr>
          <p:nvPr/>
        </p:nvPicPr>
        <p:blipFill>
          <a:blip r:embed="rId5"/>
          <a:stretch>
            <a:fillRect/>
          </a:stretch>
        </p:blipFill>
        <p:spPr>
          <a:xfrm>
            <a:off x="8133771" y="4119555"/>
            <a:ext cx="337962" cy="337962"/>
          </a:xfrm>
          <a:prstGeom prst="rect">
            <a:avLst/>
          </a:prstGeom>
        </p:spPr>
      </p:pic>
      <p:sp>
        <p:nvSpPr>
          <p:cNvPr id="16" name="Text 10"/>
          <p:cNvSpPr txBox="1"/>
          <p:nvPr/>
        </p:nvSpPr>
        <p:spPr>
          <a:xfrm>
            <a:off x="8778240" y="3968496"/>
            <a:ext cx="2926080" cy="347472"/>
          </a:xfrm>
          <a:prstGeom prst="rect">
            <a:avLst/>
          </a:prstGeom>
          <a:noFill/>
          <a:ln/>
        </p:spPr>
        <p:txBody>
          <a:bodyPr wrap="square" lIns="0" tIns="0" rIns="0" bIns="0" rtlCol="0" anchor="ctr"/>
          <a:lstStyle/>
          <a:p>
            <a:pPr indent="0" marL="0">
              <a:buNone/>
            </a:pPr>
            <a:r>
              <a:rPr lang="en-US" sz="1800" b="1" dirty="0">
                <a:solidFill>
                  <a:srgbClr val="F1F0FA"/>
                </a:solidFill>
                <a:latin typeface="Arial" pitchFamily="34" charset="0"/>
                <a:ea typeface="Arial" pitchFamily="34" charset="-122"/>
                <a:cs typeface="Arial" pitchFamily="34" charset="-120"/>
              </a:rPr>
              <a:t>Ask</a:t>
            </a:r>
            <a:endParaRPr lang="en-US" sz="1800" dirty="0"/>
          </a:p>
        </p:txBody>
      </p:sp>
      <p:sp>
        <p:nvSpPr>
          <p:cNvPr id="17" name="Text 11"/>
          <p:cNvSpPr txBox="1"/>
          <p:nvPr/>
        </p:nvSpPr>
        <p:spPr>
          <a:xfrm>
            <a:off x="8778240" y="4315968"/>
            <a:ext cx="2926080" cy="548640"/>
          </a:xfrm>
          <a:prstGeom prst="rect">
            <a:avLst/>
          </a:prstGeom>
          <a:noFill/>
          <a:ln/>
        </p:spPr>
        <p:txBody>
          <a:bodyPr wrap="square" lIns="0" tIns="0" rIns="0" bIns="0" rtlCol="0" anchor="t"/>
          <a:lstStyle/>
          <a:p>
            <a:pPr indent="0" marL="0">
              <a:buNone/>
            </a:pPr>
            <a:r>
              <a:rPr lang="en-US" sz="1300" dirty="0">
                <a:solidFill>
                  <a:srgbClr val="A9A7C0"/>
                </a:solidFill>
                <a:latin typeface="Calibri" pitchFamily="34" charset="0"/>
                <a:ea typeface="Calibri" pitchFamily="34" charset="-122"/>
                <a:cs typeface="Calibri" pitchFamily="34" charset="-120"/>
              </a:rPr>
              <a:t>Chat with the image — visual question answering</a:t>
            </a:r>
            <a:endParaRPr lang="en-US" sz="1300" dirty="0"/>
          </a:p>
        </p:txBody>
      </p:sp>
      <p:sp>
        <p:nvSpPr>
          <p:cNvPr id="18" name="Shape 12"/>
          <p:cNvSpPr/>
          <p:nvPr/>
        </p:nvSpPr>
        <p:spPr>
          <a:xfrm>
            <a:off x="8001000" y="5065776"/>
            <a:ext cx="603504" cy="603504"/>
          </a:xfrm>
          <a:prstGeom prst="ellipse">
            <a:avLst/>
          </a:prstGeom>
          <a:solidFill>
            <a:srgbClr val="FBBF24">
              <a:alpha val="18000"/>
            </a:srgbClr>
          </a:solidFill>
          <a:ln w="12700">
            <a:solidFill>
              <a:srgbClr val="FBBF24">
                <a:alpha val="60000"/>
              </a:srgbClr>
            </a:solidFill>
            <a:prstDash val="solid"/>
          </a:ln>
        </p:spPr>
      </p:sp>
      <p:pic>
        <p:nvPicPr>
          <p:cNvPr id="19" name="Image 4" descr="preencoded.png">    </p:cNvPr>
          <p:cNvPicPr>
            <a:picLocks noChangeAspect="1"/>
          </p:cNvPicPr>
          <p:nvPr/>
        </p:nvPicPr>
        <p:blipFill>
          <a:blip r:embed="rId6"/>
          <a:stretch>
            <a:fillRect/>
          </a:stretch>
        </p:blipFill>
        <p:spPr>
          <a:xfrm>
            <a:off x="8133771" y="5198547"/>
            <a:ext cx="337962" cy="337962"/>
          </a:xfrm>
          <a:prstGeom prst="rect">
            <a:avLst/>
          </a:prstGeom>
        </p:spPr>
      </p:pic>
      <p:sp>
        <p:nvSpPr>
          <p:cNvPr id="20" name="Text 13"/>
          <p:cNvSpPr txBox="1"/>
          <p:nvPr/>
        </p:nvSpPr>
        <p:spPr>
          <a:xfrm>
            <a:off x="8778240" y="5047488"/>
            <a:ext cx="2926080" cy="347472"/>
          </a:xfrm>
          <a:prstGeom prst="rect">
            <a:avLst/>
          </a:prstGeom>
          <a:noFill/>
          <a:ln/>
        </p:spPr>
        <p:txBody>
          <a:bodyPr wrap="square" lIns="0" tIns="0" rIns="0" bIns="0" rtlCol="0" anchor="ctr"/>
          <a:lstStyle/>
          <a:p>
            <a:pPr indent="0" marL="0">
              <a:buNone/>
            </a:pPr>
            <a:r>
              <a:rPr lang="en-US" sz="1800" b="1" dirty="0">
                <a:solidFill>
                  <a:srgbClr val="F1F0FA"/>
                </a:solidFill>
                <a:latin typeface="Arial" pitchFamily="34" charset="0"/>
                <a:ea typeface="Arial" pitchFamily="34" charset="-122"/>
                <a:cs typeface="Arial" pitchFamily="34" charset="-120"/>
              </a:rPr>
              <a:t>Match</a:t>
            </a:r>
            <a:endParaRPr lang="en-US" sz="1800" dirty="0"/>
          </a:p>
        </p:txBody>
      </p:sp>
      <p:sp>
        <p:nvSpPr>
          <p:cNvPr id="21" name="Text 14"/>
          <p:cNvSpPr txBox="1"/>
          <p:nvPr/>
        </p:nvSpPr>
        <p:spPr>
          <a:xfrm>
            <a:off x="8778240" y="5394960"/>
            <a:ext cx="2926080" cy="548640"/>
          </a:xfrm>
          <a:prstGeom prst="rect">
            <a:avLst/>
          </a:prstGeom>
          <a:noFill/>
          <a:ln/>
        </p:spPr>
        <p:txBody>
          <a:bodyPr wrap="square" lIns="0" tIns="0" rIns="0" bIns="0" rtlCol="0" anchor="t"/>
          <a:lstStyle/>
          <a:p>
            <a:pPr indent="0" marL="0">
              <a:buNone/>
            </a:pPr>
            <a:r>
              <a:rPr lang="en-US" sz="1300" dirty="0">
                <a:solidFill>
                  <a:srgbClr val="A9A7C0"/>
                </a:solidFill>
                <a:latin typeface="Calibri" pitchFamily="34" charset="0"/>
                <a:ea typeface="Calibri" pitchFamily="34" charset="-122"/>
                <a:cs typeface="Calibri" pitchFamily="34" charset="-120"/>
              </a:rPr>
              <a:t>Score any description against the image</a:t>
            </a:r>
            <a:endParaRPr lang="en-US" sz="1300" dirty="0"/>
          </a:p>
        </p:txBody>
      </p:sp>
      <p:sp>
        <p:nvSpPr>
          <p:cNvPr id="22" name="Text 15"/>
          <p:cNvSpPr txBox="1"/>
          <p:nvPr/>
        </p:nvSpPr>
        <p:spPr>
          <a:xfrm>
            <a:off x="8001000" y="6035040"/>
            <a:ext cx="3749040" cy="320040"/>
          </a:xfrm>
          <a:prstGeom prst="rect">
            <a:avLst/>
          </a:prstGeom>
          <a:noFill/>
          <a:ln/>
        </p:spPr>
        <p:txBody>
          <a:bodyPr wrap="square" lIns="0" tIns="0" rIns="0" bIns="0" rtlCol="0" anchor="ctr"/>
          <a:lstStyle/>
          <a:p>
            <a:pPr indent="0" marL="0">
              <a:buNone/>
            </a:pPr>
            <a:r>
              <a:rPr lang="en-US" sz="1100" i="1" dirty="0">
                <a:solidFill>
                  <a:srgbClr val="22D3EE"/>
                </a:solidFill>
                <a:latin typeface="Calibri" pitchFamily="34" charset="0"/>
                <a:ea typeface="Calibri" pitchFamily="34" charset="-122"/>
                <a:cs typeface="Calibri" pitchFamily="34" charset="-120"/>
              </a:rPr>
              <a:t>5 ways in: upload · drag &amp; drop · paste · URL · webcam  (+ 44 samples)</a:t>
            </a:r>
            <a:endParaRPr lang="en-US" sz="1100" dirty="0"/>
          </a:p>
        </p:txBody>
      </p:sp>
      <p:sp>
        <p:nvSpPr>
          <p:cNvPr id="23" name="Text 16"/>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b="1" dirty="0">
                <a:solidFill>
                  <a:srgbClr val="A9A7C0"/>
                </a:solidFill>
                <a:latin typeface="Calibri" pitchFamily="34" charset="0"/>
                <a:ea typeface="Calibri" pitchFamily="34" charset="-122"/>
                <a:cs typeface="Calibri" pitchFamily="34" charset="-120"/>
              </a:rPr>
              <a:t>PixelProse</a:t>
            </a:r>
            <a:pPr algn="r" indent="0" marL="0">
              <a:buNone/>
            </a:pPr>
            <a:r>
              <a:rPr lang="en-US" sz="1000" dirty="0">
                <a:solidFill>
                  <a:srgbClr val="74718F"/>
                </a:solidFill>
                <a:latin typeface="Calibri" pitchFamily="34" charset="0"/>
                <a:ea typeface="Calibri" pitchFamily="34" charset="-122"/>
                <a:cs typeface="Calibri" pitchFamily="34" charset="-120"/>
              </a:rPr>
              <a:t>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indent="0" marL="0">
              <a:buNone/>
            </a:pPr>
            <a:r>
              <a:rPr lang="en-US" sz="1100" b="1" spc="300" kern="0" dirty="0">
                <a:solidFill>
                  <a:srgbClr val="8B5CF6"/>
                </a:solidFill>
                <a:latin typeface="Arial" pitchFamily="34" charset="0"/>
                <a:ea typeface="Arial" pitchFamily="34" charset="-122"/>
                <a:cs typeface="Arial" pitchFamily="34" charset="-120"/>
              </a:rPr>
              <a:t>SYSTEM DESIGN</a:t>
            </a:r>
            <a:endParaRPr lang="en-US" sz="1100" dirty="0"/>
          </a:p>
        </p:txBody>
      </p:sp>
      <p:sp>
        <p:nvSpPr>
          <p:cNvPr id="3" name="Text 1"/>
          <p:cNvSpPr txBox="1"/>
          <p:nvPr/>
        </p:nvSpPr>
        <p:spPr>
          <a:xfrm>
            <a:off x="548640" y="777240"/>
            <a:ext cx="11094415" cy="777240"/>
          </a:xfrm>
          <a:prstGeom prst="rect">
            <a:avLst/>
          </a:prstGeom>
          <a:noFill/>
          <a:ln/>
        </p:spPr>
        <p:txBody>
          <a:bodyPr wrap="square" lIns="0" tIns="0" rIns="0" bIns="0" rtlCol="0" anchor="t"/>
          <a:lstStyle/>
          <a:p>
            <a:pPr indent="0" marL="0">
              <a:buNone/>
            </a:pPr>
            <a:r>
              <a:rPr lang="en-US" sz="3400" b="1" dirty="0">
                <a:solidFill>
                  <a:srgbClr val="F1F0FA"/>
                </a:solidFill>
                <a:latin typeface="Arial" pitchFamily="34" charset="0"/>
                <a:ea typeface="Arial" pitchFamily="34" charset="-122"/>
                <a:cs typeface="Arial" pitchFamily="34" charset="-120"/>
              </a:rPr>
              <a:t>Architecture</a:t>
            </a:r>
            <a:endParaRPr lang="en-US" sz="3400" dirty="0"/>
          </a:p>
        </p:txBody>
      </p:sp>
      <p:sp>
        <p:nvSpPr>
          <p:cNvPr id="4" name="Text 2"/>
          <p:cNvSpPr txBox="1"/>
          <p:nvPr/>
        </p:nvSpPr>
        <p:spPr>
          <a:xfrm>
            <a:off x="548640" y="1691640"/>
            <a:ext cx="2377440" cy="274320"/>
          </a:xfrm>
          <a:prstGeom prst="rect">
            <a:avLst/>
          </a:prstGeom>
          <a:noFill/>
          <a:ln/>
        </p:spPr>
        <p:txBody>
          <a:bodyPr wrap="square" lIns="0" tIns="0" rIns="0" bIns="0" rtlCol="0" anchor="ctr"/>
          <a:lstStyle/>
          <a:p>
            <a:pPr indent="0" marL="0">
              <a:buNone/>
            </a:pPr>
            <a:r>
              <a:rPr lang="en-US" sz="1100" b="1" spc="200" kern="0" dirty="0">
                <a:solidFill>
                  <a:srgbClr val="22D3EE"/>
                </a:solidFill>
                <a:latin typeface="Arial" pitchFamily="34" charset="0"/>
                <a:ea typeface="Arial" pitchFamily="34" charset="-122"/>
                <a:cs typeface="Arial" pitchFamily="34" charset="-120"/>
              </a:rPr>
              <a:t>FRONTEND</a:t>
            </a:r>
            <a:endParaRPr lang="en-US" sz="1100" dirty="0"/>
          </a:p>
        </p:txBody>
      </p:sp>
      <p:sp>
        <p:nvSpPr>
          <p:cNvPr id="5" name="Text 3"/>
          <p:cNvSpPr txBox="1"/>
          <p:nvPr/>
        </p:nvSpPr>
        <p:spPr>
          <a:xfrm>
            <a:off x="3429000" y="1691640"/>
            <a:ext cx="2377440" cy="274320"/>
          </a:xfrm>
          <a:prstGeom prst="rect">
            <a:avLst/>
          </a:prstGeom>
          <a:noFill/>
          <a:ln/>
        </p:spPr>
        <p:txBody>
          <a:bodyPr wrap="square" lIns="0" tIns="0" rIns="0" bIns="0" rtlCol="0" anchor="ctr"/>
          <a:lstStyle/>
          <a:p>
            <a:pPr indent="0" marL="0">
              <a:buNone/>
            </a:pPr>
            <a:r>
              <a:rPr lang="en-US" sz="1100" b="1" spc="200" kern="0" dirty="0">
                <a:solidFill>
                  <a:srgbClr val="8B5CF6"/>
                </a:solidFill>
                <a:latin typeface="Arial" pitchFamily="34" charset="0"/>
                <a:ea typeface="Arial" pitchFamily="34" charset="-122"/>
                <a:cs typeface="Arial" pitchFamily="34" charset="-120"/>
              </a:rPr>
              <a:t>API SERVER</a:t>
            </a:r>
            <a:endParaRPr lang="en-US" sz="1100" dirty="0"/>
          </a:p>
        </p:txBody>
      </p:sp>
      <p:sp>
        <p:nvSpPr>
          <p:cNvPr id="6" name="Text 4"/>
          <p:cNvSpPr txBox="1"/>
          <p:nvPr/>
        </p:nvSpPr>
        <p:spPr>
          <a:xfrm>
            <a:off x="6309360" y="1691640"/>
            <a:ext cx="2377440" cy="274320"/>
          </a:xfrm>
          <a:prstGeom prst="rect">
            <a:avLst/>
          </a:prstGeom>
          <a:noFill/>
          <a:ln/>
        </p:spPr>
        <p:txBody>
          <a:bodyPr wrap="square" lIns="0" tIns="0" rIns="0" bIns="0" rtlCol="0" anchor="ctr"/>
          <a:lstStyle/>
          <a:p>
            <a:pPr indent="0" marL="0">
              <a:buNone/>
            </a:pPr>
            <a:r>
              <a:rPr lang="en-US" sz="1100" b="1" spc="200" kern="0" dirty="0">
                <a:solidFill>
                  <a:srgbClr val="F472B6"/>
                </a:solidFill>
                <a:latin typeface="Arial" pitchFamily="34" charset="0"/>
                <a:ea typeface="Arial" pitchFamily="34" charset="-122"/>
                <a:cs typeface="Arial" pitchFamily="34" charset="-120"/>
              </a:rPr>
              <a:t>SERVICES</a:t>
            </a:r>
            <a:endParaRPr lang="en-US" sz="1100" dirty="0"/>
          </a:p>
        </p:txBody>
      </p:sp>
      <p:sp>
        <p:nvSpPr>
          <p:cNvPr id="7" name="Text 5"/>
          <p:cNvSpPr txBox="1"/>
          <p:nvPr/>
        </p:nvSpPr>
        <p:spPr>
          <a:xfrm>
            <a:off x="9189720" y="1691640"/>
            <a:ext cx="2468880" cy="274320"/>
          </a:xfrm>
          <a:prstGeom prst="rect">
            <a:avLst/>
          </a:prstGeom>
          <a:noFill/>
          <a:ln/>
        </p:spPr>
        <p:txBody>
          <a:bodyPr wrap="square" lIns="0" tIns="0" rIns="0" bIns="0" rtlCol="0" anchor="ctr"/>
          <a:lstStyle/>
          <a:p>
            <a:pPr indent="0" marL="0">
              <a:buNone/>
            </a:pPr>
            <a:r>
              <a:rPr lang="en-US" sz="1100" b="1" spc="200" kern="0" dirty="0">
                <a:solidFill>
                  <a:srgbClr val="FBBF24"/>
                </a:solidFill>
                <a:latin typeface="Arial" pitchFamily="34" charset="0"/>
                <a:ea typeface="Arial" pitchFamily="34" charset="-122"/>
                <a:cs typeface="Arial" pitchFamily="34" charset="-120"/>
              </a:rPr>
              <a:t>MODELS (PyTorch)</a:t>
            </a:r>
            <a:endParaRPr lang="en-US" sz="1100" dirty="0"/>
          </a:p>
        </p:txBody>
      </p:sp>
      <p:sp>
        <p:nvSpPr>
          <p:cNvPr id="8" name="Shape 6"/>
          <p:cNvSpPr/>
          <p:nvPr/>
        </p:nvSpPr>
        <p:spPr>
          <a:xfrm>
            <a:off x="548640" y="2057400"/>
            <a:ext cx="2377440" cy="1188720"/>
          </a:xfrm>
          <a:prstGeom prst="roundRect">
            <a:avLst>
              <a:gd name="adj" fmla="val 9231"/>
            </a:avLst>
          </a:prstGeom>
          <a:solidFill>
            <a:srgbClr val="15132A"/>
          </a:solidFill>
          <a:ln w="19050">
            <a:solidFill>
              <a:srgbClr val="22D3EE"/>
            </a:solidFill>
            <a:prstDash val="solid"/>
          </a:ln>
        </p:spPr>
      </p:sp>
      <p:sp>
        <p:nvSpPr>
          <p:cNvPr id="9" name="Text 7"/>
          <p:cNvSpPr txBox="1"/>
          <p:nvPr/>
        </p:nvSpPr>
        <p:spPr>
          <a:xfrm>
            <a:off x="685800" y="2057400"/>
            <a:ext cx="2103120" cy="1188720"/>
          </a:xfrm>
          <a:prstGeom prst="rect">
            <a:avLst/>
          </a:prstGeom>
          <a:noFill/>
          <a:ln/>
        </p:spPr>
        <p:txBody>
          <a:bodyPr wrap="square" lIns="0" tIns="0" rIns="0" bIns="0" rtlCol="0" anchor="ctr"/>
          <a:lstStyle/>
          <a:p>
            <a:pPr algn="ctr" indent="0" marL="0">
              <a:buNone/>
            </a:pPr>
            <a:r>
              <a:rPr lang="en-US" sz="1500" b="1" dirty="0">
                <a:solidFill>
                  <a:srgbClr val="F1F0FA"/>
                </a:solidFill>
                <a:latin typeface="Calibri" pitchFamily="34" charset="0"/>
                <a:ea typeface="Calibri" pitchFamily="34" charset="-122"/>
                <a:cs typeface="Calibri" pitchFamily="34" charset="-120"/>
              </a:rPr>
              <a:t>Web UI</a:t>
            </a:r>
            <a:endParaRPr lang="en-US" sz="1500" dirty="0"/>
          </a:p>
          <a:p>
            <a:pPr algn="ctr" indent="0" marL="0">
              <a:buNone/>
            </a:pPr>
            <a:r>
              <a:rPr lang="en-US" sz="1100" dirty="0">
                <a:solidFill>
                  <a:srgbClr val="A9A7C0"/>
                </a:solidFill>
                <a:latin typeface="Calibri" pitchFamily="34" charset="0"/>
                <a:ea typeface="Calibri" pitchFamily="34" charset="-122"/>
                <a:cs typeface="Calibri" pitchFamily="34" charset="-120"/>
              </a:rPr>
              <a:t>HTML · CSS · JS modules</a:t>
            </a:r>
            <a:endParaRPr lang="en-US" sz="1500" dirty="0"/>
          </a:p>
          <a:p>
            <a:pPr algn="ctr" indent="0" marL="0">
              <a:buNone/>
            </a:pPr>
            <a:r>
              <a:rPr lang="en-US" sz="1100" dirty="0">
                <a:solidFill>
                  <a:srgbClr val="A9A7C0"/>
                </a:solidFill>
                <a:latin typeface="Calibri" pitchFamily="34" charset="0"/>
                <a:ea typeface="Calibri" pitchFamily="34" charset="-122"/>
                <a:cs typeface="Calibri" pitchFamily="34" charset="-120"/>
              </a:rPr>
              <a:t>no build step</a:t>
            </a:r>
            <a:endParaRPr lang="en-US" sz="1500" dirty="0"/>
          </a:p>
        </p:txBody>
      </p:sp>
      <p:sp>
        <p:nvSpPr>
          <p:cNvPr id="10" name="Shape 8"/>
          <p:cNvSpPr/>
          <p:nvPr/>
        </p:nvSpPr>
        <p:spPr>
          <a:xfrm>
            <a:off x="548640" y="3429000"/>
            <a:ext cx="2377440" cy="914400"/>
          </a:xfrm>
          <a:prstGeom prst="roundRect">
            <a:avLst>
              <a:gd name="adj" fmla="val 12000"/>
            </a:avLst>
          </a:prstGeom>
          <a:solidFill>
            <a:srgbClr val="15132A"/>
          </a:solidFill>
          <a:ln w="19050">
            <a:solidFill>
              <a:srgbClr val="22D3EE"/>
            </a:solidFill>
            <a:prstDash val="solid"/>
          </a:ln>
        </p:spPr>
      </p:sp>
      <p:sp>
        <p:nvSpPr>
          <p:cNvPr id="11" name="Text 9"/>
          <p:cNvSpPr txBox="1"/>
          <p:nvPr/>
        </p:nvSpPr>
        <p:spPr>
          <a:xfrm>
            <a:off x="685800" y="3429000"/>
            <a:ext cx="2103120" cy="914400"/>
          </a:xfrm>
          <a:prstGeom prst="rect">
            <a:avLst/>
          </a:prstGeom>
          <a:noFill/>
          <a:ln/>
        </p:spPr>
        <p:txBody>
          <a:bodyPr wrap="square" lIns="0" tIns="0" rIns="0" bIns="0" rtlCol="0" anchor="ctr"/>
          <a:lstStyle/>
          <a:p>
            <a:pPr algn="ctr" indent="0" marL="0">
              <a:buNone/>
            </a:pPr>
            <a:r>
              <a:rPr lang="en-US" sz="1500" b="1" dirty="0">
                <a:solidFill>
                  <a:srgbClr val="F1F0FA"/>
                </a:solidFill>
                <a:latin typeface="Calibri" pitchFamily="34" charset="0"/>
                <a:ea typeface="Calibri" pitchFamily="34" charset="-122"/>
                <a:cs typeface="Calibri" pitchFamily="34" charset="-120"/>
              </a:rPr>
              <a:t>Heatmap canvas</a:t>
            </a:r>
            <a:endParaRPr lang="en-US" sz="1500" dirty="0"/>
          </a:p>
          <a:p>
            <a:pPr algn="ctr" indent="0" marL="0">
              <a:buNone/>
            </a:pPr>
            <a:r>
              <a:rPr lang="en-US" sz="1100" dirty="0">
                <a:solidFill>
                  <a:srgbClr val="A9A7C0"/>
                </a:solidFill>
                <a:latin typeface="Calibri" pitchFamily="34" charset="0"/>
                <a:ea typeface="Calibri" pitchFamily="34" charset="-122"/>
                <a:cs typeface="Calibri" pitchFamily="34" charset="-120"/>
              </a:rPr>
              <a:t>Grad-CAM rendering</a:t>
            </a:r>
            <a:endParaRPr lang="en-US" sz="1500" dirty="0"/>
          </a:p>
        </p:txBody>
      </p:sp>
      <p:sp>
        <p:nvSpPr>
          <p:cNvPr id="12" name="Shape 10"/>
          <p:cNvSpPr/>
          <p:nvPr/>
        </p:nvSpPr>
        <p:spPr>
          <a:xfrm>
            <a:off x="548640" y="4526280"/>
            <a:ext cx="2377440" cy="914400"/>
          </a:xfrm>
          <a:prstGeom prst="roundRect">
            <a:avLst>
              <a:gd name="adj" fmla="val 12000"/>
            </a:avLst>
          </a:prstGeom>
          <a:solidFill>
            <a:srgbClr val="15132A"/>
          </a:solidFill>
          <a:ln w="19050">
            <a:solidFill>
              <a:srgbClr val="22D3EE"/>
            </a:solidFill>
            <a:prstDash val="solid"/>
          </a:ln>
        </p:spPr>
      </p:sp>
      <p:sp>
        <p:nvSpPr>
          <p:cNvPr id="13" name="Text 11"/>
          <p:cNvSpPr txBox="1"/>
          <p:nvPr/>
        </p:nvSpPr>
        <p:spPr>
          <a:xfrm>
            <a:off x="685800" y="4526280"/>
            <a:ext cx="2103120" cy="914400"/>
          </a:xfrm>
          <a:prstGeom prst="rect">
            <a:avLst/>
          </a:prstGeom>
          <a:noFill/>
          <a:ln/>
        </p:spPr>
        <p:txBody>
          <a:bodyPr wrap="square" lIns="0" tIns="0" rIns="0" bIns="0" rtlCol="0" anchor="ctr"/>
          <a:lstStyle/>
          <a:p>
            <a:pPr algn="ctr" indent="0" marL="0">
              <a:buNone/>
            </a:pPr>
            <a:r>
              <a:rPr lang="en-US" sz="1500" b="1" dirty="0">
                <a:solidFill>
                  <a:srgbClr val="F1F0FA"/>
                </a:solidFill>
                <a:latin typeface="Calibri" pitchFamily="34" charset="0"/>
                <a:ea typeface="Calibri" pitchFamily="34" charset="-122"/>
                <a:cs typeface="Calibri" pitchFamily="34" charset="-120"/>
              </a:rPr>
              <a:t>Browser storage</a:t>
            </a:r>
            <a:endParaRPr lang="en-US" sz="1500" dirty="0"/>
          </a:p>
          <a:p>
            <a:pPr algn="ctr" indent="0" marL="0">
              <a:buNone/>
            </a:pPr>
            <a:r>
              <a:rPr lang="en-US" sz="1100" dirty="0">
                <a:solidFill>
                  <a:srgbClr val="A9A7C0"/>
                </a:solidFill>
                <a:latin typeface="Calibri" pitchFamily="34" charset="0"/>
                <a:ea typeface="Calibri" pitchFamily="34" charset="-122"/>
                <a:cs typeface="Calibri" pitchFamily="34" charset="-120"/>
              </a:rPr>
              <a:t>history · settings · theme</a:t>
            </a:r>
            <a:endParaRPr lang="en-US" sz="1500" dirty="0"/>
          </a:p>
        </p:txBody>
      </p:sp>
      <p:sp>
        <p:nvSpPr>
          <p:cNvPr id="14" name="Shape 12"/>
          <p:cNvSpPr/>
          <p:nvPr/>
        </p:nvSpPr>
        <p:spPr>
          <a:xfrm>
            <a:off x="3429000" y="2057400"/>
            <a:ext cx="2377440" cy="2011680"/>
          </a:xfrm>
          <a:prstGeom prst="roundRect">
            <a:avLst>
              <a:gd name="adj" fmla="val 5455"/>
            </a:avLst>
          </a:prstGeom>
          <a:solidFill>
            <a:srgbClr val="15132A"/>
          </a:solidFill>
          <a:ln w="19050">
            <a:solidFill>
              <a:srgbClr val="8B5CF6"/>
            </a:solidFill>
            <a:prstDash val="solid"/>
          </a:ln>
        </p:spPr>
      </p:sp>
      <p:sp>
        <p:nvSpPr>
          <p:cNvPr id="15" name="Text 13"/>
          <p:cNvSpPr txBox="1"/>
          <p:nvPr/>
        </p:nvSpPr>
        <p:spPr>
          <a:xfrm>
            <a:off x="3566160" y="2057400"/>
            <a:ext cx="2103120" cy="2011680"/>
          </a:xfrm>
          <a:prstGeom prst="rect">
            <a:avLst/>
          </a:prstGeom>
          <a:noFill/>
          <a:ln/>
        </p:spPr>
        <p:txBody>
          <a:bodyPr wrap="square" lIns="0" tIns="0" rIns="0" bIns="0" rtlCol="0" anchor="ctr"/>
          <a:lstStyle/>
          <a:p>
            <a:pPr algn="ctr" indent="0" marL="0">
              <a:buNone/>
            </a:pPr>
            <a:r>
              <a:rPr lang="en-US" sz="1500" b="1" dirty="0">
                <a:solidFill>
                  <a:srgbClr val="F1F0FA"/>
                </a:solidFill>
                <a:latin typeface="Calibri" pitchFamily="34" charset="0"/>
                <a:ea typeface="Calibri" pitchFamily="34" charset="-122"/>
                <a:cs typeface="Calibri" pitchFamily="34" charset="-120"/>
              </a:rPr>
              <a:t>FastAPI</a:t>
            </a:r>
            <a:endParaRPr lang="en-US" sz="1500" dirty="0"/>
          </a:p>
          <a:p>
            <a:pPr algn="ctr" indent="0" marL="0">
              <a:buNone/>
            </a:pPr>
            <a:r>
              <a:rPr lang="en-US" sz="1100" dirty="0">
                <a:solidFill>
                  <a:srgbClr val="A9A7C0"/>
                </a:solidFill>
                <a:latin typeface="Calibri" pitchFamily="34" charset="0"/>
                <a:ea typeface="Calibri" pitchFamily="34" charset="-122"/>
                <a:cs typeface="Calibri" pitchFamily="34" charset="-120"/>
              </a:rPr>
              <a:t>REST + OpenAPI docs</a:t>
            </a:r>
            <a:endParaRPr lang="en-US" sz="1500" dirty="0"/>
          </a:p>
          <a:p>
            <a:pPr algn="ctr" indent="0" marL="0">
              <a:buNone/>
            </a:pPr>
            <a:r>
              <a:rPr lang="en-US" sz="1100" dirty="0">
                <a:solidFill>
                  <a:srgbClr val="A9A7C0"/>
                </a:solidFill>
                <a:latin typeface="Calibri" pitchFamily="34" charset="0"/>
                <a:ea typeface="Calibri" pitchFamily="34" charset="-122"/>
                <a:cs typeface="Calibri" pitchFamily="34" charset="-120"/>
              </a:rPr>
              <a:t>validation · errors</a:t>
            </a:r>
            <a:endParaRPr lang="en-US" sz="1500" dirty="0"/>
          </a:p>
          <a:p>
            <a:pPr algn="ctr" indent="0" marL="0">
              <a:buNone/>
            </a:pPr>
            <a:r>
              <a:rPr lang="en-US" sz="1100" dirty="0">
                <a:solidFill>
                  <a:srgbClr val="A9A7C0"/>
                </a:solidFill>
                <a:latin typeface="Calibri" pitchFamily="34" charset="0"/>
                <a:ea typeface="Calibri" pitchFamily="34" charset="-122"/>
                <a:cs typeface="Calibri" pitchFamily="34" charset="-120"/>
              </a:rPr>
              <a:t>GZip · static hosting</a:t>
            </a:r>
            <a:endParaRPr lang="en-US" sz="1500" dirty="0"/>
          </a:p>
        </p:txBody>
      </p:sp>
      <p:sp>
        <p:nvSpPr>
          <p:cNvPr id="16" name="Shape 14"/>
          <p:cNvSpPr/>
          <p:nvPr/>
        </p:nvSpPr>
        <p:spPr>
          <a:xfrm>
            <a:off x="3429000" y="4251960"/>
            <a:ext cx="2377440" cy="1188720"/>
          </a:xfrm>
          <a:prstGeom prst="roundRect">
            <a:avLst>
              <a:gd name="adj" fmla="val 9231"/>
            </a:avLst>
          </a:prstGeom>
          <a:solidFill>
            <a:srgbClr val="15132A"/>
          </a:solidFill>
          <a:ln w="19050">
            <a:solidFill>
              <a:srgbClr val="8B5CF6"/>
            </a:solidFill>
            <a:prstDash val="solid"/>
          </a:ln>
        </p:spPr>
      </p:sp>
      <p:sp>
        <p:nvSpPr>
          <p:cNvPr id="17" name="Text 15"/>
          <p:cNvSpPr txBox="1"/>
          <p:nvPr/>
        </p:nvSpPr>
        <p:spPr>
          <a:xfrm>
            <a:off x="3566160" y="4251960"/>
            <a:ext cx="2103120" cy="1188720"/>
          </a:xfrm>
          <a:prstGeom prst="rect">
            <a:avLst/>
          </a:prstGeom>
          <a:noFill/>
          <a:ln/>
        </p:spPr>
        <p:txBody>
          <a:bodyPr wrap="square" lIns="0" tIns="0" rIns="0" bIns="0" rtlCol="0" anchor="ctr"/>
          <a:lstStyle/>
          <a:p>
            <a:pPr algn="ctr" indent="0" marL="0">
              <a:buNone/>
            </a:pPr>
            <a:r>
              <a:rPr lang="en-US" sz="1500" b="1" dirty="0">
                <a:solidFill>
                  <a:srgbClr val="F1F0FA"/>
                </a:solidFill>
                <a:latin typeface="Calibri" pitchFamily="34" charset="0"/>
                <a:ea typeface="Calibri" pitchFamily="34" charset="-122"/>
                <a:cs typeface="Calibri" pitchFamily="34" charset="-120"/>
              </a:rPr>
              <a:t>LRU caches</a:t>
            </a:r>
            <a:endParaRPr lang="en-US" sz="1500" dirty="0"/>
          </a:p>
          <a:p>
            <a:pPr algn="ctr" indent="0" marL="0">
              <a:buNone/>
            </a:pPr>
            <a:r>
              <a:rPr lang="en-US" sz="1100" dirty="0">
                <a:solidFill>
                  <a:srgbClr val="A9A7C0"/>
                </a:solidFill>
                <a:latin typeface="Calibri" pitchFamily="34" charset="0"/>
                <a:ea typeface="Calibri" pitchFamily="34" charset="-122"/>
                <a:cs typeface="Calibri" pitchFamily="34" charset="-120"/>
              </a:rPr>
              <a:t>images by SHA-1</a:t>
            </a:r>
            <a:endParaRPr lang="en-US" sz="1500" dirty="0"/>
          </a:p>
          <a:p>
            <a:pPr algn="ctr" indent="0" marL="0">
              <a:buNone/>
            </a:pPr>
            <a:r>
              <a:rPr lang="en-US" sz="1100" dirty="0">
                <a:solidFill>
                  <a:srgbClr val="A9A7C0"/>
                </a:solidFill>
                <a:latin typeface="Calibri" pitchFamily="34" charset="0"/>
                <a:ea typeface="Calibri" pitchFamily="34" charset="-122"/>
                <a:cs typeface="Calibri" pitchFamily="34" charset="-120"/>
              </a:rPr>
              <a:t>deterministic results</a:t>
            </a:r>
            <a:endParaRPr lang="en-US" sz="1500" dirty="0"/>
          </a:p>
        </p:txBody>
      </p:sp>
      <p:sp>
        <p:nvSpPr>
          <p:cNvPr id="18" name="Shape 16"/>
          <p:cNvSpPr/>
          <p:nvPr/>
        </p:nvSpPr>
        <p:spPr>
          <a:xfrm>
            <a:off x="6309360" y="2057400"/>
            <a:ext cx="2377440" cy="731520"/>
          </a:xfrm>
          <a:prstGeom prst="roundRect">
            <a:avLst>
              <a:gd name="adj" fmla="val 15000"/>
            </a:avLst>
          </a:prstGeom>
          <a:solidFill>
            <a:srgbClr val="15132A"/>
          </a:solidFill>
          <a:ln w="19050">
            <a:solidFill>
              <a:srgbClr val="F472B6"/>
            </a:solidFill>
            <a:prstDash val="solid"/>
          </a:ln>
        </p:spPr>
      </p:sp>
      <p:sp>
        <p:nvSpPr>
          <p:cNvPr id="19" name="Text 17"/>
          <p:cNvSpPr txBox="1"/>
          <p:nvPr/>
        </p:nvSpPr>
        <p:spPr>
          <a:xfrm>
            <a:off x="6446520" y="2057400"/>
            <a:ext cx="2103120" cy="731520"/>
          </a:xfrm>
          <a:prstGeom prst="rect">
            <a:avLst/>
          </a:prstGeom>
          <a:noFill/>
          <a:ln/>
        </p:spPr>
        <p:txBody>
          <a:bodyPr wrap="square" lIns="0" tIns="0" rIns="0" bIns="0" rtlCol="0" anchor="ctr"/>
          <a:lstStyle/>
          <a:p>
            <a:pPr algn="ctr" indent="0" marL="0">
              <a:buNone/>
            </a:pPr>
            <a:r>
              <a:rPr lang="en-US" sz="1500" b="1" dirty="0">
                <a:solidFill>
                  <a:srgbClr val="F1F0FA"/>
                </a:solidFill>
                <a:latin typeface="Calibri" pitchFamily="34" charset="0"/>
                <a:ea typeface="Calibri" pitchFamily="34" charset="-122"/>
                <a:cs typeface="Calibri" pitchFamily="34" charset="-120"/>
              </a:rPr>
              <a:t>Captioner</a:t>
            </a:r>
            <a:endParaRPr lang="en-US" sz="1500" dirty="0"/>
          </a:p>
          <a:p>
            <a:pPr algn="ctr" indent="0" marL="0">
              <a:buNone/>
            </a:pPr>
            <a:r>
              <a:rPr lang="en-US" sz="1100" dirty="0">
                <a:solidFill>
                  <a:srgbClr val="A9A7C0"/>
                </a:solidFill>
                <a:latin typeface="Calibri" pitchFamily="34" charset="0"/>
                <a:ea typeface="Calibri" pitchFamily="34" charset="-122"/>
                <a:cs typeface="Calibri" pitchFamily="34" charset="-120"/>
              </a:rPr>
              <a:t>encode · decode · score</a:t>
            </a:r>
            <a:endParaRPr lang="en-US" sz="1500" dirty="0"/>
          </a:p>
        </p:txBody>
      </p:sp>
      <p:sp>
        <p:nvSpPr>
          <p:cNvPr id="20" name="Shape 18"/>
          <p:cNvSpPr/>
          <p:nvPr/>
        </p:nvSpPr>
        <p:spPr>
          <a:xfrm>
            <a:off x="6309360" y="2926080"/>
            <a:ext cx="2377440" cy="731520"/>
          </a:xfrm>
          <a:prstGeom prst="roundRect">
            <a:avLst>
              <a:gd name="adj" fmla="val 15000"/>
            </a:avLst>
          </a:prstGeom>
          <a:solidFill>
            <a:srgbClr val="15132A"/>
          </a:solidFill>
          <a:ln w="19050">
            <a:solidFill>
              <a:srgbClr val="F472B6"/>
            </a:solidFill>
            <a:prstDash val="solid"/>
          </a:ln>
        </p:spPr>
      </p:sp>
      <p:sp>
        <p:nvSpPr>
          <p:cNvPr id="21" name="Text 19"/>
          <p:cNvSpPr txBox="1"/>
          <p:nvPr/>
        </p:nvSpPr>
        <p:spPr>
          <a:xfrm>
            <a:off x="6446520" y="2926080"/>
            <a:ext cx="2103120" cy="731520"/>
          </a:xfrm>
          <a:prstGeom prst="rect">
            <a:avLst/>
          </a:prstGeom>
          <a:noFill/>
          <a:ln/>
        </p:spPr>
        <p:txBody>
          <a:bodyPr wrap="square" lIns="0" tIns="0" rIns="0" bIns="0" rtlCol="0" anchor="ctr"/>
          <a:lstStyle/>
          <a:p>
            <a:pPr algn="ctr" indent="0" marL="0">
              <a:buNone/>
            </a:pPr>
            <a:r>
              <a:rPr lang="en-US" sz="1500" b="1" dirty="0">
                <a:solidFill>
                  <a:srgbClr val="F1F0FA"/>
                </a:solidFill>
                <a:latin typeface="Calibri" pitchFamily="34" charset="0"/>
                <a:ea typeface="Calibri" pitchFamily="34" charset="-122"/>
                <a:cs typeface="Calibri" pitchFamily="34" charset="-120"/>
              </a:rPr>
              <a:t>Matcher</a:t>
            </a:r>
            <a:endParaRPr lang="en-US" sz="1500" dirty="0"/>
          </a:p>
          <a:p>
            <a:pPr algn="ctr" indent="0" marL="0">
              <a:buNone/>
            </a:pPr>
            <a:r>
              <a:rPr lang="en-US" sz="1100" dirty="0">
                <a:solidFill>
                  <a:srgbClr val="A9A7C0"/>
                </a:solidFill>
                <a:latin typeface="Calibri" pitchFamily="34" charset="0"/>
                <a:ea typeface="Calibri" pitchFamily="34" charset="-122"/>
                <a:cs typeface="Calibri" pitchFamily="34" charset="-120"/>
              </a:rPr>
              <a:t>ITM · ITC · Grad-CAM</a:t>
            </a:r>
            <a:endParaRPr lang="en-US" sz="1500" dirty="0"/>
          </a:p>
        </p:txBody>
      </p:sp>
      <p:sp>
        <p:nvSpPr>
          <p:cNvPr id="22" name="Shape 20"/>
          <p:cNvSpPr/>
          <p:nvPr/>
        </p:nvSpPr>
        <p:spPr>
          <a:xfrm>
            <a:off x="6309360" y="3794760"/>
            <a:ext cx="2377440" cy="731520"/>
          </a:xfrm>
          <a:prstGeom prst="roundRect">
            <a:avLst>
              <a:gd name="adj" fmla="val 15000"/>
            </a:avLst>
          </a:prstGeom>
          <a:solidFill>
            <a:srgbClr val="15132A"/>
          </a:solidFill>
          <a:ln w="19050">
            <a:solidFill>
              <a:srgbClr val="F472B6"/>
            </a:solidFill>
            <a:prstDash val="solid"/>
          </a:ln>
        </p:spPr>
      </p:sp>
      <p:sp>
        <p:nvSpPr>
          <p:cNvPr id="23" name="Text 21"/>
          <p:cNvSpPr txBox="1"/>
          <p:nvPr/>
        </p:nvSpPr>
        <p:spPr>
          <a:xfrm>
            <a:off x="6446520" y="3794760"/>
            <a:ext cx="2103120" cy="731520"/>
          </a:xfrm>
          <a:prstGeom prst="rect">
            <a:avLst/>
          </a:prstGeom>
          <a:noFill/>
          <a:ln/>
        </p:spPr>
        <p:txBody>
          <a:bodyPr wrap="square" lIns="0" tIns="0" rIns="0" bIns="0" rtlCol="0" anchor="ctr"/>
          <a:lstStyle/>
          <a:p>
            <a:pPr algn="ctr" indent="0" marL="0">
              <a:buNone/>
            </a:pPr>
            <a:r>
              <a:rPr lang="en-US" sz="1500" b="1" dirty="0">
                <a:solidFill>
                  <a:srgbClr val="F1F0FA"/>
                </a:solidFill>
                <a:latin typeface="Calibri" pitchFamily="34" charset="0"/>
                <a:ea typeface="Calibri" pitchFamily="34" charset="-122"/>
                <a:cs typeface="Calibri" pitchFamily="34" charset="-120"/>
              </a:rPr>
              <a:t>QuestionAnswerer</a:t>
            </a:r>
            <a:endParaRPr lang="en-US" sz="1500" dirty="0"/>
          </a:p>
          <a:p>
            <a:pPr algn="ctr" indent="0" marL="0">
              <a:buNone/>
            </a:pPr>
            <a:r>
              <a:rPr lang="en-US" sz="1100" dirty="0">
                <a:solidFill>
                  <a:srgbClr val="A9A7C0"/>
                </a:solidFill>
                <a:latin typeface="Calibri" pitchFamily="34" charset="0"/>
                <a:ea typeface="Calibri" pitchFamily="34" charset="-122"/>
                <a:cs typeface="Calibri" pitchFamily="34" charset="-120"/>
              </a:rPr>
              <a:t>visual Q&amp;A</a:t>
            </a:r>
            <a:endParaRPr lang="en-US" sz="1500" dirty="0"/>
          </a:p>
        </p:txBody>
      </p:sp>
      <p:sp>
        <p:nvSpPr>
          <p:cNvPr id="24" name="Shape 22"/>
          <p:cNvSpPr/>
          <p:nvPr/>
        </p:nvSpPr>
        <p:spPr>
          <a:xfrm>
            <a:off x="6309360" y="4663440"/>
            <a:ext cx="2377440" cy="777240"/>
          </a:xfrm>
          <a:prstGeom prst="roundRect">
            <a:avLst>
              <a:gd name="adj" fmla="val 14118"/>
            </a:avLst>
          </a:prstGeom>
          <a:solidFill>
            <a:srgbClr val="15132A"/>
          </a:solidFill>
          <a:ln w="19050">
            <a:solidFill>
              <a:srgbClr val="F472B6"/>
            </a:solidFill>
            <a:prstDash val="solid"/>
          </a:ln>
        </p:spPr>
      </p:sp>
      <p:sp>
        <p:nvSpPr>
          <p:cNvPr id="25" name="Text 23"/>
          <p:cNvSpPr txBox="1"/>
          <p:nvPr/>
        </p:nvSpPr>
        <p:spPr>
          <a:xfrm>
            <a:off x="6446520" y="4663440"/>
            <a:ext cx="2103120" cy="777240"/>
          </a:xfrm>
          <a:prstGeom prst="rect">
            <a:avLst/>
          </a:prstGeom>
          <a:noFill/>
          <a:ln/>
        </p:spPr>
        <p:txBody>
          <a:bodyPr wrap="square" lIns="0" tIns="0" rIns="0" bIns="0" rtlCol="0" anchor="ctr"/>
          <a:lstStyle/>
          <a:p>
            <a:pPr algn="ctr" indent="0" marL="0">
              <a:buNone/>
            </a:pPr>
            <a:r>
              <a:rPr lang="en-US" sz="1500" b="1" dirty="0">
                <a:solidFill>
                  <a:srgbClr val="F1F0FA"/>
                </a:solidFill>
                <a:latin typeface="Calibri" pitchFamily="34" charset="0"/>
                <a:ea typeface="Calibri" pitchFamily="34" charset="-122"/>
                <a:cs typeface="Calibri" pitchFamily="34" charset="-120"/>
              </a:rPr>
              <a:t>Model Manager</a:t>
            </a:r>
            <a:endParaRPr lang="en-US" sz="1500" dirty="0"/>
          </a:p>
          <a:p>
            <a:pPr algn="ctr" indent="0" marL="0">
              <a:buNone/>
            </a:pPr>
            <a:r>
              <a:rPr lang="en-US" sz="1100" dirty="0">
                <a:solidFill>
                  <a:srgbClr val="A9A7C0"/>
                </a:solidFill>
                <a:latin typeface="Calibri" pitchFamily="34" charset="0"/>
                <a:ea typeface="Calibri" pitchFamily="34" charset="-122"/>
                <a:cs typeface="Calibri" pitchFamily="34" charset="-120"/>
              </a:rPr>
              <a:t>lazy load · device · locks</a:t>
            </a:r>
            <a:endParaRPr lang="en-US" sz="1500" dirty="0"/>
          </a:p>
        </p:txBody>
      </p:sp>
      <p:sp>
        <p:nvSpPr>
          <p:cNvPr id="26" name="Shape 24"/>
          <p:cNvSpPr/>
          <p:nvPr/>
        </p:nvSpPr>
        <p:spPr>
          <a:xfrm>
            <a:off x="9189720" y="2057400"/>
            <a:ext cx="2468880" cy="731520"/>
          </a:xfrm>
          <a:prstGeom prst="roundRect">
            <a:avLst>
              <a:gd name="adj" fmla="val 15000"/>
            </a:avLst>
          </a:prstGeom>
          <a:solidFill>
            <a:srgbClr val="15132A"/>
          </a:solidFill>
          <a:ln w="19050">
            <a:solidFill>
              <a:srgbClr val="FBBF24"/>
            </a:solidFill>
            <a:prstDash val="solid"/>
          </a:ln>
        </p:spPr>
      </p:sp>
      <p:sp>
        <p:nvSpPr>
          <p:cNvPr id="27" name="Text 25"/>
          <p:cNvSpPr txBox="1"/>
          <p:nvPr/>
        </p:nvSpPr>
        <p:spPr>
          <a:xfrm>
            <a:off x="9326880" y="2057400"/>
            <a:ext cx="2194560" cy="731520"/>
          </a:xfrm>
          <a:prstGeom prst="rect">
            <a:avLst/>
          </a:prstGeom>
          <a:noFill/>
          <a:ln/>
        </p:spPr>
        <p:txBody>
          <a:bodyPr wrap="square" lIns="0" tIns="0" rIns="0" bIns="0" rtlCol="0" anchor="ctr"/>
          <a:lstStyle/>
          <a:p>
            <a:pPr algn="ctr" indent="0" marL="0">
              <a:buNone/>
            </a:pPr>
            <a:r>
              <a:rPr lang="en-US" sz="1500" b="1" dirty="0">
                <a:solidFill>
                  <a:srgbClr val="F1F0FA"/>
                </a:solidFill>
                <a:latin typeface="Calibri" pitchFamily="34" charset="0"/>
                <a:ea typeface="Calibri" pitchFamily="34" charset="-122"/>
                <a:cs typeface="Calibri" pitchFamily="34" charset="-120"/>
              </a:rPr>
              <a:t>BLIP-large captioner</a:t>
            </a:r>
            <a:endParaRPr lang="en-US" sz="1500" dirty="0"/>
          </a:p>
          <a:p>
            <a:pPr algn="ctr" indent="0" marL="0">
              <a:buNone/>
            </a:pPr>
            <a:r>
              <a:rPr lang="en-US" sz="1100" dirty="0">
                <a:solidFill>
                  <a:srgbClr val="A9A7C0"/>
                </a:solidFill>
                <a:latin typeface="Calibri" pitchFamily="34" charset="0"/>
                <a:ea typeface="Calibri" pitchFamily="34" charset="-122"/>
                <a:cs typeface="Calibri" pitchFamily="34" charset="-120"/>
              </a:rPr>
              <a:t>ViT-L/16 · 446M</a:t>
            </a:r>
            <a:endParaRPr lang="en-US" sz="1500" dirty="0"/>
          </a:p>
        </p:txBody>
      </p:sp>
      <p:sp>
        <p:nvSpPr>
          <p:cNvPr id="28" name="Shape 26"/>
          <p:cNvSpPr/>
          <p:nvPr/>
        </p:nvSpPr>
        <p:spPr>
          <a:xfrm>
            <a:off x="9189720" y="2907792"/>
            <a:ext cx="2468880" cy="731520"/>
          </a:xfrm>
          <a:prstGeom prst="roundRect">
            <a:avLst>
              <a:gd name="adj" fmla="val 15000"/>
            </a:avLst>
          </a:prstGeom>
          <a:solidFill>
            <a:srgbClr val="15132A"/>
          </a:solidFill>
          <a:ln w="19050">
            <a:solidFill>
              <a:srgbClr val="FBBF24"/>
            </a:solidFill>
            <a:prstDash val="solid"/>
          </a:ln>
        </p:spPr>
      </p:sp>
      <p:sp>
        <p:nvSpPr>
          <p:cNvPr id="29" name="Text 27"/>
          <p:cNvSpPr txBox="1"/>
          <p:nvPr/>
        </p:nvSpPr>
        <p:spPr>
          <a:xfrm>
            <a:off x="9326880" y="2907792"/>
            <a:ext cx="2194560" cy="731520"/>
          </a:xfrm>
          <a:prstGeom prst="rect">
            <a:avLst/>
          </a:prstGeom>
          <a:noFill/>
          <a:ln/>
        </p:spPr>
        <p:txBody>
          <a:bodyPr wrap="square" lIns="0" tIns="0" rIns="0" bIns="0" rtlCol="0" anchor="ctr"/>
          <a:lstStyle/>
          <a:p>
            <a:pPr algn="ctr" indent="0" marL="0">
              <a:buNone/>
            </a:pPr>
            <a:r>
              <a:rPr lang="en-US" sz="1500" b="1" dirty="0">
                <a:solidFill>
                  <a:srgbClr val="F1F0FA"/>
                </a:solidFill>
                <a:latin typeface="Calibri" pitchFamily="34" charset="0"/>
                <a:ea typeface="Calibri" pitchFamily="34" charset="-122"/>
                <a:cs typeface="Calibri" pitchFamily="34" charset="-120"/>
              </a:rPr>
              <a:t>BLIP-base captioner</a:t>
            </a:r>
            <a:endParaRPr lang="en-US" sz="1500" dirty="0"/>
          </a:p>
          <a:p>
            <a:pPr algn="ctr" indent="0" marL="0">
              <a:buNone/>
            </a:pPr>
            <a:r>
              <a:rPr lang="en-US" sz="1100" dirty="0">
                <a:solidFill>
                  <a:srgbClr val="A9A7C0"/>
                </a:solidFill>
                <a:latin typeface="Calibri" pitchFamily="34" charset="0"/>
                <a:ea typeface="Calibri" pitchFamily="34" charset="-122"/>
                <a:cs typeface="Calibri" pitchFamily="34" charset="-120"/>
              </a:rPr>
              <a:t>ViT-B/16 · fast mode</a:t>
            </a:r>
            <a:endParaRPr lang="en-US" sz="1500" dirty="0"/>
          </a:p>
        </p:txBody>
      </p:sp>
      <p:sp>
        <p:nvSpPr>
          <p:cNvPr id="30" name="Shape 28"/>
          <p:cNvSpPr/>
          <p:nvPr/>
        </p:nvSpPr>
        <p:spPr>
          <a:xfrm>
            <a:off x="9189720" y="3758184"/>
            <a:ext cx="2468880" cy="731520"/>
          </a:xfrm>
          <a:prstGeom prst="roundRect">
            <a:avLst>
              <a:gd name="adj" fmla="val 15000"/>
            </a:avLst>
          </a:prstGeom>
          <a:solidFill>
            <a:srgbClr val="15132A"/>
          </a:solidFill>
          <a:ln w="19050">
            <a:solidFill>
              <a:srgbClr val="FBBF24"/>
            </a:solidFill>
            <a:prstDash val="solid"/>
          </a:ln>
        </p:spPr>
      </p:sp>
      <p:sp>
        <p:nvSpPr>
          <p:cNvPr id="31" name="Text 29"/>
          <p:cNvSpPr txBox="1"/>
          <p:nvPr/>
        </p:nvSpPr>
        <p:spPr>
          <a:xfrm>
            <a:off x="9326880" y="3758184"/>
            <a:ext cx="2194560" cy="731520"/>
          </a:xfrm>
          <a:prstGeom prst="rect">
            <a:avLst/>
          </a:prstGeom>
          <a:noFill/>
          <a:ln/>
        </p:spPr>
        <p:txBody>
          <a:bodyPr wrap="square" lIns="0" tIns="0" rIns="0" bIns="0" rtlCol="0" anchor="ctr"/>
          <a:lstStyle/>
          <a:p>
            <a:pPr algn="ctr" indent="0" marL="0">
              <a:buNone/>
            </a:pPr>
            <a:r>
              <a:rPr lang="en-US" sz="1500" b="1" dirty="0">
                <a:solidFill>
                  <a:srgbClr val="F1F0FA"/>
                </a:solidFill>
                <a:latin typeface="Calibri" pitchFamily="34" charset="0"/>
                <a:ea typeface="Calibri" pitchFamily="34" charset="-122"/>
                <a:cs typeface="Calibri" pitchFamily="34" charset="-120"/>
              </a:rPr>
              <a:t>BLIP ITM</a:t>
            </a:r>
            <a:endParaRPr lang="en-US" sz="1500" dirty="0"/>
          </a:p>
          <a:p>
            <a:pPr algn="ctr" indent="0" marL="0">
              <a:buNone/>
            </a:pPr>
            <a:r>
              <a:rPr lang="en-US" sz="1100" dirty="0">
                <a:solidFill>
                  <a:srgbClr val="A9A7C0"/>
                </a:solidFill>
                <a:latin typeface="Calibri" pitchFamily="34" charset="0"/>
                <a:ea typeface="Calibri" pitchFamily="34" charset="-122"/>
                <a:cs typeface="Calibri" pitchFamily="34" charset="-120"/>
              </a:rPr>
              <a:t>matching · 224M</a:t>
            </a:r>
            <a:endParaRPr lang="en-US" sz="1500" dirty="0"/>
          </a:p>
        </p:txBody>
      </p:sp>
      <p:sp>
        <p:nvSpPr>
          <p:cNvPr id="32" name="Shape 30"/>
          <p:cNvSpPr/>
          <p:nvPr/>
        </p:nvSpPr>
        <p:spPr>
          <a:xfrm>
            <a:off x="9189720" y="4608576"/>
            <a:ext cx="2468880" cy="731520"/>
          </a:xfrm>
          <a:prstGeom prst="roundRect">
            <a:avLst>
              <a:gd name="adj" fmla="val 15000"/>
            </a:avLst>
          </a:prstGeom>
          <a:solidFill>
            <a:srgbClr val="15132A"/>
          </a:solidFill>
          <a:ln w="19050">
            <a:solidFill>
              <a:srgbClr val="FBBF24"/>
            </a:solidFill>
            <a:prstDash val="solid"/>
          </a:ln>
        </p:spPr>
      </p:sp>
      <p:sp>
        <p:nvSpPr>
          <p:cNvPr id="33" name="Text 31"/>
          <p:cNvSpPr txBox="1"/>
          <p:nvPr/>
        </p:nvSpPr>
        <p:spPr>
          <a:xfrm>
            <a:off x="9326880" y="4608576"/>
            <a:ext cx="2194560" cy="731520"/>
          </a:xfrm>
          <a:prstGeom prst="rect">
            <a:avLst/>
          </a:prstGeom>
          <a:noFill/>
          <a:ln/>
        </p:spPr>
        <p:txBody>
          <a:bodyPr wrap="square" lIns="0" tIns="0" rIns="0" bIns="0" rtlCol="0" anchor="ctr"/>
          <a:lstStyle/>
          <a:p>
            <a:pPr algn="ctr" indent="0" marL="0">
              <a:buNone/>
            </a:pPr>
            <a:r>
              <a:rPr lang="en-US" sz="1500" b="1" dirty="0">
                <a:solidFill>
                  <a:srgbClr val="F1F0FA"/>
                </a:solidFill>
                <a:latin typeface="Calibri" pitchFamily="34" charset="0"/>
                <a:ea typeface="Calibri" pitchFamily="34" charset="-122"/>
                <a:cs typeface="Calibri" pitchFamily="34" charset="-120"/>
              </a:rPr>
              <a:t>BLIP VQA</a:t>
            </a:r>
            <a:endParaRPr lang="en-US" sz="1500" dirty="0"/>
          </a:p>
          <a:p>
            <a:pPr algn="ctr" indent="0" marL="0">
              <a:buNone/>
            </a:pPr>
            <a:r>
              <a:rPr lang="en-US" sz="1100" dirty="0">
                <a:solidFill>
                  <a:srgbClr val="A9A7C0"/>
                </a:solidFill>
                <a:latin typeface="Calibri" pitchFamily="34" charset="0"/>
                <a:ea typeface="Calibri" pitchFamily="34" charset="-122"/>
                <a:cs typeface="Calibri" pitchFamily="34" charset="-120"/>
              </a:rPr>
              <a:t>questions · 361M</a:t>
            </a:r>
            <a:endParaRPr lang="en-US" sz="1500" dirty="0"/>
          </a:p>
        </p:txBody>
      </p:sp>
      <p:sp>
        <p:nvSpPr>
          <p:cNvPr id="34" name="Shape 32"/>
          <p:cNvSpPr/>
          <p:nvPr/>
        </p:nvSpPr>
        <p:spPr>
          <a:xfrm>
            <a:off x="2926080" y="2651760"/>
            <a:ext cx="502920" cy="0"/>
          </a:xfrm>
          <a:prstGeom prst="line">
            <a:avLst/>
          </a:prstGeom>
          <a:noFill/>
          <a:ln w="19050">
            <a:solidFill>
              <a:srgbClr val="74718F"/>
            </a:solidFill>
            <a:prstDash val="solid"/>
            <a:tailEnd type="triangle"/>
          </a:ln>
        </p:spPr>
      </p:sp>
      <p:sp>
        <p:nvSpPr>
          <p:cNvPr id="35" name="Shape 33"/>
          <p:cNvSpPr/>
          <p:nvPr/>
        </p:nvSpPr>
        <p:spPr>
          <a:xfrm>
            <a:off x="2926080" y="3886200"/>
            <a:ext cx="502920" cy="-594360"/>
          </a:xfrm>
          <a:prstGeom prst="line">
            <a:avLst/>
          </a:prstGeom>
          <a:noFill/>
          <a:ln w="19050">
            <a:solidFill>
              <a:srgbClr val="74718F"/>
            </a:solidFill>
            <a:prstDash val="solid"/>
            <a:tailEnd type="triangle"/>
          </a:ln>
        </p:spPr>
      </p:sp>
      <p:sp>
        <p:nvSpPr>
          <p:cNvPr id="36" name="Shape 34"/>
          <p:cNvSpPr/>
          <p:nvPr/>
        </p:nvSpPr>
        <p:spPr>
          <a:xfrm>
            <a:off x="5806440" y="2423160"/>
            <a:ext cx="502920" cy="0"/>
          </a:xfrm>
          <a:prstGeom prst="line">
            <a:avLst/>
          </a:prstGeom>
          <a:noFill/>
          <a:ln w="19050">
            <a:solidFill>
              <a:srgbClr val="74718F"/>
            </a:solidFill>
            <a:prstDash val="solid"/>
            <a:tailEnd type="triangle"/>
          </a:ln>
        </p:spPr>
      </p:sp>
      <p:sp>
        <p:nvSpPr>
          <p:cNvPr id="37" name="Shape 35"/>
          <p:cNvSpPr/>
          <p:nvPr/>
        </p:nvSpPr>
        <p:spPr>
          <a:xfrm>
            <a:off x="5806440" y="3291840"/>
            <a:ext cx="502920" cy="0"/>
          </a:xfrm>
          <a:prstGeom prst="line">
            <a:avLst/>
          </a:prstGeom>
          <a:noFill/>
          <a:ln w="19050">
            <a:solidFill>
              <a:srgbClr val="74718F"/>
            </a:solidFill>
            <a:prstDash val="solid"/>
            <a:tailEnd type="triangle"/>
          </a:ln>
        </p:spPr>
      </p:sp>
      <p:sp>
        <p:nvSpPr>
          <p:cNvPr id="38" name="Shape 36"/>
          <p:cNvSpPr/>
          <p:nvPr/>
        </p:nvSpPr>
        <p:spPr>
          <a:xfrm>
            <a:off x="5806440" y="3840480"/>
            <a:ext cx="502920" cy="320040"/>
          </a:xfrm>
          <a:prstGeom prst="line">
            <a:avLst/>
          </a:prstGeom>
          <a:noFill/>
          <a:ln w="19050">
            <a:solidFill>
              <a:srgbClr val="74718F"/>
            </a:solidFill>
            <a:prstDash val="solid"/>
            <a:tailEnd type="triangle"/>
          </a:ln>
        </p:spPr>
      </p:sp>
      <p:sp>
        <p:nvSpPr>
          <p:cNvPr id="39" name="Shape 37"/>
          <p:cNvSpPr/>
          <p:nvPr/>
        </p:nvSpPr>
        <p:spPr>
          <a:xfrm>
            <a:off x="8686800" y="5029200"/>
            <a:ext cx="502920" cy="-457200"/>
          </a:xfrm>
          <a:prstGeom prst="line">
            <a:avLst/>
          </a:prstGeom>
          <a:noFill/>
          <a:ln w="19050">
            <a:solidFill>
              <a:srgbClr val="74718F"/>
            </a:solidFill>
            <a:prstDash val="solid"/>
            <a:tailEnd type="triangle"/>
          </a:ln>
        </p:spPr>
      </p:sp>
      <p:sp>
        <p:nvSpPr>
          <p:cNvPr id="40" name="Shape 38"/>
          <p:cNvSpPr/>
          <p:nvPr/>
        </p:nvSpPr>
        <p:spPr>
          <a:xfrm>
            <a:off x="8686800" y="5029200"/>
            <a:ext cx="502920" cy="-1280160"/>
          </a:xfrm>
          <a:prstGeom prst="line">
            <a:avLst/>
          </a:prstGeom>
          <a:noFill/>
          <a:ln w="19050">
            <a:solidFill>
              <a:srgbClr val="74718F"/>
            </a:solidFill>
            <a:prstDash val="solid"/>
            <a:tailEnd type="triangle"/>
          </a:ln>
        </p:spPr>
      </p:sp>
      <p:sp>
        <p:nvSpPr>
          <p:cNvPr id="41" name="Shape 39"/>
          <p:cNvSpPr/>
          <p:nvPr/>
        </p:nvSpPr>
        <p:spPr>
          <a:xfrm>
            <a:off x="8686800" y="5029200"/>
            <a:ext cx="502920" cy="-2103120"/>
          </a:xfrm>
          <a:prstGeom prst="line">
            <a:avLst/>
          </a:prstGeom>
          <a:noFill/>
          <a:ln w="19050">
            <a:solidFill>
              <a:srgbClr val="74718F"/>
            </a:solidFill>
            <a:prstDash val="solid"/>
            <a:tailEnd type="triangle"/>
          </a:ln>
        </p:spPr>
      </p:sp>
      <p:sp>
        <p:nvSpPr>
          <p:cNvPr id="42" name="Shape 40"/>
          <p:cNvSpPr/>
          <p:nvPr/>
        </p:nvSpPr>
        <p:spPr>
          <a:xfrm>
            <a:off x="8686800" y="5029200"/>
            <a:ext cx="502920" cy="-2606040"/>
          </a:xfrm>
          <a:prstGeom prst="line">
            <a:avLst/>
          </a:prstGeom>
          <a:noFill/>
          <a:ln w="19050">
            <a:solidFill>
              <a:srgbClr val="74718F"/>
            </a:solidFill>
            <a:prstDash val="solid"/>
            <a:tailEnd type="triangle"/>
          </a:ln>
        </p:spPr>
      </p:sp>
      <p:sp>
        <p:nvSpPr>
          <p:cNvPr id="43" name="Text 41"/>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200" i="1" dirty="0">
                <a:solidFill>
                  <a:srgbClr val="A9A7C0"/>
                </a:solidFill>
                <a:latin typeface="Calibri" pitchFamily="34" charset="0"/>
                <a:ea typeface="Calibri" pitchFamily="34" charset="-122"/>
                <a:cs typeface="Calibri" pitchFamily="34" charset="-120"/>
              </a:rPr>
              <a:t>JSON / multipart over HTTP  ·  image uploaded once, then referenced by a 40-char id  ·  CUDA → Apple MPS → CPU auto-selection</a:t>
            </a:r>
            <a:endParaRPr lang="en-US" sz="1200" dirty="0"/>
          </a:p>
        </p:txBody>
      </p:sp>
      <p:sp>
        <p:nvSpPr>
          <p:cNvPr id="44" name="Text 42"/>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b="1" dirty="0">
                <a:solidFill>
                  <a:srgbClr val="A9A7C0"/>
                </a:solidFill>
                <a:latin typeface="Calibri" pitchFamily="34" charset="0"/>
                <a:ea typeface="Calibri" pitchFamily="34" charset="-122"/>
                <a:cs typeface="Calibri" pitchFamily="34" charset="-120"/>
              </a:rPr>
              <a:t>PixelProse</a:t>
            </a:r>
            <a:pPr algn="r" indent="0" marL="0">
              <a:buNone/>
            </a:pPr>
            <a:r>
              <a:rPr lang="en-US" sz="1000" dirty="0">
                <a:solidFill>
                  <a:srgbClr val="74718F"/>
                </a:solidFill>
                <a:latin typeface="Calibri" pitchFamily="34" charset="0"/>
                <a:ea typeface="Calibri" pitchFamily="34" charset="-122"/>
                <a:cs typeface="Calibri" pitchFamily="34" charset="-120"/>
              </a:rPr>
              <a:t>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indent="0" marL="0">
              <a:buNone/>
            </a:pPr>
            <a:r>
              <a:rPr lang="en-US" sz="1100" b="1" spc="300" kern="0" dirty="0">
                <a:solidFill>
                  <a:srgbClr val="8B5CF6"/>
                </a:solidFill>
                <a:latin typeface="Arial" pitchFamily="34" charset="0"/>
                <a:ea typeface="Arial" pitchFamily="34" charset="-122"/>
                <a:cs typeface="Arial" pitchFamily="34" charset="-120"/>
              </a:rPr>
              <a:t>THE MODEL</a:t>
            </a:r>
            <a:endParaRPr lang="en-US" sz="1100" dirty="0"/>
          </a:p>
        </p:txBody>
      </p:sp>
      <p:sp>
        <p:nvSpPr>
          <p:cNvPr id="3" name="Text 1"/>
          <p:cNvSpPr txBox="1"/>
          <p:nvPr/>
        </p:nvSpPr>
        <p:spPr>
          <a:xfrm>
            <a:off x="548640" y="777240"/>
            <a:ext cx="11094415" cy="777240"/>
          </a:xfrm>
          <a:prstGeom prst="rect">
            <a:avLst/>
          </a:prstGeom>
          <a:noFill/>
          <a:ln/>
        </p:spPr>
        <p:txBody>
          <a:bodyPr wrap="square" lIns="0" tIns="0" rIns="0" bIns="0" rtlCol="0" anchor="t"/>
          <a:lstStyle/>
          <a:p>
            <a:pPr indent="0" marL="0">
              <a:buNone/>
            </a:pPr>
            <a:r>
              <a:rPr lang="en-US" sz="3400" b="1" dirty="0">
                <a:solidFill>
                  <a:srgbClr val="F1F0FA"/>
                </a:solidFill>
                <a:latin typeface="Arial" pitchFamily="34" charset="0"/>
                <a:ea typeface="Arial" pitchFamily="34" charset="-122"/>
                <a:cs typeface="Arial" pitchFamily="34" charset="-120"/>
              </a:rPr>
              <a:t>Inside BLIP: vision meets language</a:t>
            </a:r>
            <a:endParaRPr lang="en-US" sz="3400" dirty="0"/>
          </a:p>
        </p:txBody>
      </p:sp>
      <p:sp>
        <p:nvSpPr>
          <p:cNvPr id="4" name="Text 2"/>
          <p:cNvSpPr txBox="1"/>
          <p:nvPr/>
        </p:nvSpPr>
        <p:spPr>
          <a:xfrm>
            <a:off x="548640" y="1481328"/>
            <a:ext cx="9144000" cy="274320"/>
          </a:xfrm>
          <a:prstGeom prst="rect">
            <a:avLst/>
          </a:prstGeom>
          <a:noFill/>
          <a:ln/>
        </p:spPr>
        <p:txBody>
          <a:bodyPr wrap="square" lIns="0" tIns="0" rIns="0" bIns="0" rtlCol="0" anchor="ctr"/>
          <a:lstStyle/>
          <a:p>
            <a:pPr indent="0" marL="0">
              <a:buNone/>
            </a:pPr>
            <a:r>
              <a:rPr lang="en-US" sz="1300" i="1" dirty="0">
                <a:solidFill>
                  <a:srgbClr val="A9A7C0"/>
                </a:solidFill>
                <a:latin typeface="Calibri" pitchFamily="34" charset="0"/>
                <a:ea typeface="Calibri" pitchFamily="34" charset="-122"/>
                <a:cs typeface="Calibri" pitchFamily="34" charset="-120"/>
              </a:rPr>
              <a:t>Bootstrapping Language-Image Pre-training · Li et al., Salesforce Research · ICML 2022</a:t>
            </a:r>
            <a:endParaRPr lang="en-US" sz="1300" dirty="0"/>
          </a:p>
        </p:txBody>
      </p:sp>
      <p:sp>
        <p:nvSpPr>
          <p:cNvPr id="5" name="Shape 3"/>
          <p:cNvSpPr/>
          <p:nvPr/>
        </p:nvSpPr>
        <p:spPr>
          <a:xfrm>
            <a:off x="548640" y="2057400"/>
            <a:ext cx="2011680" cy="2148840"/>
          </a:xfrm>
          <a:prstGeom prst="roundRect">
            <a:avLst>
              <a:gd name="adj" fmla="val 6364"/>
            </a:avLst>
          </a:prstGeom>
          <a:solidFill>
            <a:srgbClr val="15132A"/>
          </a:solidFill>
          <a:ln w="12700">
            <a:solidFill>
              <a:srgbClr val="2E2A4F"/>
            </a:solidFill>
            <a:prstDash val="solid"/>
          </a:ln>
        </p:spPr>
      </p:sp>
      <p:sp>
        <p:nvSpPr>
          <p:cNvPr id="6" name="Shape 4"/>
          <p:cNvSpPr/>
          <p:nvPr/>
        </p:nvSpPr>
        <p:spPr>
          <a:xfrm>
            <a:off x="1234440" y="2286000"/>
            <a:ext cx="640080" cy="640080"/>
          </a:xfrm>
          <a:prstGeom prst="ellipse">
            <a:avLst/>
          </a:prstGeom>
          <a:solidFill>
            <a:srgbClr val="22D3EE">
              <a:alpha val="18000"/>
            </a:srgbClr>
          </a:solidFill>
          <a:ln w="12700">
            <a:solidFill>
              <a:srgbClr val="22D3EE">
                <a:alpha val="60000"/>
              </a:srgbClr>
            </a:solidFill>
            <a:prstDash val="solid"/>
          </a:ln>
        </p:spPr>
      </p:sp>
      <p:pic>
        <p:nvPicPr>
          <p:cNvPr id="7" name="Image 0" descr="preencoded.png">    </p:cNvPr>
          <p:cNvPicPr>
            <a:picLocks noChangeAspect="1"/>
          </p:cNvPicPr>
          <p:nvPr/>
        </p:nvPicPr>
        <p:blipFill>
          <a:blip r:embed="rId2"/>
          <a:stretch>
            <a:fillRect/>
          </a:stretch>
        </p:blipFill>
        <p:spPr>
          <a:xfrm>
            <a:off x="1375258" y="2426818"/>
            <a:ext cx="358445" cy="358445"/>
          </a:xfrm>
          <a:prstGeom prst="rect">
            <a:avLst/>
          </a:prstGeom>
        </p:spPr>
      </p:pic>
      <p:sp>
        <p:nvSpPr>
          <p:cNvPr id="8" name="Text 5"/>
          <p:cNvSpPr txBox="1"/>
          <p:nvPr/>
        </p:nvSpPr>
        <p:spPr>
          <a:xfrm>
            <a:off x="640080" y="3017520"/>
            <a:ext cx="1828800" cy="365760"/>
          </a:xfrm>
          <a:prstGeom prst="rect">
            <a:avLst/>
          </a:prstGeom>
          <a:noFill/>
          <a:ln/>
        </p:spPr>
        <p:txBody>
          <a:bodyPr wrap="square" lIns="0" tIns="0" rIns="0" bIns="0" rtlCol="0" anchor="ctr"/>
          <a:lstStyle/>
          <a:p>
            <a:pPr algn="ctr" indent="0" marL="0">
              <a:buNone/>
            </a:pPr>
            <a:r>
              <a:rPr lang="en-US" sz="1400" b="1" dirty="0">
                <a:solidFill>
                  <a:srgbClr val="F1F0FA"/>
                </a:solidFill>
                <a:latin typeface="Arial" pitchFamily="34" charset="0"/>
                <a:ea typeface="Arial" pitchFamily="34" charset="-122"/>
                <a:cs typeface="Arial" pitchFamily="34" charset="-120"/>
              </a:rPr>
              <a:t>Image</a:t>
            </a:r>
            <a:endParaRPr lang="en-US" sz="1400" dirty="0"/>
          </a:p>
        </p:txBody>
      </p:sp>
      <p:sp>
        <p:nvSpPr>
          <p:cNvPr id="9" name="Text 6"/>
          <p:cNvSpPr txBox="1"/>
          <p:nvPr/>
        </p:nvSpPr>
        <p:spPr>
          <a:xfrm>
            <a:off x="640080" y="3383280"/>
            <a:ext cx="1828800" cy="731520"/>
          </a:xfrm>
          <a:prstGeom prst="rect">
            <a:avLst/>
          </a:prstGeom>
          <a:noFill/>
          <a:ln/>
        </p:spPr>
        <p:txBody>
          <a:bodyPr wrap="square" lIns="0" tIns="0" rIns="0" bIns="0" rtlCol="0" anchor="t"/>
          <a:lstStyle/>
          <a:p>
            <a:pPr algn="ctr" indent="0" marL="0">
              <a:buNone/>
            </a:pPr>
            <a:r>
              <a:rPr lang="en-US" sz="1200" dirty="0">
                <a:solidFill>
                  <a:srgbClr val="A9A7C0"/>
                </a:solidFill>
                <a:latin typeface="Calibri" pitchFamily="34" charset="0"/>
                <a:ea typeface="Calibri" pitchFamily="34" charset="-122"/>
                <a:cs typeface="Calibri" pitchFamily="34" charset="-120"/>
              </a:rPr>
              <a:t>resized to</a:t>
            </a:r>
            <a:endParaRPr lang="en-US" sz="1200" dirty="0"/>
          </a:p>
          <a:p>
            <a:pPr algn="ctr" indent="0" marL="0">
              <a:buNone/>
            </a:pPr>
            <a:r>
              <a:rPr lang="en-US" sz="1200" dirty="0">
                <a:solidFill>
                  <a:srgbClr val="A9A7C0"/>
                </a:solidFill>
                <a:latin typeface="Calibri" pitchFamily="34" charset="0"/>
                <a:ea typeface="Calibri" pitchFamily="34" charset="-122"/>
                <a:cs typeface="Calibri" pitchFamily="34" charset="-120"/>
              </a:rPr>
              <a:t>384 × 384</a:t>
            </a:r>
            <a:endParaRPr lang="en-US" sz="1200" dirty="0"/>
          </a:p>
        </p:txBody>
      </p:sp>
      <p:pic>
        <p:nvPicPr>
          <p:cNvPr id="10" name="Image 1" descr="preencoded.png">    </p:cNvPr>
          <p:cNvPicPr>
            <a:picLocks noChangeAspect="1"/>
          </p:cNvPicPr>
          <p:nvPr/>
        </p:nvPicPr>
        <p:blipFill>
          <a:blip r:embed="rId3"/>
          <a:stretch>
            <a:fillRect/>
          </a:stretch>
        </p:blipFill>
        <p:spPr>
          <a:xfrm>
            <a:off x="2578608" y="2971800"/>
            <a:ext cx="219456" cy="219456"/>
          </a:xfrm>
          <a:prstGeom prst="rect">
            <a:avLst/>
          </a:prstGeom>
        </p:spPr>
      </p:pic>
      <p:sp>
        <p:nvSpPr>
          <p:cNvPr id="11" name="Shape 7"/>
          <p:cNvSpPr/>
          <p:nvPr/>
        </p:nvSpPr>
        <p:spPr>
          <a:xfrm>
            <a:off x="2816352" y="2057400"/>
            <a:ext cx="2011680" cy="2148840"/>
          </a:xfrm>
          <a:prstGeom prst="roundRect">
            <a:avLst>
              <a:gd name="adj" fmla="val 6364"/>
            </a:avLst>
          </a:prstGeom>
          <a:solidFill>
            <a:srgbClr val="15132A"/>
          </a:solidFill>
          <a:ln w="12700">
            <a:solidFill>
              <a:srgbClr val="2E2A4F"/>
            </a:solidFill>
            <a:prstDash val="solid"/>
          </a:ln>
        </p:spPr>
      </p:sp>
      <p:sp>
        <p:nvSpPr>
          <p:cNvPr id="12" name="Shape 8"/>
          <p:cNvSpPr/>
          <p:nvPr/>
        </p:nvSpPr>
        <p:spPr>
          <a:xfrm>
            <a:off x="3502152" y="2286000"/>
            <a:ext cx="640080" cy="640080"/>
          </a:xfrm>
          <a:prstGeom prst="ellipse">
            <a:avLst/>
          </a:prstGeom>
          <a:solidFill>
            <a:srgbClr val="22D3EE">
              <a:alpha val="18000"/>
            </a:srgbClr>
          </a:solidFill>
          <a:ln w="12700">
            <a:solidFill>
              <a:srgbClr val="22D3EE">
                <a:alpha val="60000"/>
              </a:srgbClr>
            </a:solidFill>
            <a:prstDash val="solid"/>
          </a:ln>
        </p:spPr>
      </p:sp>
      <p:pic>
        <p:nvPicPr>
          <p:cNvPr id="13" name="Image 2" descr="preencoded.png">    </p:cNvPr>
          <p:cNvPicPr>
            <a:picLocks noChangeAspect="1"/>
          </p:cNvPicPr>
          <p:nvPr/>
        </p:nvPicPr>
        <p:blipFill>
          <a:blip r:embed="rId4"/>
          <a:stretch>
            <a:fillRect/>
          </a:stretch>
        </p:blipFill>
        <p:spPr>
          <a:xfrm>
            <a:off x="3642970" y="2426818"/>
            <a:ext cx="358445" cy="358445"/>
          </a:xfrm>
          <a:prstGeom prst="rect">
            <a:avLst/>
          </a:prstGeom>
        </p:spPr>
      </p:pic>
      <p:sp>
        <p:nvSpPr>
          <p:cNvPr id="14" name="Text 9"/>
          <p:cNvSpPr txBox="1"/>
          <p:nvPr/>
        </p:nvSpPr>
        <p:spPr>
          <a:xfrm>
            <a:off x="2907792" y="3017520"/>
            <a:ext cx="1828800" cy="365760"/>
          </a:xfrm>
          <a:prstGeom prst="rect">
            <a:avLst/>
          </a:prstGeom>
          <a:noFill/>
          <a:ln/>
        </p:spPr>
        <p:txBody>
          <a:bodyPr wrap="square" lIns="0" tIns="0" rIns="0" bIns="0" rtlCol="0" anchor="ctr"/>
          <a:lstStyle/>
          <a:p>
            <a:pPr algn="ctr" indent="0" marL="0">
              <a:buNone/>
            </a:pPr>
            <a:r>
              <a:rPr lang="en-US" sz="1400" b="1" dirty="0">
                <a:solidFill>
                  <a:srgbClr val="F1F0FA"/>
                </a:solidFill>
                <a:latin typeface="Arial" pitchFamily="34" charset="0"/>
                <a:ea typeface="Arial" pitchFamily="34" charset="-122"/>
                <a:cs typeface="Arial" pitchFamily="34" charset="-120"/>
              </a:rPr>
              <a:t>576 patches</a:t>
            </a:r>
            <a:endParaRPr lang="en-US" sz="1400" dirty="0"/>
          </a:p>
        </p:txBody>
      </p:sp>
      <p:sp>
        <p:nvSpPr>
          <p:cNvPr id="15" name="Text 10"/>
          <p:cNvSpPr txBox="1"/>
          <p:nvPr/>
        </p:nvSpPr>
        <p:spPr>
          <a:xfrm>
            <a:off x="2907792" y="3383280"/>
            <a:ext cx="1828800" cy="731520"/>
          </a:xfrm>
          <a:prstGeom prst="rect">
            <a:avLst/>
          </a:prstGeom>
          <a:noFill/>
          <a:ln/>
        </p:spPr>
        <p:txBody>
          <a:bodyPr wrap="square" lIns="0" tIns="0" rIns="0" bIns="0" rtlCol="0" anchor="t"/>
          <a:lstStyle/>
          <a:p>
            <a:pPr algn="ctr" indent="0" marL="0">
              <a:buNone/>
            </a:pPr>
            <a:r>
              <a:rPr lang="en-US" sz="1200" dirty="0">
                <a:solidFill>
                  <a:srgbClr val="A9A7C0"/>
                </a:solidFill>
                <a:latin typeface="Calibri" pitchFamily="34" charset="0"/>
                <a:ea typeface="Calibri" pitchFamily="34" charset="-122"/>
                <a:cs typeface="Calibri" pitchFamily="34" charset="-120"/>
              </a:rPr>
              <a:t>16 × 16 px each</a:t>
            </a:r>
            <a:endParaRPr lang="en-US" sz="1200" dirty="0"/>
          </a:p>
          <a:p>
            <a:pPr algn="ctr" indent="0" marL="0">
              <a:buNone/>
            </a:pPr>
            <a:r>
              <a:rPr lang="en-US" sz="1200" dirty="0">
                <a:solidFill>
                  <a:srgbClr val="A9A7C0"/>
                </a:solidFill>
                <a:latin typeface="Calibri" pitchFamily="34" charset="0"/>
                <a:ea typeface="Calibri" pitchFamily="34" charset="-122"/>
                <a:cs typeface="Calibri" pitchFamily="34" charset="-120"/>
              </a:rPr>
              <a:t>(a 24 × 24 grid)</a:t>
            </a:r>
            <a:endParaRPr lang="en-US" sz="1200" dirty="0"/>
          </a:p>
        </p:txBody>
      </p:sp>
      <p:pic>
        <p:nvPicPr>
          <p:cNvPr id="16" name="Image 3" descr="preencoded.png">    </p:cNvPr>
          <p:cNvPicPr>
            <a:picLocks noChangeAspect="1"/>
          </p:cNvPicPr>
          <p:nvPr/>
        </p:nvPicPr>
        <p:blipFill>
          <a:blip r:embed="rId5"/>
          <a:stretch>
            <a:fillRect/>
          </a:stretch>
        </p:blipFill>
        <p:spPr>
          <a:xfrm>
            <a:off x="4846320" y="2971800"/>
            <a:ext cx="219456" cy="219456"/>
          </a:xfrm>
          <a:prstGeom prst="rect">
            <a:avLst/>
          </a:prstGeom>
        </p:spPr>
      </p:pic>
      <p:sp>
        <p:nvSpPr>
          <p:cNvPr id="17" name="Shape 11"/>
          <p:cNvSpPr/>
          <p:nvPr/>
        </p:nvSpPr>
        <p:spPr>
          <a:xfrm>
            <a:off x="5084064" y="2057400"/>
            <a:ext cx="2011680" cy="2148840"/>
          </a:xfrm>
          <a:prstGeom prst="roundRect">
            <a:avLst>
              <a:gd name="adj" fmla="val 6364"/>
            </a:avLst>
          </a:prstGeom>
          <a:solidFill>
            <a:srgbClr val="15132A"/>
          </a:solidFill>
          <a:ln w="12700">
            <a:solidFill>
              <a:srgbClr val="2E2A4F"/>
            </a:solidFill>
            <a:prstDash val="solid"/>
          </a:ln>
        </p:spPr>
      </p:sp>
      <p:sp>
        <p:nvSpPr>
          <p:cNvPr id="18" name="Shape 12"/>
          <p:cNvSpPr/>
          <p:nvPr/>
        </p:nvSpPr>
        <p:spPr>
          <a:xfrm>
            <a:off x="5769864" y="2286000"/>
            <a:ext cx="640080" cy="640080"/>
          </a:xfrm>
          <a:prstGeom prst="ellipse">
            <a:avLst/>
          </a:prstGeom>
          <a:solidFill>
            <a:srgbClr val="8B5CF6">
              <a:alpha val="18000"/>
            </a:srgbClr>
          </a:solidFill>
          <a:ln w="12700">
            <a:solidFill>
              <a:srgbClr val="8B5CF6">
                <a:alpha val="60000"/>
              </a:srgbClr>
            </a:solidFill>
            <a:prstDash val="solid"/>
          </a:ln>
        </p:spPr>
      </p:sp>
      <p:pic>
        <p:nvPicPr>
          <p:cNvPr id="19" name="Image 4" descr="preencoded.png">    </p:cNvPr>
          <p:cNvPicPr>
            <a:picLocks noChangeAspect="1"/>
          </p:cNvPicPr>
          <p:nvPr/>
        </p:nvPicPr>
        <p:blipFill>
          <a:blip r:embed="rId6"/>
          <a:stretch>
            <a:fillRect/>
          </a:stretch>
        </p:blipFill>
        <p:spPr>
          <a:xfrm>
            <a:off x="5910682" y="2426818"/>
            <a:ext cx="358445" cy="358445"/>
          </a:xfrm>
          <a:prstGeom prst="rect">
            <a:avLst/>
          </a:prstGeom>
        </p:spPr>
      </p:pic>
      <p:sp>
        <p:nvSpPr>
          <p:cNvPr id="20" name="Text 13"/>
          <p:cNvSpPr txBox="1"/>
          <p:nvPr/>
        </p:nvSpPr>
        <p:spPr>
          <a:xfrm>
            <a:off x="5175504" y="3017520"/>
            <a:ext cx="1828800" cy="365760"/>
          </a:xfrm>
          <a:prstGeom prst="rect">
            <a:avLst/>
          </a:prstGeom>
          <a:noFill/>
          <a:ln/>
        </p:spPr>
        <p:txBody>
          <a:bodyPr wrap="square" lIns="0" tIns="0" rIns="0" bIns="0" rtlCol="0" anchor="ctr"/>
          <a:lstStyle/>
          <a:p>
            <a:pPr algn="ctr" indent="0" marL="0">
              <a:buNone/>
            </a:pPr>
            <a:r>
              <a:rPr lang="en-US" sz="1400" b="1" dirty="0">
                <a:solidFill>
                  <a:srgbClr val="F1F0FA"/>
                </a:solidFill>
                <a:latin typeface="Arial" pitchFamily="34" charset="0"/>
                <a:ea typeface="Arial" pitchFamily="34" charset="-122"/>
                <a:cs typeface="Arial" pitchFamily="34" charset="-120"/>
              </a:rPr>
              <a:t>Vision Transformer</a:t>
            </a:r>
            <a:endParaRPr lang="en-US" sz="1400" dirty="0"/>
          </a:p>
        </p:txBody>
      </p:sp>
      <p:sp>
        <p:nvSpPr>
          <p:cNvPr id="21" name="Text 14"/>
          <p:cNvSpPr txBox="1"/>
          <p:nvPr/>
        </p:nvSpPr>
        <p:spPr>
          <a:xfrm>
            <a:off x="5175504" y="3383280"/>
            <a:ext cx="1828800" cy="731520"/>
          </a:xfrm>
          <a:prstGeom prst="rect">
            <a:avLst/>
          </a:prstGeom>
          <a:noFill/>
          <a:ln/>
        </p:spPr>
        <p:txBody>
          <a:bodyPr wrap="square" lIns="0" tIns="0" rIns="0" bIns="0" rtlCol="0" anchor="t"/>
          <a:lstStyle/>
          <a:p>
            <a:pPr algn="ctr" indent="0" marL="0">
              <a:buNone/>
            </a:pPr>
            <a:r>
              <a:rPr lang="en-US" sz="1200" dirty="0">
                <a:solidFill>
                  <a:srgbClr val="A9A7C0"/>
                </a:solidFill>
                <a:latin typeface="Calibri" pitchFamily="34" charset="0"/>
                <a:ea typeface="Calibri" pitchFamily="34" charset="-122"/>
                <a:cs typeface="Calibri" pitchFamily="34" charset="-120"/>
              </a:rPr>
              <a:t>ViT-L/16 · 24 layers</a:t>
            </a:r>
            <a:endParaRPr lang="en-US" sz="1200" dirty="0"/>
          </a:p>
          <a:p>
            <a:pPr algn="ctr" indent="0" marL="0">
              <a:buNone/>
            </a:pPr>
            <a:r>
              <a:rPr lang="en-US" sz="1200" dirty="0">
                <a:solidFill>
                  <a:srgbClr val="A9A7C0"/>
                </a:solidFill>
                <a:latin typeface="Calibri" pitchFamily="34" charset="0"/>
                <a:ea typeface="Calibri" pitchFamily="34" charset="-122"/>
                <a:cs typeface="Calibri" pitchFamily="34" charset="-120"/>
              </a:rPr>
              <a:t>self-attention</a:t>
            </a:r>
            <a:endParaRPr lang="en-US" sz="1200" dirty="0"/>
          </a:p>
        </p:txBody>
      </p:sp>
      <p:pic>
        <p:nvPicPr>
          <p:cNvPr id="22" name="Image 5" descr="preencoded.png">    </p:cNvPr>
          <p:cNvPicPr>
            <a:picLocks noChangeAspect="1"/>
          </p:cNvPicPr>
          <p:nvPr/>
        </p:nvPicPr>
        <p:blipFill>
          <a:blip r:embed="rId7"/>
          <a:stretch>
            <a:fillRect/>
          </a:stretch>
        </p:blipFill>
        <p:spPr>
          <a:xfrm>
            <a:off x="7114032" y="2971800"/>
            <a:ext cx="219456" cy="219456"/>
          </a:xfrm>
          <a:prstGeom prst="rect">
            <a:avLst/>
          </a:prstGeom>
        </p:spPr>
      </p:pic>
      <p:sp>
        <p:nvSpPr>
          <p:cNvPr id="23" name="Shape 15"/>
          <p:cNvSpPr/>
          <p:nvPr/>
        </p:nvSpPr>
        <p:spPr>
          <a:xfrm>
            <a:off x="7351776" y="2057400"/>
            <a:ext cx="2011680" cy="2148840"/>
          </a:xfrm>
          <a:prstGeom prst="roundRect">
            <a:avLst>
              <a:gd name="adj" fmla="val 6364"/>
            </a:avLst>
          </a:prstGeom>
          <a:solidFill>
            <a:srgbClr val="15132A"/>
          </a:solidFill>
          <a:ln w="12700">
            <a:solidFill>
              <a:srgbClr val="2E2A4F"/>
            </a:solidFill>
            <a:prstDash val="solid"/>
          </a:ln>
        </p:spPr>
      </p:sp>
      <p:sp>
        <p:nvSpPr>
          <p:cNvPr id="24" name="Shape 16"/>
          <p:cNvSpPr/>
          <p:nvPr/>
        </p:nvSpPr>
        <p:spPr>
          <a:xfrm>
            <a:off x="8037576" y="2286000"/>
            <a:ext cx="640080" cy="640080"/>
          </a:xfrm>
          <a:prstGeom prst="ellipse">
            <a:avLst/>
          </a:prstGeom>
          <a:solidFill>
            <a:srgbClr val="8B5CF6">
              <a:alpha val="18000"/>
            </a:srgbClr>
          </a:solidFill>
          <a:ln w="12700">
            <a:solidFill>
              <a:srgbClr val="8B5CF6">
                <a:alpha val="60000"/>
              </a:srgbClr>
            </a:solidFill>
            <a:prstDash val="solid"/>
          </a:ln>
        </p:spPr>
      </p:sp>
      <p:pic>
        <p:nvPicPr>
          <p:cNvPr id="25" name="Image 6" descr="preencoded.png">    </p:cNvPr>
          <p:cNvPicPr>
            <a:picLocks noChangeAspect="1"/>
          </p:cNvPicPr>
          <p:nvPr/>
        </p:nvPicPr>
        <p:blipFill>
          <a:blip r:embed="rId8"/>
          <a:stretch>
            <a:fillRect/>
          </a:stretch>
        </p:blipFill>
        <p:spPr>
          <a:xfrm>
            <a:off x="8178394" y="2426818"/>
            <a:ext cx="358445" cy="358445"/>
          </a:xfrm>
          <a:prstGeom prst="rect">
            <a:avLst/>
          </a:prstGeom>
        </p:spPr>
      </p:pic>
      <p:sp>
        <p:nvSpPr>
          <p:cNvPr id="26" name="Text 17"/>
          <p:cNvSpPr txBox="1"/>
          <p:nvPr/>
        </p:nvSpPr>
        <p:spPr>
          <a:xfrm>
            <a:off x="7443216" y="3017520"/>
            <a:ext cx="1828800" cy="365760"/>
          </a:xfrm>
          <a:prstGeom prst="rect">
            <a:avLst/>
          </a:prstGeom>
          <a:noFill/>
          <a:ln/>
        </p:spPr>
        <p:txBody>
          <a:bodyPr wrap="square" lIns="0" tIns="0" rIns="0" bIns="0" rtlCol="0" anchor="ctr"/>
          <a:lstStyle/>
          <a:p>
            <a:pPr algn="ctr" indent="0" marL="0">
              <a:buNone/>
            </a:pPr>
            <a:r>
              <a:rPr lang="en-US" sz="1400" b="1" dirty="0">
                <a:solidFill>
                  <a:srgbClr val="F1F0FA"/>
                </a:solidFill>
                <a:latin typeface="Arial" pitchFamily="34" charset="0"/>
                <a:ea typeface="Arial" pitchFamily="34" charset="-122"/>
                <a:cs typeface="Arial" pitchFamily="34" charset="-120"/>
              </a:rPr>
              <a:t>Image embeddings</a:t>
            </a:r>
            <a:endParaRPr lang="en-US" sz="1400" dirty="0"/>
          </a:p>
        </p:txBody>
      </p:sp>
      <p:sp>
        <p:nvSpPr>
          <p:cNvPr id="27" name="Text 18"/>
          <p:cNvSpPr txBox="1"/>
          <p:nvPr/>
        </p:nvSpPr>
        <p:spPr>
          <a:xfrm>
            <a:off x="7443216" y="3383280"/>
            <a:ext cx="1828800" cy="731520"/>
          </a:xfrm>
          <a:prstGeom prst="rect">
            <a:avLst/>
          </a:prstGeom>
          <a:noFill/>
          <a:ln/>
        </p:spPr>
        <p:txBody>
          <a:bodyPr wrap="square" lIns="0" tIns="0" rIns="0" bIns="0" rtlCol="0" anchor="t"/>
          <a:lstStyle/>
          <a:p>
            <a:pPr algn="ctr" indent="0" marL="0">
              <a:buNone/>
            </a:pPr>
            <a:r>
              <a:rPr lang="en-US" sz="1200" dirty="0">
                <a:solidFill>
                  <a:srgbClr val="A9A7C0"/>
                </a:solidFill>
                <a:latin typeface="Calibri" pitchFamily="34" charset="0"/>
                <a:ea typeface="Calibri" pitchFamily="34" charset="-122"/>
                <a:cs typeface="Calibri" pitchFamily="34" charset="-120"/>
              </a:rPr>
              <a:t>577 vectors ×</a:t>
            </a:r>
            <a:endParaRPr lang="en-US" sz="1200" dirty="0"/>
          </a:p>
          <a:p>
            <a:pPr algn="ctr" indent="0" marL="0">
              <a:buNone/>
            </a:pPr>
            <a:r>
              <a:rPr lang="en-US" sz="1200" dirty="0">
                <a:solidFill>
                  <a:srgbClr val="A9A7C0"/>
                </a:solidFill>
                <a:latin typeface="Calibri" pitchFamily="34" charset="0"/>
                <a:ea typeface="Calibri" pitchFamily="34" charset="-122"/>
                <a:cs typeface="Calibri" pitchFamily="34" charset="-120"/>
              </a:rPr>
              <a:t>1024 numbers</a:t>
            </a:r>
            <a:endParaRPr lang="en-US" sz="1200" dirty="0"/>
          </a:p>
        </p:txBody>
      </p:sp>
      <p:pic>
        <p:nvPicPr>
          <p:cNvPr id="28" name="Image 7" descr="preencoded.png">    </p:cNvPr>
          <p:cNvPicPr>
            <a:picLocks noChangeAspect="1"/>
          </p:cNvPicPr>
          <p:nvPr/>
        </p:nvPicPr>
        <p:blipFill>
          <a:blip r:embed="rId9"/>
          <a:stretch>
            <a:fillRect/>
          </a:stretch>
        </p:blipFill>
        <p:spPr>
          <a:xfrm>
            <a:off x="9381744" y="2971800"/>
            <a:ext cx="219456" cy="219456"/>
          </a:xfrm>
          <a:prstGeom prst="rect">
            <a:avLst/>
          </a:prstGeom>
        </p:spPr>
      </p:pic>
      <p:sp>
        <p:nvSpPr>
          <p:cNvPr id="29" name="Shape 19"/>
          <p:cNvSpPr/>
          <p:nvPr/>
        </p:nvSpPr>
        <p:spPr>
          <a:xfrm>
            <a:off x="9619488" y="2057400"/>
            <a:ext cx="2011680" cy="2148840"/>
          </a:xfrm>
          <a:prstGeom prst="roundRect">
            <a:avLst>
              <a:gd name="adj" fmla="val 6364"/>
            </a:avLst>
          </a:prstGeom>
          <a:solidFill>
            <a:srgbClr val="15132A"/>
          </a:solidFill>
          <a:ln w="12700">
            <a:solidFill>
              <a:srgbClr val="2E2A4F"/>
            </a:solidFill>
            <a:prstDash val="solid"/>
          </a:ln>
        </p:spPr>
      </p:sp>
      <p:sp>
        <p:nvSpPr>
          <p:cNvPr id="30" name="Shape 20"/>
          <p:cNvSpPr/>
          <p:nvPr/>
        </p:nvSpPr>
        <p:spPr>
          <a:xfrm>
            <a:off x="10305288" y="2286000"/>
            <a:ext cx="640080" cy="640080"/>
          </a:xfrm>
          <a:prstGeom prst="ellipse">
            <a:avLst/>
          </a:prstGeom>
          <a:solidFill>
            <a:srgbClr val="F472B6">
              <a:alpha val="18000"/>
            </a:srgbClr>
          </a:solidFill>
          <a:ln w="12700">
            <a:solidFill>
              <a:srgbClr val="F472B6">
                <a:alpha val="60000"/>
              </a:srgbClr>
            </a:solidFill>
            <a:prstDash val="solid"/>
          </a:ln>
        </p:spPr>
      </p:sp>
      <p:pic>
        <p:nvPicPr>
          <p:cNvPr id="31" name="Image 8" descr="preencoded.png">    </p:cNvPr>
          <p:cNvPicPr>
            <a:picLocks noChangeAspect="1"/>
          </p:cNvPicPr>
          <p:nvPr/>
        </p:nvPicPr>
        <p:blipFill>
          <a:blip r:embed="rId10"/>
          <a:stretch>
            <a:fillRect/>
          </a:stretch>
        </p:blipFill>
        <p:spPr>
          <a:xfrm>
            <a:off x="10446106" y="2426818"/>
            <a:ext cx="358445" cy="358445"/>
          </a:xfrm>
          <a:prstGeom prst="rect">
            <a:avLst/>
          </a:prstGeom>
        </p:spPr>
      </p:pic>
      <p:sp>
        <p:nvSpPr>
          <p:cNvPr id="32" name="Text 21"/>
          <p:cNvSpPr txBox="1"/>
          <p:nvPr/>
        </p:nvSpPr>
        <p:spPr>
          <a:xfrm>
            <a:off x="9710928" y="3017520"/>
            <a:ext cx="1828800" cy="365760"/>
          </a:xfrm>
          <a:prstGeom prst="rect">
            <a:avLst/>
          </a:prstGeom>
          <a:noFill/>
          <a:ln/>
        </p:spPr>
        <p:txBody>
          <a:bodyPr wrap="square" lIns="0" tIns="0" rIns="0" bIns="0" rtlCol="0" anchor="ctr"/>
          <a:lstStyle/>
          <a:p>
            <a:pPr algn="ctr" indent="0" marL="0">
              <a:buNone/>
            </a:pPr>
            <a:r>
              <a:rPr lang="en-US" sz="1400" b="1" dirty="0">
                <a:solidFill>
                  <a:srgbClr val="F1F0FA"/>
                </a:solidFill>
                <a:latin typeface="Arial" pitchFamily="34" charset="0"/>
                <a:ea typeface="Arial" pitchFamily="34" charset="-122"/>
                <a:cs typeface="Arial" pitchFamily="34" charset="-120"/>
              </a:rPr>
              <a:t>Text decoder</a:t>
            </a:r>
            <a:endParaRPr lang="en-US" sz="1400" dirty="0"/>
          </a:p>
        </p:txBody>
      </p:sp>
      <p:sp>
        <p:nvSpPr>
          <p:cNvPr id="33" name="Text 22"/>
          <p:cNvSpPr txBox="1"/>
          <p:nvPr/>
        </p:nvSpPr>
        <p:spPr>
          <a:xfrm>
            <a:off x="9710928" y="3383280"/>
            <a:ext cx="1828800" cy="731520"/>
          </a:xfrm>
          <a:prstGeom prst="rect">
            <a:avLst/>
          </a:prstGeom>
          <a:noFill/>
          <a:ln/>
        </p:spPr>
        <p:txBody>
          <a:bodyPr wrap="square" lIns="0" tIns="0" rIns="0" bIns="0" rtlCol="0" anchor="t"/>
          <a:lstStyle/>
          <a:p>
            <a:pPr algn="ctr" indent="0" marL="0">
              <a:buNone/>
            </a:pPr>
            <a:r>
              <a:rPr lang="en-US" sz="1200" dirty="0">
                <a:solidFill>
                  <a:srgbClr val="A9A7C0"/>
                </a:solidFill>
                <a:latin typeface="Calibri" pitchFamily="34" charset="0"/>
                <a:ea typeface="Calibri" pitchFamily="34" charset="-122"/>
                <a:cs typeface="Calibri" pitchFamily="34" charset="-120"/>
              </a:rPr>
              <a:t>12-layer BERT · writes</a:t>
            </a:r>
            <a:endParaRPr lang="en-US" sz="1200" dirty="0"/>
          </a:p>
          <a:p>
            <a:pPr algn="ctr" indent="0" marL="0">
              <a:buNone/>
            </a:pPr>
            <a:r>
              <a:rPr lang="en-US" sz="1200" dirty="0">
                <a:solidFill>
                  <a:srgbClr val="A9A7C0"/>
                </a:solidFill>
                <a:latin typeface="Calibri" pitchFamily="34" charset="0"/>
                <a:ea typeface="Calibri" pitchFamily="34" charset="-122"/>
                <a:cs typeface="Calibri" pitchFamily="34" charset="-120"/>
              </a:rPr>
              <a:t>word by word with</a:t>
            </a:r>
            <a:endParaRPr lang="en-US" sz="1200" dirty="0"/>
          </a:p>
          <a:p>
            <a:pPr algn="ctr" indent="0" marL="0">
              <a:buNone/>
            </a:pPr>
            <a:r>
              <a:rPr lang="en-US" sz="1200" dirty="0">
                <a:solidFill>
                  <a:srgbClr val="A9A7C0"/>
                </a:solidFill>
                <a:latin typeface="Calibri" pitchFamily="34" charset="0"/>
                <a:ea typeface="Calibri" pitchFamily="34" charset="-122"/>
                <a:cs typeface="Calibri" pitchFamily="34" charset="-120"/>
              </a:rPr>
              <a:t>cross-attention</a:t>
            </a:r>
            <a:endParaRPr lang="en-US" sz="1200" dirty="0"/>
          </a:p>
        </p:txBody>
      </p:sp>
      <p:sp>
        <p:nvSpPr>
          <p:cNvPr id="34" name="Shape 23"/>
          <p:cNvSpPr/>
          <p:nvPr/>
        </p:nvSpPr>
        <p:spPr>
          <a:xfrm>
            <a:off x="548640" y="4434840"/>
            <a:ext cx="11094415" cy="640080"/>
          </a:xfrm>
          <a:prstGeom prst="roundRect">
            <a:avLst>
              <a:gd name="adj" fmla="val 14286"/>
            </a:avLst>
          </a:prstGeom>
          <a:solidFill>
            <a:srgbClr val="1C1A36"/>
          </a:solidFill>
          <a:ln w="12700">
            <a:solidFill>
              <a:srgbClr val="F472B6"/>
            </a:solidFill>
            <a:prstDash val="solid"/>
          </a:ln>
        </p:spPr>
      </p:sp>
      <p:sp>
        <p:nvSpPr>
          <p:cNvPr id="35" name="Text 24"/>
          <p:cNvSpPr txBox="1"/>
          <p:nvPr/>
        </p:nvSpPr>
        <p:spPr>
          <a:xfrm>
            <a:off x="822960" y="4434840"/>
            <a:ext cx="10545775" cy="640080"/>
          </a:xfrm>
          <a:prstGeom prst="rect">
            <a:avLst/>
          </a:prstGeom>
          <a:noFill/>
          <a:ln/>
        </p:spPr>
        <p:txBody>
          <a:bodyPr wrap="square" lIns="0" tIns="0" rIns="0" bIns="0" rtlCol="0" anchor="ctr"/>
          <a:lstStyle/>
          <a:p>
            <a:pPr indent="0" marL="0">
              <a:buNone/>
            </a:pPr>
            <a:r>
              <a:rPr lang="en-US" sz="1800" b="1" dirty="0">
                <a:solidFill>
                  <a:srgbClr val="F472B6"/>
                </a:solidFill>
                <a:latin typeface="Calibri" pitchFamily="34" charset="0"/>
                <a:ea typeface="Calibri" pitchFamily="34" charset="-122"/>
                <a:cs typeface="Calibri" pitchFamily="34" charset="-120"/>
              </a:rPr>
              <a:t>Output:  </a:t>
            </a:r>
            <a:pPr indent="0" marL="0">
              <a:buNone/>
            </a:pPr>
            <a:r>
              <a:rPr lang="en-US" sz="1800" dirty="0">
                <a:solidFill>
                  <a:srgbClr val="F1F0FA"/>
                </a:solidFill>
                <a:latin typeface="Calibri" pitchFamily="34" charset="0"/>
                <a:ea typeface="Calibri" pitchFamily="34" charset="-122"/>
                <a:cs typeface="Calibri" pitchFamily="34" charset="-120"/>
              </a:rPr>
              <a:t>“a woman sitting on a beach next to a dog”</a:t>
            </a:r>
            <a:endParaRPr lang="en-US" sz="1800" dirty="0"/>
          </a:p>
        </p:txBody>
      </p:sp>
      <p:sp>
        <p:nvSpPr>
          <p:cNvPr id="36" name="Text 25"/>
          <p:cNvSpPr txBox="1"/>
          <p:nvPr/>
        </p:nvSpPr>
        <p:spPr>
          <a:xfrm>
            <a:off x="548640" y="5349240"/>
            <a:ext cx="1554480" cy="548640"/>
          </a:xfrm>
          <a:prstGeom prst="rect">
            <a:avLst/>
          </a:prstGeom>
          <a:noFill/>
          <a:ln/>
        </p:spPr>
        <p:txBody>
          <a:bodyPr wrap="square" lIns="0" tIns="0" rIns="0" bIns="0" rtlCol="0" anchor="ctr"/>
          <a:lstStyle/>
          <a:p>
            <a:pPr indent="0" marL="0">
              <a:buNone/>
            </a:pPr>
            <a:r>
              <a:rPr lang="en-US" sz="2800" b="1" dirty="0">
                <a:solidFill>
                  <a:srgbClr val="8B5CF6"/>
                </a:solidFill>
                <a:latin typeface="Arial" pitchFamily="34" charset="0"/>
                <a:ea typeface="Arial" pitchFamily="34" charset="-122"/>
                <a:cs typeface="Arial" pitchFamily="34" charset="-120"/>
              </a:rPr>
              <a:t>129M</a:t>
            </a:r>
            <a:endParaRPr lang="en-US" sz="2800" dirty="0"/>
          </a:p>
        </p:txBody>
      </p:sp>
      <p:sp>
        <p:nvSpPr>
          <p:cNvPr id="37" name="Text 26"/>
          <p:cNvSpPr txBox="1"/>
          <p:nvPr/>
        </p:nvSpPr>
        <p:spPr>
          <a:xfrm>
            <a:off x="2103120" y="5349240"/>
            <a:ext cx="2103120" cy="548640"/>
          </a:xfrm>
          <a:prstGeom prst="rect">
            <a:avLst/>
          </a:prstGeom>
          <a:noFill/>
          <a:ln/>
        </p:spPr>
        <p:txBody>
          <a:bodyPr wrap="square" lIns="0" tIns="0" rIns="0" bIns="0" rtlCol="0" anchor="ctr"/>
          <a:lstStyle/>
          <a:p>
            <a:pPr indent="0" marL="0">
              <a:buNone/>
            </a:pPr>
            <a:r>
              <a:rPr lang="en-US" sz="1300" dirty="0">
                <a:solidFill>
                  <a:srgbClr val="A9A7C0"/>
                </a:solidFill>
                <a:latin typeface="Calibri" pitchFamily="34" charset="0"/>
                <a:ea typeface="Calibri" pitchFamily="34" charset="-122"/>
                <a:cs typeface="Calibri" pitchFamily="34" charset="-120"/>
              </a:rPr>
              <a:t>image-text pairs in pre-training</a:t>
            </a:r>
            <a:endParaRPr lang="en-US" sz="1300" dirty="0"/>
          </a:p>
        </p:txBody>
      </p:sp>
      <p:sp>
        <p:nvSpPr>
          <p:cNvPr id="38" name="Text 27"/>
          <p:cNvSpPr txBox="1"/>
          <p:nvPr/>
        </p:nvSpPr>
        <p:spPr>
          <a:xfrm>
            <a:off x="4297680" y="5349240"/>
            <a:ext cx="1554480" cy="548640"/>
          </a:xfrm>
          <a:prstGeom prst="rect">
            <a:avLst/>
          </a:prstGeom>
          <a:noFill/>
          <a:ln/>
        </p:spPr>
        <p:txBody>
          <a:bodyPr wrap="square" lIns="0" tIns="0" rIns="0" bIns="0" rtlCol="0" anchor="ctr"/>
          <a:lstStyle/>
          <a:p>
            <a:pPr indent="0" marL="0">
              <a:buNone/>
            </a:pPr>
            <a:r>
              <a:rPr lang="en-US" sz="2800" b="1" dirty="0">
                <a:solidFill>
                  <a:srgbClr val="22D3EE"/>
                </a:solidFill>
                <a:latin typeface="Arial" pitchFamily="34" charset="0"/>
                <a:ea typeface="Arial" pitchFamily="34" charset="-122"/>
                <a:cs typeface="Arial" pitchFamily="34" charset="-120"/>
              </a:rPr>
              <a:t>446M</a:t>
            </a:r>
            <a:endParaRPr lang="en-US" sz="2800" dirty="0"/>
          </a:p>
        </p:txBody>
      </p:sp>
      <p:sp>
        <p:nvSpPr>
          <p:cNvPr id="39" name="Text 28"/>
          <p:cNvSpPr txBox="1"/>
          <p:nvPr/>
        </p:nvSpPr>
        <p:spPr>
          <a:xfrm>
            <a:off x="5852160" y="5349240"/>
            <a:ext cx="2103120" cy="548640"/>
          </a:xfrm>
          <a:prstGeom prst="rect">
            <a:avLst/>
          </a:prstGeom>
          <a:noFill/>
          <a:ln/>
        </p:spPr>
        <p:txBody>
          <a:bodyPr wrap="square" lIns="0" tIns="0" rIns="0" bIns="0" rtlCol="0" anchor="ctr"/>
          <a:lstStyle/>
          <a:p>
            <a:pPr indent="0" marL="0">
              <a:buNone/>
            </a:pPr>
            <a:r>
              <a:rPr lang="en-US" sz="1300" dirty="0">
                <a:solidFill>
                  <a:srgbClr val="A9A7C0"/>
                </a:solidFill>
                <a:latin typeface="Calibri" pitchFamily="34" charset="0"/>
                <a:ea typeface="Calibri" pitchFamily="34" charset="-122"/>
                <a:cs typeface="Calibri" pitchFamily="34" charset="-120"/>
              </a:rPr>
              <a:t>parameters (large captioner)</a:t>
            </a:r>
            <a:endParaRPr lang="en-US" sz="1300" dirty="0"/>
          </a:p>
        </p:txBody>
      </p:sp>
      <p:sp>
        <p:nvSpPr>
          <p:cNvPr id="40" name="Text 29"/>
          <p:cNvSpPr txBox="1"/>
          <p:nvPr/>
        </p:nvSpPr>
        <p:spPr>
          <a:xfrm>
            <a:off x="8046720" y="5349240"/>
            <a:ext cx="1554480" cy="548640"/>
          </a:xfrm>
          <a:prstGeom prst="rect">
            <a:avLst/>
          </a:prstGeom>
          <a:noFill/>
          <a:ln/>
        </p:spPr>
        <p:txBody>
          <a:bodyPr wrap="square" lIns="0" tIns="0" rIns="0" bIns="0" rtlCol="0" anchor="ctr"/>
          <a:lstStyle/>
          <a:p>
            <a:pPr indent="0" marL="0">
              <a:buNone/>
            </a:pPr>
            <a:r>
              <a:rPr lang="en-US" sz="2800" b="1" dirty="0">
                <a:solidFill>
                  <a:srgbClr val="F472B6"/>
                </a:solidFill>
                <a:latin typeface="Arial" pitchFamily="34" charset="0"/>
                <a:ea typeface="Arial" pitchFamily="34" charset="-122"/>
                <a:cs typeface="Arial" pitchFamily="34" charset="-120"/>
              </a:rPr>
              <a:t>CapFilt</a:t>
            </a:r>
            <a:endParaRPr lang="en-US" sz="2800" dirty="0"/>
          </a:p>
        </p:txBody>
      </p:sp>
      <p:sp>
        <p:nvSpPr>
          <p:cNvPr id="41" name="Text 30"/>
          <p:cNvSpPr txBox="1"/>
          <p:nvPr/>
        </p:nvSpPr>
        <p:spPr>
          <a:xfrm>
            <a:off x="9601200" y="5349240"/>
            <a:ext cx="2103120" cy="548640"/>
          </a:xfrm>
          <a:prstGeom prst="rect">
            <a:avLst/>
          </a:prstGeom>
          <a:noFill/>
          <a:ln/>
        </p:spPr>
        <p:txBody>
          <a:bodyPr wrap="square" lIns="0" tIns="0" rIns="0" bIns="0" rtlCol="0" anchor="ctr"/>
          <a:lstStyle/>
          <a:p>
            <a:pPr indent="0" marL="0">
              <a:buNone/>
            </a:pPr>
            <a:r>
              <a:rPr lang="en-US" sz="1300" dirty="0">
                <a:solidFill>
                  <a:srgbClr val="A9A7C0"/>
                </a:solidFill>
                <a:latin typeface="Calibri" pitchFamily="34" charset="0"/>
                <a:ea typeface="Calibri" pitchFamily="34" charset="-122"/>
                <a:cs typeface="Calibri" pitchFamily="34" charset="-120"/>
              </a:rPr>
              <a:t>synthetic captions + noise filter</a:t>
            </a:r>
            <a:endParaRPr lang="en-US" sz="1300" dirty="0"/>
          </a:p>
        </p:txBody>
      </p:sp>
      <p:sp>
        <p:nvSpPr>
          <p:cNvPr id="42" name="Text 31"/>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b="1" dirty="0">
                <a:solidFill>
                  <a:srgbClr val="A9A7C0"/>
                </a:solidFill>
                <a:latin typeface="Calibri" pitchFamily="34" charset="0"/>
                <a:ea typeface="Calibri" pitchFamily="34" charset="-122"/>
                <a:cs typeface="Calibri" pitchFamily="34" charset="-120"/>
              </a:rPr>
              <a:t>PixelProse</a:t>
            </a:r>
            <a:pPr algn="r" indent="0" marL="0">
              <a:buNone/>
            </a:pPr>
            <a:r>
              <a:rPr lang="en-US" sz="1000" dirty="0">
                <a:solidFill>
                  <a:srgbClr val="74718F"/>
                </a:solidFill>
                <a:latin typeface="Calibri" pitchFamily="34" charset="0"/>
                <a:ea typeface="Calibri" pitchFamily="34" charset="-122"/>
                <a:cs typeface="Calibri" pitchFamily="34" charset="-120"/>
              </a:rPr>
              <a:t>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indent="0" marL="0">
              <a:buNone/>
            </a:pPr>
            <a:r>
              <a:rPr lang="en-US" sz="1100" b="1" spc="300" kern="0" dirty="0">
                <a:solidFill>
                  <a:srgbClr val="8B5CF6"/>
                </a:solidFill>
                <a:latin typeface="Arial" pitchFamily="34" charset="0"/>
                <a:ea typeface="Arial" pitchFamily="34" charset="-122"/>
                <a:cs typeface="Arial" pitchFamily="34" charset="-120"/>
              </a:rPr>
              <a:t>OUR CONTRIBUTION</a:t>
            </a:r>
            <a:endParaRPr lang="en-US" sz="1100" dirty="0"/>
          </a:p>
        </p:txBody>
      </p:sp>
      <p:sp>
        <p:nvSpPr>
          <p:cNvPr id="3" name="Text 1"/>
          <p:cNvSpPr txBox="1"/>
          <p:nvPr/>
        </p:nvSpPr>
        <p:spPr>
          <a:xfrm>
            <a:off x="548640" y="777240"/>
            <a:ext cx="11094415" cy="777240"/>
          </a:xfrm>
          <a:prstGeom prst="rect">
            <a:avLst/>
          </a:prstGeom>
          <a:noFill/>
          <a:ln/>
        </p:spPr>
        <p:txBody>
          <a:bodyPr wrap="square" lIns="0" tIns="0" rIns="0" bIns="0" rtlCol="0" anchor="t"/>
          <a:lstStyle/>
          <a:p>
            <a:pPr indent="0" marL="0">
              <a:buNone/>
            </a:pPr>
            <a:r>
              <a:rPr lang="en-US" sz="3400" b="1" dirty="0">
                <a:solidFill>
                  <a:srgbClr val="F1F0FA"/>
                </a:solidFill>
                <a:latin typeface="Arial" pitchFamily="34" charset="0"/>
                <a:ea typeface="Arial" pitchFamily="34" charset="-122"/>
                <a:cs typeface="Arial" pitchFamily="34" charset="-120"/>
              </a:rPr>
              <a:t>A caption pipeline, not a single guess</a:t>
            </a:r>
            <a:endParaRPr lang="en-US" sz="3400" dirty="0"/>
          </a:p>
        </p:txBody>
      </p:sp>
      <p:sp>
        <p:nvSpPr>
          <p:cNvPr id="4" name="Shape 2"/>
          <p:cNvSpPr/>
          <p:nvPr/>
        </p:nvSpPr>
        <p:spPr>
          <a:xfrm>
            <a:off x="548640" y="1783080"/>
            <a:ext cx="548640" cy="548640"/>
          </a:xfrm>
          <a:prstGeom prst="ellipse">
            <a:avLst/>
          </a:prstGeom>
          <a:solidFill>
            <a:srgbClr val="8B5CF6"/>
          </a:solidFill>
          <a:ln/>
        </p:spPr>
      </p:sp>
      <p:sp>
        <p:nvSpPr>
          <p:cNvPr id="5" name="Text 3"/>
          <p:cNvSpPr txBox="1"/>
          <p:nvPr/>
        </p:nvSpPr>
        <p:spPr>
          <a:xfrm>
            <a:off x="548640" y="1783080"/>
            <a:ext cx="548640" cy="548640"/>
          </a:xfrm>
          <a:prstGeom prst="rect">
            <a:avLst/>
          </a:prstGeom>
          <a:noFill/>
          <a:ln/>
        </p:spPr>
        <p:txBody>
          <a:bodyPr wrap="square" lIns="0" tIns="0" rIns="0" bIns="0" rtlCol="0" anchor="ctr"/>
          <a:lstStyle/>
          <a:p>
            <a:pPr algn="ctr" indent="0" marL="0">
              <a:buNone/>
            </a:pPr>
            <a:r>
              <a:rPr lang="en-US" sz="1800" b="1" dirty="0">
                <a:solidFill>
                  <a:srgbClr val="0B0A14"/>
                </a:solidFill>
                <a:latin typeface="Arial" pitchFamily="34" charset="0"/>
                <a:ea typeface="Arial" pitchFamily="34" charset="-122"/>
                <a:cs typeface="Arial" pitchFamily="34" charset="-120"/>
              </a:rPr>
              <a:t>1</a:t>
            </a:r>
            <a:endParaRPr lang="en-US" sz="1800" dirty="0"/>
          </a:p>
        </p:txBody>
      </p:sp>
      <p:sp>
        <p:nvSpPr>
          <p:cNvPr id="6" name="Text 4"/>
          <p:cNvSpPr txBox="1"/>
          <p:nvPr/>
        </p:nvSpPr>
        <p:spPr>
          <a:xfrm>
            <a:off x="1325880" y="1746504"/>
            <a:ext cx="5029200" cy="310896"/>
          </a:xfrm>
          <a:prstGeom prst="rect">
            <a:avLst/>
          </a:prstGeom>
          <a:noFill/>
          <a:ln/>
        </p:spPr>
        <p:txBody>
          <a:bodyPr wrap="square" lIns="0" tIns="0" rIns="0" bIns="0" rtlCol="0" anchor="ctr"/>
          <a:lstStyle/>
          <a:p>
            <a:pPr indent="0" marL="0">
              <a:buNone/>
            </a:pPr>
            <a:r>
              <a:rPr lang="en-US" sz="1600" b="1" dirty="0">
                <a:solidFill>
                  <a:srgbClr val="F1F0FA"/>
                </a:solidFill>
                <a:latin typeface="Arial" pitchFamily="34" charset="0"/>
                <a:ea typeface="Arial" pitchFamily="34" charset="-122"/>
                <a:cs typeface="Arial" pitchFamily="34" charset="-120"/>
              </a:rPr>
              <a:t>Encode once</a:t>
            </a:r>
            <a:endParaRPr lang="en-US" sz="1600" dirty="0"/>
          </a:p>
        </p:txBody>
      </p:sp>
      <p:sp>
        <p:nvSpPr>
          <p:cNvPr id="7" name="Text 5"/>
          <p:cNvSpPr txBox="1"/>
          <p:nvPr/>
        </p:nvSpPr>
        <p:spPr>
          <a:xfrm>
            <a:off x="1325880" y="2057400"/>
            <a:ext cx="5760720" cy="457200"/>
          </a:xfrm>
          <a:prstGeom prst="rect">
            <a:avLst/>
          </a:prstGeom>
          <a:noFill/>
          <a:ln/>
        </p:spPr>
        <p:txBody>
          <a:bodyPr wrap="square" lIns="0" tIns="0" rIns="0" bIns="0" rtlCol="0" anchor="t"/>
          <a:lstStyle/>
          <a:p>
            <a:pPr indent="0" marL="0">
              <a:buNone/>
            </a:pPr>
            <a:r>
              <a:rPr lang="en-US" sz="1250" dirty="0">
                <a:solidFill>
                  <a:srgbClr val="A9A7C0"/>
                </a:solidFill>
                <a:latin typeface="Calibri" pitchFamily="34" charset="0"/>
                <a:ea typeface="Calibri" pitchFamily="34" charset="-122"/>
                <a:cs typeface="Calibri" pitchFamily="34" charset="-120"/>
              </a:rPr>
              <a:t>ViT runs a single time; every candidate reuses the embeddings</a:t>
            </a:r>
            <a:endParaRPr lang="en-US" sz="1250" dirty="0"/>
          </a:p>
        </p:txBody>
      </p:sp>
      <p:sp>
        <p:nvSpPr>
          <p:cNvPr id="8" name="Shape 6"/>
          <p:cNvSpPr/>
          <p:nvPr/>
        </p:nvSpPr>
        <p:spPr>
          <a:xfrm>
            <a:off x="548640" y="2569464"/>
            <a:ext cx="548640" cy="548640"/>
          </a:xfrm>
          <a:prstGeom prst="ellipse">
            <a:avLst/>
          </a:prstGeom>
          <a:solidFill>
            <a:srgbClr val="6366F1"/>
          </a:solidFill>
          <a:ln/>
        </p:spPr>
      </p:sp>
      <p:sp>
        <p:nvSpPr>
          <p:cNvPr id="9" name="Text 7"/>
          <p:cNvSpPr txBox="1"/>
          <p:nvPr/>
        </p:nvSpPr>
        <p:spPr>
          <a:xfrm>
            <a:off x="548640" y="2569464"/>
            <a:ext cx="548640" cy="548640"/>
          </a:xfrm>
          <a:prstGeom prst="rect">
            <a:avLst/>
          </a:prstGeom>
          <a:noFill/>
          <a:ln/>
        </p:spPr>
        <p:txBody>
          <a:bodyPr wrap="square" lIns="0" tIns="0" rIns="0" bIns="0" rtlCol="0" anchor="ctr"/>
          <a:lstStyle/>
          <a:p>
            <a:pPr algn="ctr" indent="0" marL="0">
              <a:buNone/>
            </a:pPr>
            <a:r>
              <a:rPr lang="en-US" sz="1800" b="1" dirty="0">
                <a:solidFill>
                  <a:srgbClr val="0B0A14"/>
                </a:solidFill>
                <a:latin typeface="Arial" pitchFamily="34" charset="0"/>
                <a:ea typeface="Arial" pitchFamily="34" charset="-122"/>
                <a:cs typeface="Arial" pitchFamily="34" charset="-120"/>
              </a:rPr>
              <a:t>2</a:t>
            </a:r>
            <a:endParaRPr lang="en-US" sz="1800" dirty="0"/>
          </a:p>
        </p:txBody>
      </p:sp>
      <p:sp>
        <p:nvSpPr>
          <p:cNvPr id="10" name="Text 8"/>
          <p:cNvSpPr txBox="1"/>
          <p:nvPr/>
        </p:nvSpPr>
        <p:spPr>
          <a:xfrm>
            <a:off x="1325880" y="2532888"/>
            <a:ext cx="5029200" cy="310896"/>
          </a:xfrm>
          <a:prstGeom prst="rect">
            <a:avLst/>
          </a:prstGeom>
          <a:noFill/>
          <a:ln/>
        </p:spPr>
        <p:txBody>
          <a:bodyPr wrap="square" lIns="0" tIns="0" rIns="0" bIns="0" rtlCol="0" anchor="ctr"/>
          <a:lstStyle/>
          <a:p>
            <a:pPr indent="0" marL="0">
              <a:buNone/>
            </a:pPr>
            <a:r>
              <a:rPr lang="en-US" sz="1600" b="1" dirty="0">
                <a:solidFill>
                  <a:srgbClr val="F1F0FA"/>
                </a:solidFill>
                <a:latin typeface="Arial" pitchFamily="34" charset="0"/>
                <a:ea typeface="Arial" pitchFamily="34" charset="-122"/>
                <a:cs typeface="Arial" pitchFamily="34" charset="-120"/>
              </a:rPr>
              <a:t>Generate drafts</a:t>
            </a:r>
            <a:endParaRPr lang="en-US" sz="1600" dirty="0"/>
          </a:p>
        </p:txBody>
      </p:sp>
      <p:sp>
        <p:nvSpPr>
          <p:cNvPr id="11" name="Text 9"/>
          <p:cNvSpPr txBox="1"/>
          <p:nvPr/>
        </p:nvSpPr>
        <p:spPr>
          <a:xfrm>
            <a:off x="1325880" y="2843784"/>
            <a:ext cx="5760720" cy="457200"/>
          </a:xfrm>
          <a:prstGeom prst="rect">
            <a:avLst/>
          </a:prstGeom>
          <a:noFill/>
          <a:ln/>
        </p:spPr>
        <p:txBody>
          <a:bodyPr wrap="square" lIns="0" tIns="0" rIns="0" bIns="0" rtlCol="0" anchor="t"/>
          <a:lstStyle/>
          <a:p>
            <a:pPr indent="0" marL="0">
              <a:buNone/>
            </a:pPr>
            <a:r>
              <a:rPr lang="en-US" sz="1250" dirty="0">
                <a:solidFill>
                  <a:srgbClr val="A9A7C0"/>
                </a:solidFill>
                <a:latin typeface="Calibri" pitchFamily="34" charset="0"/>
                <a:ea typeface="Calibri" pitchFamily="34" charset="-122"/>
                <a:cs typeface="Calibri" pitchFamily="34" charset="-120"/>
              </a:rPr>
              <a:t>Beam search keeps the 5 best sentences; Detailed mode adds nucleus sampling (p = 0.9)</a:t>
            </a:r>
            <a:endParaRPr lang="en-US" sz="1250" dirty="0"/>
          </a:p>
        </p:txBody>
      </p:sp>
      <p:sp>
        <p:nvSpPr>
          <p:cNvPr id="12" name="Shape 10"/>
          <p:cNvSpPr/>
          <p:nvPr/>
        </p:nvSpPr>
        <p:spPr>
          <a:xfrm>
            <a:off x="548640" y="3355848"/>
            <a:ext cx="548640" cy="548640"/>
          </a:xfrm>
          <a:prstGeom prst="ellipse">
            <a:avLst/>
          </a:prstGeom>
          <a:solidFill>
            <a:srgbClr val="22D3EE"/>
          </a:solidFill>
          <a:ln/>
        </p:spPr>
      </p:sp>
      <p:sp>
        <p:nvSpPr>
          <p:cNvPr id="13" name="Text 11"/>
          <p:cNvSpPr txBox="1"/>
          <p:nvPr/>
        </p:nvSpPr>
        <p:spPr>
          <a:xfrm>
            <a:off x="548640" y="3355848"/>
            <a:ext cx="548640" cy="548640"/>
          </a:xfrm>
          <a:prstGeom prst="rect">
            <a:avLst/>
          </a:prstGeom>
          <a:noFill/>
          <a:ln/>
        </p:spPr>
        <p:txBody>
          <a:bodyPr wrap="square" lIns="0" tIns="0" rIns="0" bIns="0" rtlCol="0" anchor="ctr"/>
          <a:lstStyle/>
          <a:p>
            <a:pPr algn="ctr" indent="0" marL="0">
              <a:buNone/>
            </a:pPr>
            <a:r>
              <a:rPr lang="en-US" sz="1800" b="1" dirty="0">
                <a:solidFill>
                  <a:srgbClr val="0B0A14"/>
                </a:solidFill>
                <a:latin typeface="Arial" pitchFamily="34" charset="0"/>
                <a:ea typeface="Arial" pitchFamily="34" charset="-122"/>
                <a:cs typeface="Arial" pitchFamily="34" charset="-120"/>
              </a:rPr>
              <a:t>3</a:t>
            </a:r>
            <a:endParaRPr lang="en-US" sz="1800" dirty="0"/>
          </a:p>
        </p:txBody>
      </p:sp>
      <p:sp>
        <p:nvSpPr>
          <p:cNvPr id="14" name="Text 12"/>
          <p:cNvSpPr txBox="1"/>
          <p:nvPr/>
        </p:nvSpPr>
        <p:spPr>
          <a:xfrm>
            <a:off x="1325880" y="3319272"/>
            <a:ext cx="5029200" cy="310896"/>
          </a:xfrm>
          <a:prstGeom prst="rect">
            <a:avLst/>
          </a:prstGeom>
          <a:noFill/>
          <a:ln/>
        </p:spPr>
        <p:txBody>
          <a:bodyPr wrap="square" lIns="0" tIns="0" rIns="0" bIns="0" rtlCol="0" anchor="ctr"/>
          <a:lstStyle/>
          <a:p>
            <a:pPr indent="0" marL="0">
              <a:buNone/>
            </a:pPr>
            <a:r>
              <a:rPr lang="en-US" sz="1600" b="1" dirty="0">
                <a:solidFill>
                  <a:srgbClr val="F1F0FA"/>
                </a:solidFill>
                <a:latin typeface="Arial" pitchFamily="34" charset="0"/>
                <a:ea typeface="Arial" pitchFamily="34" charset="-122"/>
                <a:cs typeface="Arial" pitchFamily="34" charset="-120"/>
              </a:rPr>
              <a:t>Clean &amp; dedupe</a:t>
            </a:r>
            <a:endParaRPr lang="en-US" sz="1600" dirty="0"/>
          </a:p>
        </p:txBody>
      </p:sp>
      <p:sp>
        <p:nvSpPr>
          <p:cNvPr id="15" name="Text 13"/>
          <p:cNvSpPr txBox="1"/>
          <p:nvPr/>
        </p:nvSpPr>
        <p:spPr>
          <a:xfrm>
            <a:off x="1325880" y="3630168"/>
            <a:ext cx="5760720" cy="457200"/>
          </a:xfrm>
          <a:prstGeom prst="rect">
            <a:avLst/>
          </a:prstGeom>
          <a:noFill/>
          <a:ln/>
        </p:spPr>
        <p:txBody>
          <a:bodyPr wrap="square" lIns="0" tIns="0" rIns="0" bIns="0" rtlCol="0" anchor="t"/>
          <a:lstStyle/>
          <a:p>
            <a:pPr indent="0" marL="0">
              <a:buNone/>
            </a:pPr>
            <a:r>
              <a:rPr lang="en-US" sz="1250" dirty="0">
                <a:solidFill>
                  <a:srgbClr val="A9A7C0"/>
                </a:solidFill>
                <a:latin typeface="Calibri" pitchFamily="34" charset="0"/>
                <a:ea typeface="Calibri" pitchFamily="34" charset="-122"/>
                <a:cs typeface="Calibri" pitchFamily="34" charset="-120"/>
              </a:rPr>
              <a:t>Strip prompt &amp; artefacts, block repeats (no-repeat 3-grams)</a:t>
            </a:r>
            <a:endParaRPr lang="en-US" sz="1250" dirty="0"/>
          </a:p>
        </p:txBody>
      </p:sp>
      <p:sp>
        <p:nvSpPr>
          <p:cNvPr id="16" name="Shape 14"/>
          <p:cNvSpPr/>
          <p:nvPr/>
        </p:nvSpPr>
        <p:spPr>
          <a:xfrm>
            <a:off x="548640" y="4142232"/>
            <a:ext cx="548640" cy="548640"/>
          </a:xfrm>
          <a:prstGeom prst="ellipse">
            <a:avLst/>
          </a:prstGeom>
          <a:solidFill>
            <a:srgbClr val="F472B6"/>
          </a:solidFill>
          <a:ln/>
        </p:spPr>
      </p:sp>
      <p:sp>
        <p:nvSpPr>
          <p:cNvPr id="17" name="Text 15"/>
          <p:cNvSpPr txBox="1"/>
          <p:nvPr/>
        </p:nvSpPr>
        <p:spPr>
          <a:xfrm>
            <a:off x="548640" y="4142232"/>
            <a:ext cx="548640" cy="548640"/>
          </a:xfrm>
          <a:prstGeom prst="rect">
            <a:avLst/>
          </a:prstGeom>
          <a:noFill/>
          <a:ln/>
        </p:spPr>
        <p:txBody>
          <a:bodyPr wrap="square" lIns="0" tIns="0" rIns="0" bIns="0" rtlCol="0" anchor="ctr"/>
          <a:lstStyle/>
          <a:p>
            <a:pPr algn="ctr" indent="0" marL="0">
              <a:buNone/>
            </a:pPr>
            <a:r>
              <a:rPr lang="en-US" sz="1800" b="1" dirty="0">
                <a:solidFill>
                  <a:srgbClr val="0B0A14"/>
                </a:solidFill>
                <a:latin typeface="Arial" pitchFamily="34" charset="0"/>
                <a:ea typeface="Arial" pitchFamily="34" charset="-122"/>
                <a:cs typeface="Arial" pitchFamily="34" charset="-120"/>
              </a:rPr>
              <a:t>4</a:t>
            </a:r>
            <a:endParaRPr lang="en-US" sz="1800" dirty="0"/>
          </a:p>
        </p:txBody>
      </p:sp>
      <p:sp>
        <p:nvSpPr>
          <p:cNvPr id="18" name="Text 16"/>
          <p:cNvSpPr txBox="1"/>
          <p:nvPr/>
        </p:nvSpPr>
        <p:spPr>
          <a:xfrm>
            <a:off x="1325880" y="4105656"/>
            <a:ext cx="5029200" cy="310896"/>
          </a:xfrm>
          <a:prstGeom prst="rect">
            <a:avLst/>
          </a:prstGeom>
          <a:noFill/>
          <a:ln/>
        </p:spPr>
        <p:txBody>
          <a:bodyPr wrap="square" lIns="0" tIns="0" rIns="0" bIns="0" rtlCol="0" anchor="ctr"/>
          <a:lstStyle/>
          <a:p>
            <a:pPr indent="0" marL="0">
              <a:buNone/>
            </a:pPr>
            <a:r>
              <a:rPr lang="en-US" sz="1600" b="1" dirty="0">
                <a:solidFill>
                  <a:srgbClr val="F1F0FA"/>
                </a:solidFill>
                <a:latin typeface="Arial" pitchFamily="34" charset="0"/>
                <a:ea typeface="Arial" pitchFamily="34" charset="-122"/>
                <a:cs typeface="Arial" pitchFamily="34" charset="-120"/>
              </a:rPr>
              <a:t>Score every word</a:t>
            </a:r>
            <a:endParaRPr lang="en-US" sz="1600" dirty="0"/>
          </a:p>
        </p:txBody>
      </p:sp>
      <p:sp>
        <p:nvSpPr>
          <p:cNvPr id="19" name="Text 17"/>
          <p:cNvSpPr txBox="1"/>
          <p:nvPr/>
        </p:nvSpPr>
        <p:spPr>
          <a:xfrm>
            <a:off x="1325880" y="4416552"/>
            <a:ext cx="5760720" cy="457200"/>
          </a:xfrm>
          <a:prstGeom prst="rect">
            <a:avLst/>
          </a:prstGeom>
          <a:noFill/>
          <a:ln/>
        </p:spPr>
        <p:txBody>
          <a:bodyPr wrap="square" lIns="0" tIns="0" rIns="0" bIns="0" rtlCol="0" anchor="t"/>
          <a:lstStyle/>
          <a:p>
            <a:pPr indent="0" marL="0">
              <a:buNone/>
            </a:pPr>
            <a:r>
              <a:rPr lang="en-US" sz="1250" dirty="0">
                <a:solidFill>
                  <a:srgbClr val="A9A7C0"/>
                </a:solidFill>
                <a:latin typeface="Calibri" pitchFamily="34" charset="0"/>
                <a:ea typeface="Calibri" pitchFamily="34" charset="-122"/>
                <a:cs typeface="Calibri" pitchFamily="34" charset="-120"/>
              </a:rPr>
              <a:t>One batched pass → token probabilities → confidence = 1 / perplexity</a:t>
            </a:r>
            <a:endParaRPr lang="en-US" sz="1250" dirty="0"/>
          </a:p>
        </p:txBody>
      </p:sp>
      <p:sp>
        <p:nvSpPr>
          <p:cNvPr id="20" name="Shape 18"/>
          <p:cNvSpPr/>
          <p:nvPr/>
        </p:nvSpPr>
        <p:spPr>
          <a:xfrm>
            <a:off x="548640" y="4928616"/>
            <a:ext cx="548640" cy="548640"/>
          </a:xfrm>
          <a:prstGeom prst="ellipse">
            <a:avLst/>
          </a:prstGeom>
          <a:solidFill>
            <a:srgbClr val="FBBF24"/>
          </a:solidFill>
          <a:ln/>
        </p:spPr>
      </p:sp>
      <p:sp>
        <p:nvSpPr>
          <p:cNvPr id="21" name="Text 19"/>
          <p:cNvSpPr txBox="1"/>
          <p:nvPr/>
        </p:nvSpPr>
        <p:spPr>
          <a:xfrm>
            <a:off x="548640" y="4928616"/>
            <a:ext cx="548640" cy="548640"/>
          </a:xfrm>
          <a:prstGeom prst="rect">
            <a:avLst/>
          </a:prstGeom>
          <a:noFill/>
          <a:ln/>
        </p:spPr>
        <p:txBody>
          <a:bodyPr wrap="square" lIns="0" tIns="0" rIns="0" bIns="0" rtlCol="0" anchor="ctr"/>
          <a:lstStyle/>
          <a:p>
            <a:pPr algn="ctr" indent="0" marL="0">
              <a:buNone/>
            </a:pPr>
            <a:r>
              <a:rPr lang="en-US" sz="1800" b="1" dirty="0">
                <a:solidFill>
                  <a:srgbClr val="0B0A14"/>
                </a:solidFill>
                <a:latin typeface="Arial" pitchFamily="34" charset="0"/>
                <a:ea typeface="Arial" pitchFamily="34" charset="-122"/>
                <a:cs typeface="Arial" pitchFamily="34" charset="-120"/>
              </a:rPr>
              <a:t>5</a:t>
            </a:r>
            <a:endParaRPr lang="en-US" sz="1800" dirty="0"/>
          </a:p>
        </p:txBody>
      </p:sp>
      <p:sp>
        <p:nvSpPr>
          <p:cNvPr id="22" name="Text 20"/>
          <p:cNvSpPr txBox="1"/>
          <p:nvPr/>
        </p:nvSpPr>
        <p:spPr>
          <a:xfrm>
            <a:off x="1325880" y="4892040"/>
            <a:ext cx="5029200" cy="310896"/>
          </a:xfrm>
          <a:prstGeom prst="rect">
            <a:avLst/>
          </a:prstGeom>
          <a:noFill/>
          <a:ln/>
        </p:spPr>
        <p:txBody>
          <a:bodyPr wrap="square" lIns="0" tIns="0" rIns="0" bIns="0" rtlCol="0" anchor="ctr"/>
          <a:lstStyle/>
          <a:p>
            <a:pPr indent="0" marL="0">
              <a:buNone/>
            </a:pPr>
            <a:r>
              <a:rPr lang="en-US" sz="1600" b="1" dirty="0">
                <a:solidFill>
                  <a:srgbClr val="F1F0FA"/>
                </a:solidFill>
                <a:latin typeface="Arial" pitchFamily="34" charset="0"/>
                <a:ea typeface="Arial" pitchFamily="34" charset="-122"/>
                <a:cs typeface="Arial" pitchFamily="34" charset="-120"/>
              </a:rPr>
              <a:t>Fact-check &amp; re-rank</a:t>
            </a:r>
            <a:endParaRPr lang="en-US" sz="1600" dirty="0"/>
          </a:p>
        </p:txBody>
      </p:sp>
      <p:sp>
        <p:nvSpPr>
          <p:cNvPr id="23" name="Text 21"/>
          <p:cNvSpPr txBox="1"/>
          <p:nvPr/>
        </p:nvSpPr>
        <p:spPr>
          <a:xfrm>
            <a:off x="1325880" y="5202936"/>
            <a:ext cx="5760720" cy="457200"/>
          </a:xfrm>
          <a:prstGeom prst="rect">
            <a:avLst/>
          </a:prstGeom>
          <a:noFill/>
          <a:ln/>
        </p:spPr>
        <p:txBody>
          <a:bodyPr wrap="square" lIns="0" tIns="0" rIns="0" bIns="0" rtlCol="0" anchor="t"/>
          <a:lstStyle/>
          <a:p>
            <a:pPr indent="0" marL="0">
              <a:buNone/>
            </a:pPr>
            <a:r>
              <a:rPr lang="en-US" sz="1250" dirty="0">
                <a:solidFill>
                  <a:srgbClr val="A9A7C0"/>
                </a:solidFill>
                <a:latin typeface="Calibri" pitchFamily="34" charset="0"/>
                <a:ea typeface="Calibri" pitchFamily="34" charset="-122"/>
                <a:cs typeface="Calibri" pitchFamily="34" charset="-120"/>
              </a:rPr>
              <a:t>Image-Text Matching model re-reads each draft with the image</a:t>
            </a:r>
            <a:endParaRPr lang="en-US" sz="1250" dirty="0"/>
          </a:p>
        </p:txBody>
      </p:sp>
      <p:sp>
        <p:nvSpPr>
          <p:cNvPr id="24" name="Shape 22"/>
          <p:cNvSpPr/>
          <p:nvPr/>
        </p:nvSpPr>
        <p:spPr>
          <a:xfrm>
            <a:off x="7178040" y="1783080"/>
            <a:ext cx="4480560" cy="2011680"/>
          </a:xfrm>
          <a:prstGeom prst="roundRect">
            <a:avLst>
              <a:gd name="adj" fmla="val 6364"/>
            </a:avLst>
          </a:prstGeom>
          <a:solidFill>
            <a:srgbClr val="1C1A36"/>
          </a:solidFill>
          <a:ln w="12700">
            <a:solidFill>
              <a:srgbClr val="2E2A4F"/>
            </a:solidFill>
            <a:prstDash val="solid"/>
          </a:ln>
        </p:spPr>
      </p:sp>
      <p:sp>
        <p:nvSpPr>
          <p:cNvPr id="25" name="Text 23"/>
          <p:cNvSpPr txBox="1"/>
          <p:nvPr/>
        </p:nvSpPr>
        <p:spPr>
          <a:xfrm>
            <a:off x="7452360" y="1920240"/>
            <a:ext cx="3931920" cy="320040"/>
          </a:xfrm>
          <a:prstGeom prst="rect">
            <a:avLst/>
          </a:prstGeom>
          <a:noFill/>
          <a:ln/>
        </p:spPr>
        <p:txBody>
          <a:bodyPr wrap="square" lIns="0" tIns="0" rIns="0" bIns="0" rtlCol="0" anchor="ctr"/>
          <a:lstStyle/>
          <a:p>
            <a:pPr indent="0" marL="0">
              <a:buNone/>
            </a:pPr>
            <a:r>
              <a:rPr lang="en-US" sz="1400" b="1" dirty="0">
                <a:solidFill>
                  <a:srgbClr val="8B5CF6"/>
                </a:solidFill>
                <a:latin typeface="Arial" pitchFamily="34" charset="0"/>
                <a:ea typeface="Arial" pitchFamily="34" charset="-122"/>
                <a:cs typeface="Arial" pitchFamily="34" charset="-120"/>
              </a:rPr>
              <a:t>Final score</a:t>
            </a:r>
            <a:endParaRPr lang="en-US" sz="1400" dirty="0"/>
          </a:p>
        </p:txBody>
      </p:sp>
      <p:sp>
        <p:nvSpPr>
          <p:cNvPr id="26" name="Text 24"/>
          <p:cNvSpPr txBox="1"/>
          <p:nvPr/>
        </p:nvSpPr>
        <p:spPr>
          <a:xfrm>
            <a:off x="7452360" y="2331720"/>
            <a:ext cx="4023360" cy="914400"/>
          </a:xfrm>
          <a:prstGeom prst="rect">
            <a:avLst/>
          </a:prstGeom>
          <a:noFill/>
          <a:ln/>
        </p:spPr>
        <p:txBody>
          <a:bodyPr wrap="square" lIns="0" tIns="0" rIns="0" bIns="0" rtlCol="0" anchor="t"/>
          <a:lstStyle/>
          <a:p>
            <a:pPr indent="0" marL="0">
              <a:buNone/>
            </a:pPr>
            <a:r>
              <a:rPr lang="en-US" sz="2400" b="1" dirty="0">
                <a:solidFill>
                  <a:srgbClr val="22D3EE"/>
                </a:solidFill>
                <a:latin typeface="Arial" pitchFamily="34" charset="0"/>
                <a:ea typeface="Arial" pitchFamily="34" charset="-122"/>
                <a:cs typeface="Arial" pitchFamily="34" charset="-120"/>
              </a:rPr>
              <a:t>0.65</a:t>
            </a:r>
            <a:pPr indent="0" marL="0">
              <a:buNone/>
            </a:pPr>
            <a:r>
              <a:rPr lang="en-US" sz="2400" dirty="0">
                <a:solidFill>
                  <a:srgbClr val="F1F0FA"/>
                </a:solidFill>
                <a:latin typeface="Arial" pitchFamily="34" charset="0"/>
                <a:ea typeface="Arial" pitchFamily="34" charset="-122"/>
                <a:cs typeface="Arial" pitchFamily="34" charset="-120"/>
              </a:rPr>
              <a:t> × image-match</a:t>
            </a:r>
            <a:endParaRPr lang="en-US" sz="2400" dirty="0"/>
          </a:p>
          <a:p>
            <a:pPr indent="0" marL="0">
              <a:buNone/>
            </a:pPr>
            <a:r>
              <a:rPr lang="en-US" sz="2400" b="1" dirty="0">
                <a:solidFill>
                  <a:srgbClr val="F472B6"/>
                </a:solidFill>
                <a:latin typeface="Arial" pitchFamily="34" charset="0"/>
                <a:ea typeface="Arial" pitchFamily="34" charset="-122"/>
                <a:cs typeface="Arial" pitchFamily="34" charset="-120"/>
              </a:rPr>
              <a:t>+ 0.35</a:t>
            </a:r>
            <a:pPr indent="0" marL="0">
              <a:buNone/>
            </a:pPr>
            <a:r>
              <a:rPr lang="en-US" sz="2400" dirty="0">
                <a:solidFill>
                  <a:srgbClr val="F1F0FA"/>
                </a:solidFill>
                <a:latin typeface="Arial" pitchFamily="34" charset="0"/>
                <a:ea typeface="Arial" pitchFamily="34" charset="-122"/>
                <a:cs typeface="Arial" pitchFamily="34" charset="-120"/>
              </a:rPr>
              <a:t> × confidence</a:t>
            </a:r>
            <a:endParaRPr lang="en-US" sz="2400" dirty="0"/>
          </a:p>
        </p:txBody>
      </p:sp>
      <p:sp>
        <p:nvSpPr>
          <p:cNvPr id="27" name="Text 25"/>
          <p:cNvSpPr txBox="1"/>
          <p:nvPr/>
        </p:nvSpPr>
        <p:spPr>
          <a:xfrm>
            <a:off x="7452360" y="3200400"/>
            <a:ext cx="4023360" cy="502920"/>
          </a:xfrm>
          <a:prstGeom prst="rect">
            <a:avLst/>
          </a:prstGeom>
          <a:noFill/>
          <a:ln/>
        </p:spPr>
        <p:txBody>
          <a:bodyPr wrap="square" lIns="0" tIns="0" rIns="0" bIns="0" rtlCol="0" anchor="ctr"/>
          <a:lstStyle/>
          <a:p>
            <a:pPr indent="0" marL="0">
              <a:buNone/>
            </a:pPr>
            <a:r>
              <a:rPr lang="en-US" sz="1200" i="1" dirty="0">
                <a:solidFill>
                  <a:srgbClr val="A9A7C0"/>
                </a:solidFill>
                <a:latin typeface="Calibri" pitchFamily="34" charset="0"/>
                <a:ea typeface="Calibri" pitchFamily="34" charset="-122"/>
                <a:cs typeface="Calibri" pitchFamily="34" charset="-120"/>
              </a:rPr>
              <a:t>Fluent and grounded in the picture: the model writes drafts, a second model fact-checks them.</a:t>
            </a:r>
            <a:endParaRPr lang="en-US" sz="1200" dirty="0"/>
          </a:p>
        </p:txBody>
      </p:sp>
      <p:sp>
        <p:nvSpPr>
          <p:cNvPr id="28" name="Shape 26"/>
          <p:cNvSpPr/>
          <p:nvPr/>
        </p:nvSpPr>
        <p:spPr>
          <a:xfrm>
            <a:off x="7178040" y="3977640"/>
            <a:ext cx="4480560" cy="2331720"/>
          </a:xfrm>
          <a:prstGeom prst="roundRect">
            <a:avLst>
              <a:gd name="adj" fmla="val 5490"/>
            </a:avLst>
          </a:prstGeom>
          <a:solidFill>
            <a:srgbClr val="15132A"/>
          </a:solidFill>
          <a:ln w="12700">
            <a:solidFill>
              <a:srgbClr val="2E2A4F"/>
            </a:solidFill>
            <a:prstDash val="solid"/>
          </a:ln>
        </p:spPr>
      </p:sp>
      <p:sp>
        <p:nvSpPr>
          <p:cNvPr id="29" name="Text 27"/>
          <p:cNvSpPr txBox="1"/>
          <p:nvPr/>
        </p:nvSpPr>
        <p:spPr>
          <a:xfrm>
            <a:off x="7406640" y="4069080"/>
            <a:ext cx="4023360" cy="320040"/>
          </a:xfrm>
          <a:prstGeom prst="rect">
            <a:avLst/>
          </a:prstGeom>
          <a:noFill/>
          <a:ln/>
        </p:spPr>
        <p:txBody>
          <a:bodyPr wrap="square" lIns="0" tIns="0" rIns="0" bIns="0" rtlCol="0" anchor="ctr"/>
          <a:lstStyle/>
          <a:p>
            <a:pPr indent="0" marL="0">
              <a:buNone/>
            </a:pPr>
            <a:r>
              <a:rPr lang="en-US" sz="1300" b="1" dirty="0">
                <a:solidFill>
                  <a:srgbClr val="F1F0FA"/>
                </a:solidFill>
                <a:latin typeface="Arial" pitchFamily="34" charset="0"/>
                <a:ea typeface="Arial" pitchFamily="34" charset="-122"/>
                <a:cs typeface="Arial" pitchFamily="34" charset="-120"/>
              </a:rPr>
              <a:t>Real example: re-ranked drafts</a:t>
            </a:r>
            <a:endParaRPr lang="en-US" sz="1300" dirty="0"/>
          </a:p>
        </p:txBody>
      </p:sp>
      <p:sp>
        <p:nvSpPr>
          <p:cNvPr id="30" name="Text 28"/>
          <p:cNvSpPr txBox="1"/>
          <p:nvPr/>
        </p:nvSpPr>
        <p:spPr>
          <a:xfrm>
            <a:off x="7406640" y="4480560"/>
            <a:ext cx="3429000" cy="365760"/>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1. a woman sitting on a beach next to a dog</a:t>
            </a:r>
            <a:endParaRPr lang="en-US" sz="1150" dirty="0"/>
          </a:p>
        </p:txBody>
      </p:sp>
      <p:sp>
        <p:nvSpPr>
          <p:cNvPr id="31" name="Text 29"/>
          <p:cNvSpPr txBox="1"/>
          <p:nvPr/>
        </p:nvSpPr>
        <p:spPr>
          <a:xfrm>
            <a:off x="10835640" y="4480560"/>
            <a:ext cx="594360" cy="365760"/>
          </a:xfrm>
          <a:prstGeom prst="rect">
            <a:avLst/>
          </a:prstGeom>
          <a:noFill/>
          <a:ln/>
        </p:spPr>
        <p:txBody>
          <a:bodyPr wrap="square" lIns="0" tIns="0" rIns="0" bIns="0" rtlCol="0" anchor="ctr"/>
          <a:lstStyle/>
          <a:p>
            <a:pPr algn="r" indent="0" marL="0">
              <a:buNone/>
            </a:pPr>
            <a:r>
              <a:rPr lang="en-US" sz="1200" b="1" dirty="0">
                <a:solidFill>
                  <a:srgbClr val="22D3EE"/>
                </a:solidFill>
                <a:latin typeface="Courier New" pitchFamily="34" charset="0"/>
                <a:ea typeface="Courier New" pitchFamily="34" charset="-122"/>
                <a:cs typeface="Courier New" pitchFamily="34" charset="-120"/>
              </a:rPr>
              <a:t>84.2</a:t>
            </a:r>
            <a:endParaRPr lang="en-US" sz="1200" dirty="0"/>
          </a:p>
        </p:txBody>
      </p:sp>
      <p:sp>
        <p:nvSpPr>
          <p:cNvPr id="32" name="Text 30"/>
          <p:cNvSpPr txBox="1"/>
          <p:nvPr/>
        </p:nvSpPr>
        <p:spPr>
          <a:xfrm>
            <a:off x="7406640" y="4910328"/>
            <a:ext cx="3429000" cy="365760"/>
          </a:xfrm>
          <a:prstGeom prst="rect">
            <a:avLst/>
          </a:prstGeom>
          <a:noFill/>
          <a:ln/>
        </p:spPr>
        <p:txBody>
          <a:bodyPr wrap="square" lIns="0" tIns="0" rIns="0" bIns="0" rtlCol="0" anchor="ctr"/>
          <a:lstStyle/>
          <a:p>
            <a:pPr indent="0" marL="0">
              <a:buNone/>
            </a:pPr>
            <a:r>
              <a:rPr lang="en-US" sz="1150" dirty="0">
                <a:solidFill>
                  <a:srgbClr val="A9A7C0"/>
                </a:solidFill>
                <a:latin typeface="Calibri" pitchFamily="34" charset="0"/>
                <a:ea typeface="Calibri" pitchFamily="34" charset="-122"/>
                <a:cs typeface="Calibri" pitchFamily="34" charset="-120"/>
              </a:rPr>
              <a:t>2. a woman sitting on the beach with a dog</a:t>
            </a:r>
            <a:endParaRPr lang="en-US" sz="1150" dirty="0"/>
          </a:p>
        </p:txBody>
      </p:sp>
      <p:sp>
        <p:nvSpPr>
          <p:cNvPr id="33" name="Text 31"/>
          <p:cNvSpPr txBox="1"/>
          <p:nvPr/>
        </p:nvSpPr>
        <p:spPr>
          <a:xfrm>
            <a:off x="10835640" y="4910328"/>
            <a:ext cx="594360" cy="365760"/>
          </a:xfrm>
          <a:prstGeom prst="rect">
            <a:avLst/>
          </a:prstGeom>
          <a:noFill/>
          <a:ln/>
        </p:spPr>
        <p:txBody>
          <a:bodyPr wrap="square" lIns="0" tIns="0" rIns="0" bIns="0" rtlCol="0" anchor="ctr"/>
          <a:lstStyle/>
          <a:p>
            <a:pPr algn="r" indent="0" marL="0">
              <a:buNone/>
            </a:pPr>
            <a:r>
              <a:rPr lang="en-US" sz="1200" dirty="0">
                <a:solidFill>
                  <a:srgbClr val="A9A7C0"/>
                </a:solidFill>
                <a:latin typeface="Courier New" pitchFamily="34" charset="0"/>
                <a:ea typeface="Courier New" pitchFamily="34" charset="-122"/>
                <a:cs typeface="Courier New" pitchFamily="34" charset="-120"/>
              </a:rPr>
              <a:t>84.0</a:t>
            </a:r>
            <a:endParaRPr lang="en-US" sz="1200" dirty="0"/>
          </a:p>
        </p:txBody>
      </p:sp>
      <p:sp>
        <p:nvSpPr>
          <p:cNvPr id="34" name="Text 32"/>
          <p:cNvSpPr txBox="1"/>
          <p:nvPr/>
        </p:nvSpPr>
        <p:spPr>
          <a:xfrm>
            <a:off x="7406640" y="5340096"/>
            <a:ext cx="3429000" cy="365760"/>
          </a:xfrm>
          <a:prstGeom prst="rect">
            <a:avLst/>
          </a:prstGeom>
          <a:noFill/>
          <a:ln/>
        </p:spPr>
        <p:txBody>
          <a:bodyPr wrap="square" lIns="0" tIns="0" rIns="0" bIns="0" rtlCol="0" anchor="ctr"/>
          <a:lstStyle/>
          <a:p>
            <a:pPr indent="0" marL="0">
              <a:buNone/>
            </a:pPr>
            <a:r>
              <a:rPr lang="en-US" sz="1150" dirty="0">
                <a:solidFill>
                  <a:srgbClr val="A9A7C0"/>
                </a:solidFill>
                <a:latin typeface="Calibri" pitchFamily="34" charset="0"/>
                <a:ea typeface="Calibri" pitchFamily="34" charset="-122"/>
                <a:cs typeface="Calibri" pitchFamily="34" charset="-120"/>
              </a:rPr>
              <a:t>3. a woman sitting on a beach with a dog</a:t>
            </a:r>
            <a:endParaRPr lang="en-US" sz="1150" dirty="0"/>
          </a:p>
        </p:txBody>
      </p:sp>
      <p:sp>
        <p:nvSpPr>
          <p:cNvPr id="35" name="Text 33"/>
          <p:cNvSpPr txBox="1"/>
          <p:nvPr/>
        </p:nvSpPr>
        <p:spPr>
          <a:xfrm>
            <a:off x="10835640" y="5340096"/>
            <a:ext cx="594360" cy="365760"/>
          </a:xfrm>
          <a:prstGeom prst="rect">
            <a:avLst/>
          </a:prstGeom>
          <a:noFill/>
          <a:ln/>
        </p:spPr>
        <p:txBody>
          <a:bodyPr wrap="square" lIns="0" tIns="0" rIns="0" bIns="0" rtlCol="0" anchor="ctr"/>
          <a:lstStyle/>
          <a:p>
            <a:pPr algn="r" indent="0" marL="0">
              <a:buNone/>
            </a:pPr>
            <a:r>
              <a:rPr lang="en-US" sz="1200" dirty="0">
                <a:solidFill>
                  <a:srgbClr val="A9A7C0"/>
                </a:solidFill>
                <a:latin typeface="Courier New" pitchFamily="34" charset="0"/>
                <a:ea typeface="Courier New" pitchFamily="34" charset="-122"/>
                <a:cs typeface="Courier New" pitchFamily="34" charset="-120"/>
              </a:rPr>
              <a:t>83.8</a:t>
            </a:r>
            <a:endParaRPr lang="en-US" sz="1200" dirty="0"/>
          </a:p>
        </p:txBody>
      </p:sp>
      <p:sp>
        <p:nvSpPr>
          <p:cNvPr id="36" name="Text 34"/>
          <p:cNvSpPr txBox="1"/>
          <p:nvPr/>
        </p:nvSpPr>
        <p:spPr>
          <a:xfrm>
            <a:off x="7406640" y="5769864"/>
            <a:ext cx="3429000" cy="365760"/>
          </a:xfrm>
          <a:prstGeom prst="rect">
            <a:avLst/>
          </a:prstGeom>
          <a:noFill/>
          <a:ln/>
        </p:spPr>
        <p:txBody>
          <a:bodyPr wrap="square" lIns="0" tIns="0" rIns="0" bIns="0" rtlCol="0" anchor="ctr"/>
          <a:lstStyle/>
          <a:p>
            <a:pPr indent="0" marL="0">
              <a:buNone/>
            </a:pPr>
            <a:r>
              <a:rPr lang="en-US" sz="1150" dirty="0">
                <a:solidFill>
                  <a:srgbClr val="A9A7C0"/>
                </a:solidFill>
                <a:latin typeface="Calibri" pitchFamily="34" charset="0"/>
                <a:ea typeface="Calibri" pitchFamily="34" charset="-122"/>
                <a:cs typeface="Calibri" pitchFamily="34" charset="-120"/>
              </a:rPr>
              <a:t>4. a woman and her dog on the beach</a:t>
            </a:r>
            <a:endParaRPr lang="en-US" sz="1150" dirty="0"/>
          </a:p>
        </p:txBody>
      </p:sp>
      <p:sp>
        <p:nvSpPr>
          <p:cNvPr id="37" name="Text 35"/>
          <p:cNvSpPr txBox="1"/>
          <p:nvPr/>
        </p:nvSpPr>
        <p:spPr>
          <a:xfrm>
            <a:off x="10835640" y="5769864"/>
            <a:ext cx="594360" cy="365760"/>
          </a:xfrm>
          <a:prstGeom prst="rect">
            <a:avLst/>
          </a:prstGeom>
          <a:noFill/>
          <a:ln/>
        </p:spPr>
        <p:txBody>
          <a:bodyPr wrap="square" lIns="0" tIns="0" rIns="0" bIns="0" rtlCol="0" anchor="ctr"/>
          <a:lstStyle/>
          <a:p>
            <a:pPr algn="r" indent="0" marL="0">
              <a:buNone/>
            </a:pPr>
            <a:r>
              <a:rPr lang="en-US" sz="1200" dirty="0">
                <a:solidFill>
                  <a:srgbClr val="A9A7C0"/>
                </a:solidFill>
                <a:latin typeface="Courier New" pitchFamily="34" charset="0"/>
                <a:ea typeface="Courier New" pitchFamily="34" charset="-122"/>
                <a:cs typeface="Courier New" pitchFamily="34" charset="-120"/>
              </a:rPr>
              <a:t>81.0</a:t>
            </a:r>
            <a:endParaRPr lang="en-US" sz="1200" dirty="0"/>
          </a:p>
        </p:txBody>
      </p:sp>
      <p:sp>
        <p:nvSpPr>
          <p:cNvPr id="38" name="Text 36"/>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b="1" dirty="0">
                <a:solidFill>
                  <a:srgbClr val="A9A7C0"/>
                </a:solidFill>
                <a:latin typeface="Calibri" pitchFamily="34" charset="0"/>
                <a:ea typeface="Calibri" pitchFamily="34" charset="-122"/>
                <a:cs typeface="Calibri" pitchFamily="34" charset="-120"/>
              </a:rPr>
              <a:t>PixelProse</a:t>
            </a:r>
            <a:pPr algn="r" indent="0" marL="0">
              <a:buNone/>
            </a:pPr>
            <a:r>
              <a:rPr lang="en-US" sz="1000" dirty="0">
                <a:solidFill>
                  <a:srgbClr val="74718F"/>
                </a:solidFill>
                <a:latin typeface="Calibri" pitchFamily="34" charset="0"/>
                <a:ea typeface="Calibri" pitchFamily="34" charset="-122"/>
                <a:cs typeface="Calibri" pitchFamily="34" charset="-120"/>
              </a:rPr>
              <a:t>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indent="0" marL="0">
              <a:buNone/>
            </a:pPr>
            <a:r>
              <a:rPr lang="en-US" sz="1100" b="1" spc="300" kern="0" dirty="0">
                <a:solidFill>
                  <a:srgbClr val="8B5CF6"/>
                </a:solidFill>
                <a:latin typeface="Arial" pitchFamily="34" charset="0"/>
                <a:ea typeface="Arial" pitchFamily="34" charset="-122"/>
                <a:cs typeface="Arial" pitchFamily="34" charset="-120"/>
              </a:rPr>
              <a:t>EXPLAINABLE AI</a:t>
            </a:r>
            <a:endParaRPr lang="en-US" sz="1100" dirty="0"/>
          </a:p>
        </p:txBody>
      </p:sp>
      <p:sp>
        <p:nvSpPr>
          <p:cNvPr id="3" name="Text 1"/>
          <p:cNvSpPr txBox="1"/>
          <p:nvPr/>
        </p:nvSpPr>
        <p:spPr>
          <a:xfrm>
            <a:off x="548640" y="777240"/>
            <a:ext cx="11094415" cy="777240"/>
          </a:xfrm>
          <a:prstGeom prst="rect">
            <a:avLst/>
          </a:prstGeom>
          <a:noFill/>
          <a:ln/>
        </p:spPr>
        <p:txBody>
          <a:bodyPr wrap="square" lIns="0" tIns="0" rIns="0" bIns="0" rtlCol="0" anchor="t"/>
          <a:lstStyle/>
          <a:p>
            <a:pPr indent="0" marL="0">
              <a:buNone/>
            </a:pPr>
            <a:r>
              <a:rPr lang="en-US" sz="3400" b="1" dirty="0">
                <a:solidFill>
                  <a:srgbClr val="F1F0FA"/>
                </a:solidFill>
                <a:latin typeface="Arial" pitchFamily="34" charset="0"/>
                <a:ea typeface="Arial" pitchFamily="34" charset="-122"/>
                <a:cs typeface="Arial" pitchFamily="34" charset="-120"/>
              </a:rPr>
              <a:t>Where did the model look?</a:t>
            </a:r>
            <a:endParaRPr lang="en-US" sz="3400" dirty="0"/>
          </a:p>
        </p:txBody>
      </p:sp>
      <p:sp>
        <p:nvSpPr>
          <p:cNvPr id="4" name="Shape 2"/>
          <p:cNvSpPr/>
          <p:nvPr/>
        </p:nvSpPr>
        <p:spPr>
          <a:xfrm>
            <a:off x="493776" y="1845228"/>
            <a:ext cx="3675888" cy="2527464"/>
          </a:xfrm>
          <a:prstGeom prst="roundRect">
            <a:avLst>
              <a:gd name="adj" fmla="val 4341"/>
            </a:avLst>
          </a:prstGeom>
          <a:solidFill>
            <a:srgbClr val="1C1A36"/>
          </a:solidFill>
          <a:ln w="12700">
            <a:solidFill>
              <a:srgbClr val="2E2A4F"/>
            </a:solidFill>
            <a:prstDash val="solid"/>
          </a:ln>
          <a:effectLst>
            <a:outerShdw sx="100000" sy="100000" kx="0" ky="0" algn="bl" rotWithShape="0" blurRad="228600" dist="76200" dir="5400000">
              <a:srgbClr val="000000">
                <a:alpha val="45000"/>
              </a:srgbClr>
            </a:outerShdw>
          </a:effectLst>
        </p:spPr>
      </p:sp>
      <p:pic>
        <p:nvPicPr>
          <p:cNvPr id="5" name="Image 0" descr="/home/user/AAI/docs/images/heat_dog.jpg">    </p:cNvPr>
          <p:cNvPicPr>
            <a:picLocks noChangeAspect="1"/>
          </p:cNvPicPr>
          <p:nvPr/>
        </p:nvPicPr>
        <p:blipFill>
          <a:blip r:embed="rId2"/>
          <a:stretch>
            <a:fillRect/>
          </a:stretch>
        </p:blipFill>
        <p:spPr>
          <a:xfrm>
            <a:off x="548640" y="1900092"/>
            <a:ext cx="3566160" cy="2417736"/>
          </a:xfrm>
          <a:prstGeom prst="rect">
            <a:avLst/>
          </a:prstGeom>
        </p:spPr>
      </p:pic>
      <p:sp>
        <p:nvSpPr>
          <p:cNvPr id="6" name="Text 3"/>
          <p:cNvSpPr txBox="1"/>
          <p:nvPr/>
        </p:nvSpPr>
        <p:spPr>
          <a:xfrm>
            <a:off x="548640" y="4427556"/>
            <a:ext cx="3566160" cy="320040"/>
          </a:xfrm>
          <a:prstGeom prst="rect">
            <a:avLst/>
          </a:prstGeom>
          <a:noFill/>
          <a:ln/>
        </p:spPr>
        <p:txBody>
          <a:bodyPr wrap="square" lIns="0" tIns="0" rIns="0" bIns="0" rtlCol="0" anchor="ctr"/>
          <a:lstStyle/>
          <a:p>
            <a:pPr algn="ctr" indent="0" marL="0">
              <a:buNone/>
            </a:pPr>
            <a:r>
              <a:rPr lang="en-US" sz="1600" b="1" dirty="0">
                <a:solidFill>
                  <a:srgbClr val="22D3EE"/>
                </a:solidFill>
                <a:latin typeface="Arial" pitchFamily="34" charset="0"/>
                <a:ea typeface="Arial" pitchFamily="34" charset="-122"/>
                <a:cs typeface="Arial" pitchFamily="34" charset="-120"/>
              </a:rPr>
              <a:t>“dog”</a:t>
            </a:r>
            <a:endParaRPr lang="en-US" sz="1600" dirty="0"/>
          </a:p>
        </p:txBody>
      </p:sp>
      <p:sp>
        <p:nvSpPr>
          <p:cNvPr id="7" name="Shape 4"/>
          <p:cNvSpPr/>
          <p:nvPr/>
        </p:nvSpPr>
        <p:spPr>
          <a:xfrm>
            <a:off x="4334256" y="1845228"/>
            <a:ext cx="3675888" cy="2527464"/>
          </a:xfrm>
          <a:prstGeom prst="roundRect">
            <a:avLst>
              <a:gd name="adj" fmla="val 4341"/>
            </a:avLst>
          </a:prstGeom>
          <a:solidFill>
            <a:srgbClr val="1C1A36"/>
          </a:solidFill>
          <a:ln w="12700">
            <a:solidFill>
              <a:srgbClr val="2E2A4F"/>
            </a:solidFill>
            <a:prstDash val="solid"/>
          </a:ln>
          <a:effectLst>
            <a:outerShdw sx="100000" sy="100000" kx="0" ky="0" algn="bl" rotWithShape="0" blurRad="228600" dist="76200" dir="5400000">
              <a:srgbClr val="000000">
                <a:alpha val="45000"/>
              </a:srgbClr>
            </a:outerShdw>
          </a:effectLst>
        </p:spPr>
      </p:sp>
      <p:pic>
        <p:nvPicPr>
          <p:cNvPr id="8" name="Image 1" descr="/home/user/AAI/docs/images/heat_woman.jpg">    </p:cNvPr>
          <p:cNvPicPr>
            <a:picLocks noChangeAspect="1"/>
          </p:cNvPicPr>
          <p:nvPr/>
        </p:nvPicPr>
        <p:blipFill>
          <a:blip r:embed="rId3"/>
          <a:stretch>
            <a:fillRect/>
          </a:stretch>
        </p:blipFill>
        <p:spPr>
          <a:xfrm>
            <a:off x="4389120" y="1900092"/>
            <a:ext cx="3566160" cy="2417736"/>
          </a:xfrm>
          <a:prstGeom prst="rect">
            <a:avLst/>
          </a:prstGeom>
        </p:spPr>
      </p:pic>
      <p:sp>
        <p:nvSpPr>
          <p:cNvPr id="9" name="Text 5"/>
          <p:cNvSpPr txBox="1"/>
          <p:nvPr/>
        </p:nvSpPr>
        <p:spPr>
          <a:xfrm>
            <a:off x="4389120" y="4427556"/>
            <a:ext cx="3566160" cy="320040"/>
          </a:xfrm>
          <a:prstGeom prst="rect">
            <a:avLst/>
          </a:prstGeom>
          <a:noFill/>
          <a:ln/>
        </p:spPr>
        <p:txBody>
          <a:bodyPr wrap="square" lIns="0" tIns="0" rIns="0" bIns="0" rtlCol="0" anchor="ctr"/>
          <a:lstStyle/>
          <a:p>
            <a:pPr algn="ctr" indent="0" marL="0">
              <a:buNone/>
            </a:pPr>
            <a:r>
              <a:rPr lang="en-US" sz="1600" b="1" dirty="0">
                <a:solidFill>
                  <a:srgbClr val="F472B6"/>
                </a:solidFill>
                <a:latin typeface="Arial" pitchFamily="34" charset="0"/>
                <a:ea typeface="Arial" pitchFamily="34" charset="-122"/>
                <a:cs typeface="Arial" pitchFamily="34" charset="-120"/>
              </a:rPr>
              <a:t>“woman”</a:t>
            </a:r>
            <a:endParaRPr lang="en-US" sz="1600" dirty="0"/>
          </a:p>
        </p:txBody>
      </p:sp>
      <p:sp>
        <p:nvSpPr>
          <p:cNvPr id="10" name="Shape 6"/>
          <p:cNvSpPr/>
          <p:nvPr/>
        </p:nvSpPr>
        <p:spPr>
          <a:xfrm>
            <a:off x="8321040" y="1783080"/>
            <a:ext cx="3337560" cy="4526280"/>
          </a:xfrm>
          <a:prstGeom prst="roundRect">
            <a:avLst>
              <a:gd name="adj" fmla="val 3836"/>
            </a:avLst>
          </a:prstGeom>
          <a:solidFill>
            <a:srgbClr val="1C1A36"/>
          </a:solidFill>
          <a:ln w="12700">
            <a:solidFill>
              <a:srgbClr val="2E2A4F"/>
            </a:solidFill>
            <a:prstDash val="solid"/>
          </a:ln>
        </p:spPr>
      </p:sp>
      <p:sp>
        <p:nvSpPr>
          <p:cNvPr id="11" name="Text 7"/>
          <p:cNvSpPr txBox="1"/>
          <p:nvPr/>
        </p:nvSpPr>
        <p:spPr>
          <a:xfrm>
            <a:off x="8549640" y="1920240"/>
            <a:ext cx="2926080" cy="365760"/>
          </a:xfrm>
          <a:prstGeom prst="rect">
            <a:avLst/>
          </a:prstGeom>
          <a:noFill/>
          <a:ln/>
        </p:spPr>
        <p:txBody>
          <a:bodyPr wrap="square" lIns="0" tIns="0" rIns="0" bIns="0" rtlCol="0" anchor="ctr"/>
          <a:lstStyle/>
          <a:p>
            <a:pPr indent="0" marL="0">
              <a:buNone/>
            </a:pPr>
            <a:r>
              <a:rPr lang="en-US" sz="1500" b="1" dirty="0">
                <a:solidFill>
                  <a:srgbClr val="F1F0FA"/>
                </a:solidFill>
                <a:latin typeface="Arial" pitchFamily="34" charset="0"/>
                <a:ea typeface="Arial" pitchFamily="34" charset="-122"/>
                <a:cs typeface="Arial" pitchFamily="34" charset="-120"/>
              </a:rPr>
              <a:t>Grad-CAM on cross-attention</a:t>
            </a:r>
            <a:endParaRPr lang="en-US" sz="1500" dirty="0"/>
          </a:p>
        </p:txBody>
      </p:sp>
      <p:sp>
        <p:nvSpPr>
          <p:cNvPr id="12" name="Text 8"/>
          <p:cNvSpPr txBox="1"/>
          <p:nvPr/>
        </p:nvSpPr>
        <p:spPr>
          <a:xfrm>
            <a:off x="8549640" y="2331720"/>
            <a:ext cx="2971800" cy="2651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A9A7C0"/>
                </a:solidFill>
                <a:latin typeface="Calibri" pitchFamily="34" charset="0"/>
                <a:ea typeface="Calibri" pitchFamily="34" charset="-122"/>
                <a:cs typeface="Calibri" pitchFamily="34" charset="-120"/>
              </a:rPr>
              <a:t>Take the attention between each word and the 576 image patches (layer 8).</a:t>
            </a:r>
            <a:endParaRPr lang="en-US" sz="1300" dirty="0"/>
          </a:p>
          <a:p>
            <a:pPr marL="342900" indent="-342900">
              <a:spcAft>
                <a:spcPts val="800"/>
              </a:spcAft>
              <a:buSzPct val="100000"/>
              <a:buChar char="•"/>
            </a:pPr>
            <a:r>
              <a:rPr lang="en-US" sz="1300" dirty="0">
                <a:solidFill>
                  <a:srgbClr val="A9A7C0"/>
                </a:solidFill>
                <a:latin typeface="Calibri" pitchFamily="34" charset="0"/>
                <a:ea typeface="Calibri" pitchFamily="34" charset="-122"/>
                <a:cs typeface="Calibri" pitchFamily="34" charset="-120"/>
              </a:rPr>
              <a:t>Weight it by the gradient of the match score (how much it mattered).</a:t>
            </a:r>
            <a:endParaRPr lang="en-US" sz="1300" dirty="0"/>
          </a:p>
          <a:p>
            <a:pPr marL="342900" indent="-342900">
              <a:spcAft>
                <a:spcPts val="800"/>
              </a:spcAft>
              <a:buSzPct val="100000"/>
              <a:buChar char="•"/>
            </a:pPr>
            <a:r>
              <a:rPr lang="en-US" sz="1300" dirty="0">
                <a:solidFill>
                  <a:srgbClr val="A9A7C0"/>
                </a:solidFill>
                <a:latin typeface="Calibri" pitchFamily="34" charset="0"/>
                <a:ea typeface="Calibri" pitchFamily="34" charset="-122"/>
                <a:cs typeface="Calibri" pitchFamily="34" charset="-120"/>
              </a:rPr>
              <a:t>Keep the positive part → a 24 × 24 heatmap per word.</a:t>
            </a:r>
            <a:endParaRPr lang="en-US" sz="1300" dirty="0"/>
          </a:p>
          <a:p>
            <a:pPr marL="342900" indent="-342900">
              <a:spcAft>
                <a:spcPts val="800"/>
              </a:spcAft>
              <a:buSzPct val="100000"/>
              <a:buChar char="•"/>
            </a:pPr>
            <a:r>
              <a:rPr lang="en-US" sz="1300" dirty="0">
                <a:solidFill>
                  <a:srgbClr val="A9A7C0"/>
                </a:solidFill>
                <a:latin typeface="Calibri" pitchFamily="34" charset="0"/>
                <a:ea typeface="Calibri" pitchFamily="34" charset="-122"/>
                <a:cs typeface="Calibri" pitchFamily="34" charset="-120"/>
              </a:rPr>
              <a:t>Rendered in the browser with a colour map; hover a word or press Play.</a:t>
            </a:r>
            <a:endParaRPr lang="en-US" sz="1300" dirty="0"/>
          </a:p>
        </p:txBody>
      </p:sp>
      <p:sp>
        <p:nvSpPr>
          <p:cNvPr id="13" name="Shape 9"/>
          <p:cNvSpPr/>
          <p:nvPr/>
        </p:nvSpPr>
        <p:spPr>
          <a:xfrm>
            <a:off x="8549640" y="5120640"/>
            <a:ext cx="2880360" cy="960120"/>
          </a:xfrm>
          <a:prstGeom prst="roundRect">
            <a:avLst>
              <a:gd name="adj" fmla="val 7619"/>
            </a:avLst>
          </a:prstGeom>
          <a:solidFill>
            <a:srgbClr val="0B0A14"/>
          </a:solidFill>
          <a:ln w="12700">
            <a:solidFill>
              <a:srgbClr val="2E2A4F"/>
            </a:solidFill>
            <a:prstDash val="solid"/>
          </a:ln>
        </p:spPr>
      </p:sp>
      <p:sp>
        <p:nvSpPr>
          <p:cNvPr id="14" name="Text 10"/>
          <p:cNvSpPr txBox="1"/>
          <p:nvPr/>
        </p:nvSpPr>
        <p:spPr>
          <a:xfrm>
            <a:off x="8549640" y="5120640"/>
            <a:ext cx="2880360" cy="960120"/>
          </a:xfrm>
          <a:prstGeom prst="rect">
            <a:avLst/>
          </a:prstGeom>
          <a:noFill/>
          <a:ln/>
        </p:spPr>
        <p:txBody>
          <a:bodyPr wrap="square" lIns="0" tIns="0" rIns="0" bIns="0" rtlCol="0" anchor="ctr"/>
          <a:lstStyle/>
          <a:p>
            <a:pPr algn="ctr" indent="0" marL="0">
              <a:buNone/>
            </a:pPr>
            <a:r>
              <a:rPr lang="en-US" sz="1200" b="1" dirty="0">
                <a:solidFill>
                  <a:srgbClr val="22D3EE"/>
                </a:solidFill>
                <a:latin typeface="Courier New" pitchFamily="34" charset="0"/>
                <a:ea typeface="Courier New" pitchFamily="34" charset="-122"/>
                <a:cs typeface="Courier New" pitchFamily="34" charset="-120"/>
              </a:rPr>
              <a:t>CAM = mean_heads( A ⊙ ReLU(∂s/∂A) )</a:t>
            </a:r>
            <a:endParaRPr lang="en-US" sz="1200" dirty="0"/>
          </a:p>
        </p:txBody>
      </p:sp>
      <p:sp>
        <p:nvSpPr>
          <p:cNvPr id="15" name="Text 11"/>
          <p:cNvSpPr txBox="1"/>
          <p:nvPr/>
        </p:nvSpPr>
        <p:spPr>
          <a:xfrm>
            <a:off x="548640" y="5166360"/>
            <a:ext cx="7406640" cy="548640"/>
          </a:xfrm>
          <a:prstGeom prst="rect">
            <a:avLst/>
          </a:prstGeom>
          <a:noFill/>
          <a:ln/>
        </p:spPr>
        <p:txBody>
          <a:bodyPr wrap="square" lIns="0" tIns="0" rIns="0" bIns="0" rtlCol="0" anchor="ctr"/>
          <a:lstStyle/>
          <a:p>
            <a:pPr indent="0" marL="0">
              <a:buNone/>
            </a:pPr>
            <a:r>
              <a:rPr lang="en-US" sz="1300" i="1" dirty="0">
                <a:solidFill>
                  <a:srgbClr val="A9A7C0"/>
                </a:solidFill>
                <a:latin typeface="Calibri" pitchFamily="34" charset="0"/>
                <a:ea typeface="Calibri" pitchFamily="34" charset="-122"/>
                <a:cs typeface="Calibri" pitchFamily="34" charset="-120"/>
              </a:rPr>
              <a:t>Plus a per-word probability chart: orange bars mark words where the model hesitated.</a:t>
            </a:r>
            <a:endParaRPr lang="en-US" sz="1300" dirty="0"/>
          </a:p>
        </p:txBody>
      </p:sp>
      <p:sp>
        <p:nvSpPr>
          <p:cNvPr id="16" name="Text 12"/>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b="1" dirty="0">
                <a:solidFill>
                  <a:srgbClr val="A9A7C0"/>
                </a:solidFill>
                <a:latin typeface="Calibri" pitchFamily="34" charset="0"/>
                <a:ea typeface="Calibri" pitchFamily="34" charset="-122"/>
                <a:cs typeface="Calibri" pitchFamily="34" charset="-120"/>
              </a:rPr>
              <a:t>PixelProse</a:t>
            </a:r>
            <a:pPr algn="r" indent="0" marL="0">
              <a:buNone/>
            </a:pPr>
            <a:r>
              <a:rPr lang="en-US" sz="1000" dirty="0">
                <a:solidFill>
                  <a:srgbClr val="74718F"/>
                </a:solidFill>
                <a:latin typeface="Calibri" pitchFamily="34" charset="0"/>
                <a:ea typeface="Calibri" pitchFamily="34" charset="-122"/>
                <a:cs typeface="Calibri" pitchFamily="34" charset="-120"/>
              </a:rPr>
              <a:t>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indent="0" marL="0">
              <a:buNone/>
            </a:pPr>
            <a:r>
              <a:rPr lang="en-US" sz="1100" b="1" spc="300" kern="0" dirty="0">
                <a:solidFill>
                  <a:srgbClr val="8B5CF6"/>
                </a:solidFill>
                <a:latin typeface="Arial" pitchFamily="34" charset="0"/>
                <a:ea typeface="Arial" pitchFamily="34" charset="-122"/>
                <a:cs typeface="Arial" pitchFamily="34" charset="-120"/>
              </a:rPr>
              <a:t>INTERACT WITH THE IMAGE</a:t>
            </a:r>
            <a:endParaRPr lang="en-US" sz="1100" dirty="0"/>
          </a:p>
        </p:txBody>
      </p:sp>
      <p:sp>
        <p:nvSpPr>
          <p:cNvPr id="3" name="Text 1"/>
          <p:cNvSpPr txBox="1"/>
          <p:nvPr/>
        </p:nvSpPr>
        <p:spPr>
          <a:xfrm>
            <a:off x="548640" y="777240"/>
            <a:ext cx="11094415" cy="777240"/>
          </a:xfrm>
          <a:prstGeom prst="rect">
            <a:avLst/>
          </a:prstGeom>
          <a:noFill/>
          <a:ln/>
        </p:spPr>
        <p:txBody>
          <a:bodyPr wrap="square" lIns="0" tIns="0" rIns="0" bIns="0" rtlCol="0" anchor="t"/>
          <a:lstStyle/>
          <a:p>
            <a:pPr indent="0" marL="0">
              <a:buNone/>
            </a:pPr>
            <a:r>
              <a:rPr lang="en-US" sz="3400" b="1" dirty="0">
                <a:solidFill>
                  <a:srgbClr val="F1F0FA"/>
                </a:solidFill>
                <a:latin typeface="Arial" pitchFamily="34" charset="0"/>
                <a:ea typeface="Arial" pitchFamily="34" charset="-122"/>
                <a:cs typeface="Arial" pitchFamily="34" charset="-120"/>
              </a:rPr>
              <a:t>Ask questions. Test descriptions.</a:t>
            </a:r>
            <a:endParaRPr lang="en-US" sz="3400" dirty="0"/>
          </a:p>
        </p:txBody>
      </p:sp>
      <p:sp>
        <p:nvSpPr>
          <p:cNvPr id="4" name="Shape 2"/>
          <p:cNvSpPr/>
          <p:nvPr/>
        </p:nvSpPr>
        <p:spPr>
          <a:xfrm>
            <a:off x="1112003" y="1682496"/>
            <a:ext cx="4268233" cy="4041648"/>
          </a:xfrm>
          <a:prstGeom prst="roundRect">
            <a:avLst>
              <a:gd name="adj" fmla="val 2715"/>
            </a:avLst>
          </a:prstGeom>
          <a:solidFill>
            <a:srgbClr val="1C1A36"/>
          </a:solidFill>
          <a:ln w="12700">
            <a:solidFill>
              <a:srgbClr val="2E2A4F"/>
            </a:solidFill>
            <a:prstDash val="solid"/>
          </a:ln>
          <a:effectLst>
            <a:outerShdw sx="100000" sy="100000" kx="0" ky="0" algn="bl" rotWithShape="0" blurRad="228600" dist="76200" dir="5400000">
              <a:srgbClr val="000000">
                <a:alpha val="45000"/>
              </a:srgbClr>
            </a:outerShdw>
          </a:effectLst>
        </p:spPr>
      </p:sp>
      <p:pic>
        <p:nvPicPr>
          <p:cNvPr id="5" name="Image 0" descr="/home/user/AAI/docs/images/ask_crop.jpg">    </p:cNvPr>
          <p:cNvPicPr>
            <a:picLocks noChangeAspect="1"/>
          </p:cNvPicPr>
          <p:nvPr/>
        </p:nvPicPr>
        <p:blipFill>
          <a:blip r:embed="rId2"/>
          <a:stretch>
            <a:fillRect/>
          </a:stretch>
        </p:blipFill>
        <p:spPr>
          <a:xfrm>
            <a:off x="1166867" y="1737360"/>
            <a:ext cx="4158505" cy="3931920"/>
          </a:xfrm>
          <a:prstGeom prst="rect">
            <a:avLst/>
          </a:prstGeom>
        </p:spPr>
      </p:pic>
      <p:sp>
        <p:nvSpPr>
          <p:cNvPr id="6" name="Shape 3"/>
          <p:cNvSpPr/>
          <p:nvPr/>
        </p:nvSpPr>
        <p:spPr>
          <a:xfrm>
            <a:off x="7258494" y="1682496"/>
            <a:ext cx="3405253" cy="4041648"/>
          </a:xfrm>
          <a:prstGeom prst="roundRect">
            <a:avLst>
              <a:gd name="adj" fmla="val 3222"/>
            </a:avLst>
          </a:prstGeom>
          <a:solidFill>
            <a:srgbClr val="1C1A36"/>
          </a:solidFill>
          <a:ln w="12700">
            <a:solidFill>
              <a:srgbClr val="2E2A4F"/>
            </a:solidFill>
            <a:prstDash val="solid"/>
          </a:ln>
          <a:effectLst>
            <a:outerShdw sx="100000" sy="100000" kx="0" ky="0" algn="bl" rotWithShape="0" blurRad="228600" dist="76200" dir="5400000">
              <a:srgbClr val="000000">
                <a:alpha val="45000"/>
              </a:srgbClr>
            </a:outerShdw>
          </a:effectLst>
        </p:spPr>
      </p:sp>
      <p:pic>
        <p:nvPicPr>
          <p:cNvPr id="7" name="Image 1" descr="/home/user/AAI/docs/images/match_crop.jpg">    </p:cNvPr>
          <p:cNvPicPr>
            <a:picLocks noChangeAspect="1"/>
          </p:cNvPicPr>
          <p:nvPr/>
        </p:nvPicPr>
        <p:blipFill>
          <a:blip r:embed="rId3"/>
          <a:stretch>
            <a:fillRect/>
          </a:stretch>
        </p:blipFill>
        <p:spPr>
          <a:xfrm>
            <a:off x="7313358" y="1737360"/>
            <a:ext cx="3295525" cy="3931920"/>
          </a:xfrm>
          <a:prstGeom prst="rect">
            <a:avLst/>
          </a:prstGeom>
        </p:spPr>
      </p:pic>
      <p:sp>
        <p:nvSpPr>
          <p:cNvPr id="8" name="Text 4"/>
          <p:cNvSpPr txBox="1"/>
          <p:nvPr/>
        </p:nvSpPr>
        <p:spPr>
          <a:xfrm>
            <a:off x="548640" y="5806440"/>
            <a:ext cx="5394960" cy="548640"/>
          </a:xfrm>
          <a:prstGeom prst="rect">
            <a:avLst/>
          </a:prstGeom>
          <a:noFill/>
          <a:ln/>
        </p:spPr>
        <p:txBody>
          <a:bodyPr wrap="square" lIns="0" tIns="0" rIns="0" bIns="0" rtlCol="0" anchor="t"/>
          <a:lstStyle/>
          <a:p>
            <a:pPr indent="0" marL="0">
              <a:buNone/>
            </a:pPr>
            <a:r>
              <a:rPr lang="en-US" sz="1300" b="1" dirty="0">
                <a:solidFill>
                  <a:srgbClr val="F472B6"/>
                </a:solidFill>
                <a:latin typeface="Calibri" pitchFamily="34" charset="0"/>
                <a:ea typeface="Calibri" pitchFamily="34" charset="-122"/>
                <a:cs typeface="Calibri" pitchFamily="34" charset="-120"/>
              </a:rPr>
              <a:t>Ask · </a:t>
            </a:r>
            <a:pPr indent="0" marL="0">
              <a:buNone/>
            </a:pPr>
            <a:r>
              <a:rPr lang="en-US" sz="1300" dirty="0">
                <a:solidFill>
                  <a:srgbClr val="A9A7C0"/>
                </a:solidFill>
                <a:latin typeface="Calibri" pitchFamily="34" charset="0"/>
                <a:ea typeface="Calibri" pitchFamily="34" charset="-122"/>
                <a:cs typeface="Calibri" pitchFamily="34" charset="-120"/>
              </a:rPr>
              <a:t>BLIP-VQA encodes the question together with the image, then generates a short answer.</a:t>
            </a:r>
            <a:endParaRPr lang="en-US" sz="1300" dirty="0"/>
          </a:p>
        </p:txBody>
      </p:sp>
      <p:sp>
        <p:nvSpPr>
          <p:cNvPr id="9" name="Text 5"/>
          <p:cNvSpPr txBox="1"/>
          <p:nvPr/>
        </p:nvSpPr>
        <p:spPr>
          <a:xfrm>
            <a:off x="6263640" y="5806440"/>
            <a:ext cx="5394960" cy="548640"/>
          </a:xfrm>
          <a:prstGeom prst="rect">
            <a:avLst/>
          </a:prstGeom>
          <a:noFill/>
          <a:ln/>
        </p:spPr>
        <p:txBody>
          <a:bodyPr wrap="square" lIns="0" tIns="0" rIns="0" bIns="0" rtlCol="0" anchor="t"/>
          <a:lstStyle/>
          <a:p>
            <a:pPr indent="0" marL="0">
              <a:buNone/>
            </a:pPr>
            <a:r>
              <a:rPr lang="en-US" sz="1300" b="1" dirty="0">
                <a:solidFill>
                  <a:srgbClr val="FBBF24"/>
                </a:solidFill>
                <a:latin typeface="Calibri" pitchFamily="34" charset="0"/>
                <a:ea typeface="Calibri" pitchFamily="34" charset="-122"/>
                <a:cs typeface="Calibri" pitchFamily="34" charset="-120"/>
              </a:rPr>
              <a:t>Match · </a:t>
            </a:r>
            <a:pPr indent="0" marL="0">
              <a:buNone/>
            </a:pPr>
            <a:r>
              <a:rPr lang="en-US" sz="1300" dirty="0">
                <a:solidFill>
                  <a:srgbClr val="A9A7C0"/>
                </a:solidFill>
                <a:latin typeface="Calibri" pitchFamily="34" charset="0"/>
                <a:ea typeface="Calibri" pitchFamily="34" charset="-122"/>
                <a:cs typeface="Calibri" pitchFamily="34" charset="-120"/>
              </a:rPr>
              <a:t>ITM probability + ITC cosine similarity for any sentence you type.</a:t>
            </a:r>
            <a:endParaRPr lang="en-US" sz="1300" dirty="0"/>
          </a:p>
        </p:txBody>
      </p:sp>
      <p:sp>
        <p:nvSpPr>
          <p:cNvPr id="10" name="Text 6"/>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b="1" dirty="0">
                <a:solidFill>
                  <a:srgbClr val="A9A7C0"/>
                </a:solidFill>
                <a:latin typeface="Calibri" pitchFamily="34" charset="0"/>
                <a:ea typeface="Calibri" pitchFamily="34" charset="-122"/>
                <a:cs typeface="Calibri" pitchFamily="34" charset="-120"/>
              </a:rPr>
              <a:t>PixelProse</a:t>
            </a:r>
            <a:pPr algn="r" indent="0" marL="0">
              <a:buNone/>
            </a:pPr>
            <a:r>
              <a:rPr lang="en-US" sz="1000" dirty="0">
                <a:solidFill>
                  <a:srgbClr val="74718F"/>
                </a:solidFill>
                <a:latin typeface="Calibri" pitchFamily="34" charset="0"/>
                <a:ea typeface="Calibri" pitchFamily="34" charset="-122"/>
                <a:cs typeface="Calibri" pitchFamily="34" charset="-120"/>
              </a:rPr>
              <a:t>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indent="0" marL="0">
              <a:buNone/>
            </a:pPr>
            <a:r>
              <a:rPr lang="en-US" sz="1100" b="1" spc="300" kern="0" dirty="0">
                <a:solidFill>
                  <a:srgbClr val="8B5CF6"/>
                </a:solidFill>
                <a:latin typeface="Arial" pitchFamily="34" charset="0"/>
                <a:ea typeface="Arial" pitchFamily="34" charset="-122"/>
                <a:cs typeface="Arial" pitchFamily="34" charset="-120"/>
              </a:rPr>
              <a:t>EVERYTHING INCLUDED</a:t>
            </a:r>
            <a:endParaRPr lang="en-US" sz="1100" dirty="0"/>
          </a:p>
        </p:txBody>
      </p:sp>
      <p:sp>
        <p:nvSpPr>
          <p:cNvPr id="3" name="Text 1"/>
          <p:cNvSpPr txBox="1"/>
          <p:nvPr/>
        </p:nvSpPr>
        <p:spPr>
          <a:xfrm>
            <a:off x="548640" y="777240"/>
            <a:ext cx="11094415" cy="777240"/>
          </a:xfrm>
          <a:prstGeom prst="rect">
            <a:avLst/>
          </a:prstGeom>
          <a:noFill/>
          <a:ln/>
        </p:spPr>
        <p:txBody>
          <a:bodyPr wrap="square" lIns="0" tIns="0" rIns="0" bIns="0" rtlCol="0" anchor="t"/>
          <a:lstStyle/>
          <a:p>
            <a:pPr indent="0" marL="0">
              <a:buNone/>
            </a:pPr>
            <a:r>
              <a:rPr lang="en-US" sz="3400" b="1" dirty="0">
                <a:solidFill>
                  <a:srgbClr val="F1F0FA"/>
                </a:solidFill>
                <a:latin typeface="Arial" pitchFamily="34" charset="0"/>
                <a:ea typeface="Arial" pitchFamily="34" charset="-122"/>
                <a:cs typeface="Arial" pitchFamily="34" charset="-120"/>
              </a:rPr>
              <a:t>Features beyond the caption</a:t>
            </a:r>
            <a:endParaRPr lang="en-US" sz="3400" dirty="0"/>
          </a:p>
        </p:txBody>
      </p:sp>
      <p:sp>
        <p:nvSpPr>
          <p:cNvPr id="4" name="Shape 2"/>
          <p:cNvSpPr/>
          <p:nvPr/>
        </p:nvSpPr>
        <p:spPr>
          <a:xfrm>
            <a:off x="548640" y="1783080"/>
            <a:ext cx="2606040" cy="1078992"/>
          </a:xfrm>
          <a:prstGeom prst="roundRect">
            <a:avLst>
              <a:gd name="adj" fmla="val 11864"/>
            </a:avLst>
          </a:prstGeom>
          <a:solidFill>
            <a:srgbClr val="15132A"/>
          </a:solidFill>
          <a:ln w="12700">
            <a:solidFill>
              <a:srgbClr val="2E2A4F"/>
            </a:solidFill>
            <a:prstDash val="solid"/>
          </a:ln>
        </p:spPr>
      </p:sp>
      <p:sp>
        <p:nvSpPr>
          <p:cNvPr id="5" name="Shape 3"/>
          <p:cNvSpPr/>
          <p:nvPr/>
        </p:nvSpPr>
        <p:spPr>
          <a:xfrm>
            <a:off x="731520" y="2020824"/>
            <a:ext cx="566928" cy="566928"/>
          </a:xfrm>
          <a:prstGeom prst="ellipse">
            <a:avLst/>
          </a:prstGeom>
          <a:solidFill>
            <a:srgbClr val="8B5CF6">
              <a:alpha val="18000"/>
            </a:srgbClr>
          </a:solidFill>
          <a:ln w="12700">
            <a:solidFill>
              <a:srgbClr val="8B5CF6">
                <a:alpha val="60000"/>
              </a:srgbClr>
            </a:solidFill>
            <a:prstDash val="solid"/>
          </a:ln>
        </p:spPr>
      </p:sp>
      <p:pic>
        <p:nvPicPr>
          <p:cNvPr id="6" name="Image 0" descr="preencoded.png">    </p:cNvPr>
          <p:cNvPicPr>
            <a:picLocks noChangeAspect="1"/>
          </p:cNvPicPr>
          <p:nvPr/>
        </p:nvPicPr>
        <p:blipFill>
          <a:blip r:embed="rId2"/>
          <a:stretch>
            <a:fillRect/>
          </a:stretch>
        </p:blipFill>
        <p:spPr>
          <a:xfrm>
            <a:off x="856244" y="2145548"/>
            <a:ext cx="317480" cy="317480"/>
          </a:xfrm>
          <a:prstGeom prst="rect">
            <a:avLst/>
          </a:prstGeom>
        </p:spPr>
      </p:pic>
      <p:sp>
        <p:nvSpPr>
          <p:cNvPr id="7" name="Text 4"/>
          <p:cNvSpPr txBox="1"/>
          <p:nvPr/>
        </p:nvSpPr>
        <p:spPr>
          <a:xfrm>
            <a:off x="1417320" y="2002536"/>
            <a:ext cx="1645920" cy="320040"/>
          </a:xfrm>
          <a:prstGeom prst="rect">
            <a:avLst/>
          </a:prstGeom>
          <a:noFill/>
          <a:ln/>
        </p:spPr>
        <p:txBody>
          <a:bodyPr wrap="square" lIns="0" tIns="0" rIns="0" bIns="0" rtlCol="0" anchor="ctr"/>
          <a:lstStyle/>
          <a:p>
            <a:pPr indent="0" marL="0">
              <a:buNone/>
            </a:pPr>
            <a:r>
              <a:rPr lang="en-US" sz="1300" b="1" dirty="0">
                <a:solidFill>
                  <a:srgbClr val="F1F0FA"/>
                </a:solidFill>
                <a:latin typeface="Arial" pitchFamily="34" charset="0"/>
                <a:ea typeface="Arial" pitchFamily="34" charset="-122"/>
                <a:cs typeface="Arial" pitchFamily="34" charset="-120"/>
              </a:rPr>
              <a:t>Guided captions</a:t>
            </a:r>
            <a:endParaRPr lang="en-US" sz="1300" dirty="0"/>
          </a:p>
        </p:txBody>
      </p:sp>
      <p:sp>
        <p:nvSpPr>
          <p:cNvPr id="8" name="Text 5"/>
          <p:cNvSpPr txBox="1"/>
          <p:nvPr/>
        </p:nvSpPr>
        <p:spPr>
          <a:xfrm>
            <a:off x="1417320" y="2331720"/>
            <a:ext cx="1645920" cy="320040"/>
          </a:xfrm>
          <a:prstGeom prst="rect">
            <a:avLst/>
          </a:prstGeom>
          <a:noFill/>
          <a:ln/>
        </p:spPr>
        <p:txBody>
          <a:bodyPr wrap="square" lIns="0" tIns="0" rIns="0" bIns="0" rtlCol="0" anchor="ctr"/>
          <a:lstStyle/>
          <a:p>
            <a:pPr indent="0" marL="0">
              <a:buNone/>
            </a:pPr>
            <a:r>
              <a:rPr lang="en-US" sz="1100" dirty="0">
                <a:solidFill>
                  <a:srgbClr val="A9A7C0"/>
                </a:solidFill>
                <a:latin typeface="Calibri" pitchFamily="34" charset="0"/>
                <a:ea typeface="Calibri" pitchFamily="34" charset="-122"/>
                <a:cs typeface="Calibri" pitchFamily="34" charset="-120"/>
              </a:rPr>
              <a:t>“a painting of…” prefixes</a:t>
            </a:r>
            <a:endParaRPr lang="en-US" sz="1100" dirty="0"/>
          </a:p>
        </p:txBody>
      </p:sp>
      <p:sp>
        <p:nvSpPr>
          <p:cNvPr id="9" name="Shape 6"/>
          <p:cNvSpPr/>
          <p:nvPr/>
        </p:nvSpPr>
        <p:spPr>
          <a:xfrm>
            <a:off x="3310128" y="1783080"/>
            <a:ext cx="2606040" cy="1078992"/>
          </a:xfrm>
          <a:prstGeom prst="roundRect">
            <a:avLst>
              <a:gd name="adj" fmla="val 11864"/>
            </a:avLst>
          </a:prstGeom>
          <a:solidFill>
            <a:srgbClr val="15132A"/>
          </a:solidFill>
          <a:ln w="12700">
            <a:solidFill>
              <a:srgbClr val="2E2A4F"/>
            </a:solidFill>
            <a:prstDash val="solid"/>
          </a:ln>
        </p:spPr>
      </p:sp>
      <p:sp>
        <p:nvSpPr>
          <p:cNvPr id="10" name="Shape 7"/>
          <p:cNvSpPr/>
          <p:nvPr/>
        </p:nvSpPr>
        <p:spPr>
          <a:xfrm>
            <a:off x="3493008" y="2020824"/>
            <a:ext cx="566928" cy="566928"/>
          </a:xfrm>
          <a:prstGeom prst="ellipse">
            <a:avLst/>
          </a:prstGeom>
          <a:solidFill>
            <a:srgbClr val="22D3EE">
              <a:alpha val="18000"/>
            </a:srgbClr>
          </a:solidFill>
          <a:ln w="12700">
            <a:solidFill>
              <a:srgbClr val="22D3EE">
                <a:alpha val="60000"/>
              </a:srgbClr>
            </a:solidFill>
            <a:prstDash val="solid"/>
          </a:ln>
        </p:spPr>
      </p:sp>
      <p:pic>
        <p:nvPicPr>
          <p:cNvPr id="11" name="Image 1" descr="preencoded.png">    </p:cNvPr>
          <p:cNvPicPr>
            <a:picLocks noChangeAspect="1"/>
          </p:cNvPicPr>
          <p:nvPr/>
        </p:nvPicPr>
        <p:blipFill>
          <a:blip r:embed="rId3"/>
          <a:stretch>
            <a:fillRect/>
          </a:stretch>
        </p:blipFill>
        <p:spPr>
          <a:xfrm>
            <a:off x="3617732" y="2145548"/>
            <a:ext cx="317480" cy="317480"/>
          </a:xfrm>
          <a:prstGeom prst="rect">
            <a:avLst/>
          </a:prstGeom>
        </p:spPr>
      </p:pic>
      <p:sp>
        <p:nvSpPr>
          <p:cNvPr id="12" name="Text 8"/>
          <p:cNvSpPr txBox="1"/>
          <p:nvPr/>
        </p:nvSpPr>
        <p:spPr>
          <a:xfrm>
            <a:off x="4178808" y="2002536"/>
            <a:ext cx="1645920" cy="320040"/>
          </a:xfrm>
          <a:prstGeom prst="rect">
            <a:avLst/>
          </a:prstGeom>
          <a:noFill/>
          <a:ln/>
        </p:spPr>
        <p:txBody>
          <a:bodyPr wrap="square" lIns="0" tIns="0" rIns="0" bIns="0" rtlCol="0" anchor="ctr"/>
          <a:lstStyle/>
          <a:p>
            <a:pPr indent="0" marL="0">
              <a:buNone/>
            </a:pPr>
            <a:r>
              <a:rPr lang="en-US" sz="1300" b="1" dirty="0">
                <a:solidFill>
                  <a:srgbClr val="F1F0FA"/>
                </a:solidFill>
                <a:latin typeface="Arial" pitchFamily="34" charset="0"/>
                <a:ea typeface="Arial" pitchFamily="34" charset="-122"/>
                <a:cs typeface="Arial" pitchFamily="34" charset="-120"/>
              </a:rPr>
              <a:t>Fast / accurate switch</a:t>
            </a:r>
            <a:endParaRPr lang="en-US" sz="1300" dirty="0"/>
          </a:p>
        </p:txBody>
      </p:sp>
      <p:sp>
        <p:nvSpPr>
          <p:cNvPr id="13" name="Text 9"/>
          <p:cNvSpPr txBox="1"/>
          <p:nvPr/>
        </p:nvSpPr>
        <p:spPr>
          <a:xfrm>
            <a:off x="4178808" y="2331720"/>
            <a:ext cx="1645920" cy="320040"/>
          </a:xfrm>
          <a:prstGeom prst="rect">
            <a:avLst/>
          </a:prstGeom>
          <a:noFill/>
          <a:ln/>
        </p:spPr>
        <p:txBody>
          <a:bodyPr wrap="square" lIns="0" tIns="0" rIns="0" bIns="0" rtlCol="0" anchor="ctr"/>
          <a:lstStyle/>
          <a:p>
            <a:pPr indent="0" marL="0">
              <a:buNone/>
            </a:pPr>
            <a:r>
              <a:rPr lang="en-US" sz="1100" dirty="0">
                <a:solidFill>
                  <a:srgbClr val="A9A7C0"/>
                </a:solidFill>
                <a:latin typeface="Calibri" pitchFamily="34" charset="0"/>
                <a:ea typeface="Calibri" pitchFamily="34" charset="-122"/>
                <a:cs typeface="Calibri" pitchFamily="34" charset="-120"/>
              </a:rPr>
              <a:t>BLIP-base vs BLIP-large</a:t>
            </a:r>
            <a:endParaRPr lang="en-US" sz="1100" dirty="0"/>
          </a:p>
        </p:txBody>
      </p:sp>
      <p:sp>
        <p:nvSpPr>
          <p:cNvPr id="14" name="Shape 10"/>
          <p:cNvSpPr/>
          <p:nvPr/>
        </p:nvSpPr>
        <p:spPr>
          <a:xfrm>
            <a:off x="6071616" y="1783080"/>
            <a:ext cx="2606040" cy="1078992"/>
          </a:xfrm>
          <a:prstGeom prst="roundRect">
            <a:avLst>
              <a:gd name="adj" fmla="val 11864"/>
            </a:avLst>
          </a:prstGeom>
          <a:solidFill>
            <a:srgbClr val="15132A"/>
          </a:solidFill>
          <a:ln w="12700">
            <a:solidFill>
              <a:srgbClr val="2E2A4F"/>
            </a:solidFill>
            <a:prstDash val="solid"/>
          </a:ln>
        </p:spPr>
      </p:sp>
      <p:sp>
        <p:nvSpPr>
          <p:cNvPr id="15" name="Shape 11"/>
          <p:cNvSpPr/>
          <p:nvPr/>
        </p:nvSpPr>
        <p:spPr>
          <a:xfrm>
            <a:off x="6254496" y="2020824"/>
            <a:ext cx="566928" cy="566928"/>
          </a:xfrm>
          <a:prstGeom prst="ellipse">
            <a:avLst/>
          </a:prstGeom>
          <a:solidFill>
            <a:srgbClr val="F472B6">
              <a:alpha val="18000"/>
            </a:srgbClr>
          </a:solidFill>
          <a:ln w="12700">
            <a:solidFill>
              <a:srgbClr val="F472B6">
                <a:alpha val="60000"/>
              </a:srgbClr>
            </a:solidFill>
            <a:prstDash val="solid"/>
          </a:ln>
        </p:spPr>
      </p:sp>
      <p:pic>
        <p:nvPicPr>
          <p:cNvPr id="16" name="Image 2" descr="preencoded.png">    </p:cNvPr>
          <p:cNvPicPr>
            <a:picLocks noChangeAspect="1"/>
          </p:cNvPicPr>
          <p:nvPr/>
        </p:nvPicPr>
        <p:blipFill>
          <a:blip r:embed="rId4"/>
          <a:stretch>
            <a:fillRect/>
          </a:stretch>
        </p:blipFill>
        <p:spPr>
          <a:xfrm>
            <a:off x="6379220" y="2145548"/>
            <a:ext cx="317480" cy="317480"/>
          </a:xfrm>
          <a:prstGeom prst="rect">
            <a:avLst/>
          </a:prstGeom>
        </p:spPr>
      </p:pic>
      <p:sp>
        <p:nvSpPr>
          <p:cNvPr id="17" name="Text 12"/>
          <p:cNvSpPr txBox="1"/>
          <p:nvPr/>
        </p:nvSpPr>
        <p:spPr>
          <a:xfrm>
            <a:off x="6940296" y="2002536"/>
            <a:ext cx="1645920" cy="320040"/>
          </a:xfrm>
          <a:prstGeom prst="rect">
            <a:avLst/>
          </a:prstGeom>
          <a:noFill/>
          <a:ln/>
        </p:spPr>
        <p:txBody>
          <a:bodyPr wrap="square" lIns="0" tIns="0" rIns="0" bIns="0" rtlCol="0" anchor="ctr"/>
          <a:lstStyle/>
          <a:p>
            <a:pPr indent="0" marL="0">
              <a:buNone/>
            </a:pPr>
            <a:r>
              <a:rPr lang="en-US" sz="1300" b="1" dirty="0">
                <a:solidFill>
                  <a:srgbClr val="F1F0FA"/>
                </a:solidFill>
                <a:latin typeface="Arial" pitchFamily="34" charset="0"/>
                <a:ea typeface="Arial" pitchFamily="34" charset="-122"/>
                <a:cs typeface="Arial" pitchFamily="34" charset="-120"/>
              </a:rPr>
              <a:t>Keywords &amp; hashtags</a:t>
            </a:r>
            <a:endParaRPr lang="en-US" sz="1300" dirty="0"/>
          </a:p>
        </p:txBody>
      </p:sp>
      <p:sp>
        <p:nvSpPr>
          <p:cNvPr id="18" name="Text 13"/>
          <p:cNvSpPr txBox="1"/>
          <p:nvPr/>
        </p:nvSpPr>
        <p:spPr>
          <a:xfrm>
            <a:off x="6940296" y="2331720"/>
            <a:ext cx="1645920" cy="320040"/>
          </a:xfrm>
          <a:prstGeom prst="rect">
            <a:avLst/>
          </a:prstGeom>
          <a:noFill/>
          <a:ln/>
        </p:spPr>
        <p:txBody>
          <a:bodyPr wrap="square" lIns="0" tIns="0" rIns="0" bIns="0" rtlCol="0" anchor="ctr"/>
          <a:lstStyle/>
          <a:p>
            <a:pPr indent="0" marL="0">
              <a:buNone/>
            </a:pPr>
            <a:r>
              <a:rPr lang="en-US" sz="1100" dirty="0">
                <a:solidFill>
                  <a:srgbClr val="A9A7C0"/>
                </a:solidFill>
                <a:latin typeface="Calibri" pitchFamily="34" charset="0"/>
                <a:ea typeface="Calibri" pitchFamily="34" charset="-122"/>
                <a:cs typeface="Calibri" pitchFamily="34" charset="-120"/>
              </a:rPr>
              <a:t>one click to copy</a:t>
            </a:r>
            <a:endParaRPr lang="en-US" sz="1100" dirty="0"/>
          </a:p>
        </p:txBody>
      </p:sp>
      <p:sp>
        <p:nvSpPr>
          <p:cNvPr id="19" name="Shape 14"/>
          <p:cNvSpPr/>
          <p:nvPr/>
        </p:nvSpPr>
        <p:spPr>
          <a:xfrm>
            <a:off x="8833104" y="1783080"/>
            <a:ext cx="2606040" cy="1078992"/>
          </a:xfrm>
          <a:prstGeom prst="roundRect">
            <a:avLst>
              <a:gd name="adj" fmla="val 11864"/>
            </a:avLst>
          </a:prstGeom>
          <a:solidFill>
            <a:srgbClr val="15132A"/>
          </a:solidFill>
          <a:ln w="12700">
            <a:solidFill>
              <a:srgbClr val="2E2A4F"/>
            </a:solidFill>
            <a:prstDash val="solid"/>
          </a:ln>
        </p:spPr>
      </p:sp>
      <p:sp>
        <p:nvSpPr>
          <p:cNvPr id="20" name="Shape 15"/>
          <p:cNvSpPr/>
          <p:nvPr/>
        </p:nvSpPr>
        <p:spPr>
          <a:xfrm>
            <a:off x="9015984" y="2020824"/>
            <a:ext cx="566928" cy="566928"/>
          </a:xfrm>
          <a:prstGeom prst="ellipse">
            <a:avLst/>
          </a:prstGeom>
          <a:solidFill>
            <a:srgbClr val="FBBF24">
              <a:alpha val="18000"/>
            </a:srgbClr>
          </a:solidFill>
          <a:ln w="12700">
            <a:solidFill>
              <a:srgbClr val="FBBF24">
                <a:alpha val="60000"/>
              </a:srgbClr>
            </a:solidFill>
            <a:prstDash val="solid"/>
          </a:ln>
        </p:spPr>
      </p:sp>
      <p:pic>
        <p:nvPicPr>
          <p:cNvPr id="21" name="Image 3" descr="preencoded.png">    </p:cNvPr>
          <p:cNvPicPr>
            <a:picLocks noChangeAspect="1"/>
          </p:cNvPicPr>
          <p:nvPr/>
        </p:nvPicPr>
        <p:blipFill>
          <a:blip r:embed="rId5"/>
          <a:stretch>
            <a:fillRect/>
          </a:stretch>
        </p:blipFill>
        <p:spPr>
          <a:xfrm>
            <a:off x="9140708" y="2145548"/>
            <a:ext cx="317480" cy="317480"/>
          </a:xfrm>
          <a:prstGeom prst="rect">
            <a:avLst/>
          </a:prstGeom>
        </p:spPr>
      </p:pic>
      <p:sp>
        <p:nvSpPr>
          <p:cNvPr id="22" name="Text 16"/>
          <p:cNvSpPr txBox="1"/>
          <p:nvPr/>
        </p:nvSpPr>
        <p:spPr>
          <a:xfrm>
            <a:off x="9701784" y="2002536"/>
            <a:ext cx="1645920" cy="320040"/>
          </a:xfrm>
          <a:prstGeom prst="rect">
            <a:avLst/>
          </a:prstGeom>
          <a:noFill/>
          <a:ln/>
        </p:spPr>
        <p:txBody>
          <a:bodyPr wrap="square" lIns="0" tIns="0" rIns="0" bIns="0" rtlCol="0" anchor="ctr"/>
          <a:lstStyle/>
          <a:p>
            <a:pPr indent="0" marL="0">
              <a:buNone/>
            </a:pPr>
            <a:r>
              <a:rPr lang="en-US" sz="1300" b="1" dirty="0">
                <a:solidFill>
                  <a:srgbClr val="F1F0FA"/>
                </a:solidFill>
                <a:latin typeface="Arial" pitchFamily="34" charset="0"/>
                <a:ea typeface="Arial" pitchFamily="34" charset="-122"/>
                <a:cs typeface="Arial" pitchFamily="34" charset="-120"/>
              </a:rPr>
              <a:t>Colour palette</a:t>
            </a:r>
            <a:endParaRPr lang="en-US" sz="1300" dirty="0"/>
          </a:p>
        </p:txBody>
      </p:sp>
      <p:sp>
        <p:nvSpPr>
          <p:cNvPr id="23" name="Text 17"/>
          <p:cNvSpPr txBox="1"/>
          <p:nvPr/>
        </p:nvSpPr>
        <p:spPr>
          <a:xfrm>
            <a:off x="9701784" y="2331720"/>
            <a:ext cx="1645920" cy="320040"/>
          </a:xfrm>
          <a:prstGeom prst="rect">
            <a:avLst/>
          </a:prstGeom>
          <a:noFill/>
          <a:ln/>
        </p:spPr>
        <p:txBody>
          <a:bodyPr wrap="square" lIns="0" tIns="0" rIns="0" bIns="0" rtlCol="0" anchor="ctr"/>
          <a:lstStyle/>
          <a:p>
            <a:pPr indent="0" marL="0">
              <a:buNone/>
            </a:pPr>
            <a:r>
              <a:rPr lang="en-US" sz="1100" dirty="0">
                <a:solidFill>
                  <a:srgbClr val="A9A7C0"/>
                </a:solidFill>
                <a:latin typeface="Calibri" pitchFamily="34" charset="0"/>
                <a:ea typeface="Calibri" pitchFamily="34" charset="-122"/>
                <a:cs typeface="Calibri" pitchFamily="34" charset="-120"/>
              </a:rPr>
              <a:t>dominant colours + hex</a:t>
            </a:r>
            <a:endParaRPr lang="en-US" sz="1100" dirty="0"/>
          </a:p>
        </p:txBody>
      </p:sp>
      <p:sp>
        <p:nvSpPr>
          <p:cNvPr id="24" name="Shape 18"/>
          <p:cNvSpPr/>
          <p:nvPr/>
        </p:nvSpPr>
        <p:spPr>
          <a:xfrm>
            <a:off x="548640" y="3044952"/>
            <a:ext cx="2606040" cy="1078992"/>
          </a:xfrm>
          <a:prstGeom prst="roundRect">
            <a:avLst>
              <a:gd name="adj" fmla="val 11864"/>
            </a:avLst>
          </a:prstGeom>
          <a:solidFill>
            <a:srgbClr val="15132A"/>
          </a:solidFill>
          <a:ln w="12700">
            <a:solidFill>
              <a:srgbClr val="2E2A4F"/>
            </a:solidFill>
            <a:prstDash val="solid"/>
          </a:ln>
        </p:spPr>
      </p:sp>
      <p:sp>
        <p:nvSpPr>
          <p:cNvPr id="25" name="Shape 19"/>
          <p:cNvSpPr/>
          <p:nvPr/>
        </p:nvSpPr>
        <p:spPr>
          <a:xfrm>
            <a:off x="731520" y="3282696"/>
            <a:ext cx="566928" cy="566928"/>
          </a:xfrm>
          <a:prstGeom prst="ellipse">
            <a:avLst/>
          </a:prstGeom>
          <a:solidFill>
            <a:srgbClr val="8B5CF6">
              <a:alpha val="18000"/>
            </a:srgbClr>
          </a:solidFill>
          <a:ln w="12700">
            <a:solidFill>
              <a:srgbClr val="8B5CF6">
                <a:alpha val="60000"/>
              </a:srgbClr>
            </a:solidFill>
            <a:prstDash val="solid"/>
          </a:ln>
        </p:spPr>
      </p:sp>
      <p:pic>
        <p:nvPicPr>
          <p:cNvPr id="26" name="Image 4" descr="preencoded.png">    </p:cNvPr>
          <p:cNvPicPr>
            <a:picLocks noChangeAspect="1"/>
          </p:cNvPicPr>
          <p:nvPr/>
        </p:nvPicPr>
        <p:blipFill>
          <a:blip r:embed="rId6"/>
          <a:stretch>
            <a:fillRect/>
          </a:stretch>
        </p:blipFill>
        <p:spPr>
          <a:xfrm>
            <a:off x="856244" y="3407420"/>
            <a:ext cx="317480" cy="317480"/>
          </a:xfrm>
          <a:prstGeom prst="rect">
            <a:avLst/>
          </a:prstGeom>
        </p:spPr>
      </p:pic>
      <p:sp>
        <p:nvSpPr>
          <p:cNvPr id="27" name="Text 20"/>
          <p:cNvSpPr txBox="1"/>
          <p:nvPr/>
        </p:nvSpPr>
        <p:spPr>
          <a:xfrm>
            <a:off x="1417320" y="3264408"/>
            <a:ext cx="1645920" cy="320040"/>
          </a:xfrm>
          <a:prstGeom prst="rect">
            <a:avLst/>
          </a:prstGeom>
          <a:noFill/>
          <a:ln/>
        </p:spPr>
        <p:txBody>
          <a:bodyPr wrap="square" lIns="0" tIns="0" rIns="0" bIns="0" rtlCol="0" anchor="ctr"/>
          <a:lstStyle/>
          <a:p>
            <a:pPr indent="0" marL="0">
              <a:buNone/>
            </a:pPr>
            <a:r>
              <a:rPr lang="en-US" sz="1300" b="1" dirty="0">
                <a:solidFill>
                  <a:srgbClr val="F1F0FA"/>
                </a:solidFill>
                <a:latin typeface="Arial" pitchFamily="34" charset="0"/>
                <a:ea typeface="Arial" pitchFamily="34" charset="-122"/>
                <a:cs typeface="Arial" pitchFamily="34" charset="-120"/>
              </a:rPr>
              <a:t>Alt-text HTML</a:t>
            </a:r>
            <a:endParaRPr lang="en-US" sz="1300" dirty="0"/>
          </a:p>
        </p:txBody>
      </p:sp>
      <p:sp>
        <p:nvSpPr>
          <p:cNvPr id="28" name="Text 21"/>
          <p:cNvSpPr txBox="1"/>
          <p:nvPr/>
        </p:nvSpPr>
        <p:spPr>
          <a:xfrm>
            <a:off x="1417320" y="3593592"/>
            <a:ext cx="1645920" cy="320040"/>
          </a:xfrm>
          <a:prstGeom prst="rect">
            <a:avLst/>
          </a:prstGeom>
          <a:noFill/>
          <a:ln/>
        </p:spPr>
        <p:txBody>
          <a:bodyPr wrap="square" lIns="0" tIns="0" rIns="0" bIns="0" rtlCol="0" anchor="ctr"/>
          <a:lstStyle/>
          <a:p>
            <a:pPr indent="0" marL="0">
              <a:buNone/>
            </a:pPr>
            <a:r>
              <a:rPr lang="en-US" sz="1100" dirty="0">
                <a:solidFill>
                  <a:srgbClr val="A9A7C0"/>
                </a:solidFill>
                <a:latin typeface="Calibri" pitchFamily="34" charset="0"/>
                <a:ea typeface="Calibri" pitchFamily="34" charset="-122"/>
                <a:cs typeface="Calibri" pitchFamily="34" charset="-120"/>
              </a:rPr>
              <a:t>ready for websites</a:t>
            </a:r>
            <a:endParaRPr lang="en-US" sz="1100" dirty="0"/>
          </a:p>
        </p:txBody>
      </p:sp>
      <p:sp>
        <p:nvSpPr>
          <p:cNvPr id="29" name="Shape 22"/>
          <p:cNvSpPr/>
          <p:nvPr/>
        </p:nvSpPr>
        <p:spPr>
          <a:xfrm>
            <a:off x="3310128" y="3044952"/>
            <a:ext cx="2606040" cy="1078992"/>
          </a:xfrm>
          <a:prstGeom prst="roundRect">
            <a:avLst>
              <a:gd name="adj" fmla="val 11864"/>
            </a:avLst>
          </a:prstGeom>
          <a:solidFill>
            <a:srgbClr val="15132A"/>
          </a:solidFill>
          <a:ln w="12700">
            <a:solidFill>
              <a:srgbClr val="2E2A4F"/>
            </a:solidFill>
            <a:prstDash val="solid"/>
          </a:ln>
        </p:spPr>
      </p:sp>
      <p:sp>
        <p:nvSpPr>
          <p:cNvPr id="30" name="Shape 23"/>
          <p:cNvSpPr/>
          <p:nvPr/>
        </p:nvSpPr>
        <p:spPr>
          <a:xfrm>
            <a:off x="3493008" y="3282696"/>
            <a:ext cx="566928" cy="566928"/>
          </a:xfrm>
          <a:prstGeom prst="ellipse">
            <a:avLst/>
          </a:prstGeom>
          <a:solidFill>
            <a:srgbClr val="22D3EE">
              <a:alpha val="18000"/>
            </a:srgbClr>
          </a:solidFill>
          <a:ln w="12700">
            <a:solidFill>
              <a:srgbClr val="22D3EE">
                <a:alpha val="60000"/>
              </a:srgbClr>
            </a:solidFill>
            <a:prstDash val="solid"/>
          </a:ln>
        </p:spPr>
      </p:sp>
      <p:pic>
        <p:nvPicPr>
          <p:cNvPr id="31" name="Image 5" descr="preencoded.png">    </p:cNvPr>
          <p:cNvPicPr>
            <a:picLocks noChangeAspect="1"/>
          </p:cNvPicPr>
          <p:nvPr/>
        </p:nvPicPr>
        <p:blipFill>
          <a:blip r:embed="rId7"/>
          <a:stretch>
            <a:fillRect/>
          </a:stretch>
        </p:blipFill>
        <p:spPr>
          <a:xfrm>
            <a:off x="3617732" y="3407420"/>
            <a:ext cx="317480" cy="317480"/>
          </a:xfrm>
          <a:prstGeom prst="rect">
            <a:avLst/>
          </a:prstGeom>
        </p:spPr>
      </p:pic>
      <p:sp>
        <p:nvSpPr>
          <p:cNvPr id="32" name="Text 24"/>
          <p:cNvSpPr txBox="1"/>
          <p:nvPr/>
        </p:nvSpPr>
        <p:spPr>
          <a:xfrm>
            <a:off x="4178808" y="3264408"/>
            <a:ext cx="1645920" cy="320040"/>
          </a:xfrm>
          <a:prstGeom prst="rect">
            <a:avLst/>
          </a:prstGeom>
          <a:noFill/>
          <a:ln/>
        </p:spPr>
        <p:txBody>
          <a:bodyPr wrap="square" lIns="0" tIns="0" rIns="0" bIns="0" rtlCol="0" anchor="ctr"/>
          <a:lstStyle/>
          <a:p>
            <a:pPr indent="0" marL="0">
              <a:buNone/>
            </a:pPr>
            <a:r>
              <a:rPr lang="en-US" sz="1300" b="1" dirty="0">
                <a:solidFill>
                  <a:srgbClr val="F1F0FA"/>
                </a:solidFill>
                <a:latin typeface="Arial" pitchFamily="34" charset="0"/>
                <a:ea typeface="Arial" pitchFamily="34" charset="-122"/>
                <a:cs typeface="Arial" pitchFamily="34" charset="-120"/>
              </a:rPr>
              <a:t>Text-to-speech</a:t>
            </a:r>
            <a:endParaRPr lang="en-US" sz="1300" dirty="0"/>
          </a:p>
        </p:txBody>
      </p:sp>
      <p:sp>
        <p:nvSpPr>
          <p:cNvPr id="33" name="Text 25"/>
          <p:cNvSpPr txBox="1"/>
          <p:nvPr/>
        </p:nvSpPr>
        <p:spPr>
          <a:xfrm>
            <a:off x="4178808" y="3593592"/>
            <a:ext cx="1645920" cy="320040"/>
          </a:xfrm>
          <a:prstGeom prst="rect">
            <a:avLst/>
          </a:prstGeom>
          <a:noFill/>
          <a:ln/>
        </p:spPr>
        <p:txBody>
          <a:bodyPr wrap="square" lIns="0" tIns="0" rIns="0" bIns="0" rtlCol="0" anchor="ctr"/>
          <a:lstStyle/>
          <a:p>
            <a:pPr indent="0" marL="0">
              <a:buNone/>
            </a:pPr>
            <a:r>
              <a:rPr lang="en-US" sz="1100" dirty="0">
                <a:solidFill>
                  <a:srgbClr val="A9A7C0"/>
                </a:solidFill>
                <a:latin typeface="Calibri" pitchFamily="34" charset="0"/>
                <a:ea typeface="Calibri" pitchFamily="34" charset="-122"/>
                <a:cs typeface="Calibri" pitchFamily="34" charset="-120"/>
              </a:rPr>
              <a:t>reads captions aloud</a:t>
            </a:r>
            <a:endParaRPr lang="en-US" sz="1100" dirty="0"/>
          </a:p>
        </p:txBody>
      </p:sp>
      <p:sp>
        <p:nvSpPr>
          <p:cNvPr id="34" name="Shape 26"/>
          <p:cNvSpPr/>
          <p:nvPr/>
        </p:nvSpPr>
        <p:spPr>
          <a:xfrm>
            <a:off x="6071616" y="3044952"/>
            <a:ext cx="2606040" cy="1078992"/>
          </a:xfrm>
          <a:prstGeom prst="roundRect">
            <a:avLst>
              <a:gd name="adj" fmla="val 11864"/>
            </a:avLst>
          </a:prstGeom>
          <a:solidFill>
            <a:srgbClr val="15132A"/>
          </a:solidFill>
          <a:ln w="12700">
            <a:solidFill>
              <a:srgbClr val="2E2A4F"/>
            </a:solidFill>
            <a:prstDash val="solid"/>
          </a:ln>
        </p:spPr>
      </p:sp>
      <p:sp>
        <p:nvSpPr>
          <p:cNvPr id="35" name="Shape 27"/>
          <p:cNvSpPr/>
          <p:nvPr/>
        </p:nvSpPr>
        <p:spPr>
          <a:xfrm>
            <a:off x="6254496" y="3282696"/>
            <a:ext cx="566928" cy="566928"/>
          </a:xfrm>
          <a:prstGeom prst="ellipse">
            <a:avLst/>
          </a:prstGeom>
          <a:solidFill>
            <a:srgbClr val="F472B6">
              <a:alpha val="18000"/>
            </a:srgbClr>
          </a:solidFill>
          <a:ln w="12700">
            <a:solidFill>
              <a:srgbClr val="F472B6">
                <a:alpha val="60000"/>
              </a:srgbClr>
            </a:solidFill>
            <a:prstDash val="solid"/>
          </a:ln>
        </p:spPr>
      </p:sp>
      <p:pic>
        <p:nvPicPr>
          <p:cNvPr id="36" name="Image 6" descr="preencoded.png">    </p:cNvPr>
          <p:cNvPicPr>
            <a:picLocks noChangeAspect="1"/>
          </p:cNvPicPr>
          <p:nvPr/>
        </p:nvPicPr>
        <p:blipFill>
          <a:blip r:embed="rId8"/>
          <a:stretch>
            <a:fillRect/>
          </a:stretch>
        </p:blipFill>
        <p:spPr>
          <a:xfrm>
            <a:off x="6379220" y="3407420"/>
            <a:ext cx="317480" cy="317480"/>
          </a:xfrm>
          <a:prstGeom prst="rect">
            <a:avLst/>
          </a:prstGeom>
        </p:spPr>
      </p:pic>
      <p:sp>
        <p:nvSpPr>
          <p:cNvPr id="37" name="Text 28"/>
          <p:cNvSpPr txBox="1"/>
          <p:nvPr/>
        </p:nvSpPr>
        <p:spPr>
          <a:xfrm>
            <a:off x="6940296" y="3264408"/>
            <a:ext cx="1645920" cy="320040"/>
          </a:xfrm>
          <a:prstGeom prst="rect">
            <a:avLst/>
          </a:prstGeom>
          <a:noFill/>
          <a:ln/>
        </p:spPr>
        <p:txBody>
          <a:bodyPr wrap="square" lIns="0" tIns="0" rIns="0" bIns="0" rtlCol="0" anchor="ctr"/>
          <a:lstStyle/>
          <a:p>
            <a:pPr indent="0" marL="0">
              <a:buNone/>
            </a:pPr>
            <a:r>
              <a:rPr lang="en-US" sz="1300" b="1" dirty="0">
                <a:solidFill>
                  <a:srgbClr val="F1F0FA"/>
                </a:solidFill>
                <a:latin typeface="Arial" pitchFamily="34" charset="0"/>
                <a:ea typeface="Arial" pitchFamily="34" charset="-122"/>
                <a:cs typeface="Arial" pitchFamily="34" charset="-120"/>
              </a:rPr>
              <a:t>Caption card</a:t>
            </a:r>
            <a:endParaRPr lang="en-US" sz="1300" dirty="0"/>
          </a:p>
        </p:txBody>
      </p:sp>
      <p:sp>
        <p:nvSpPr>
          <p:cNvPr id="38" name="Text 29"/>
          <p:cNvSpPr txBox="1"/>
          <p:nvPr/>
        </p:nvSpPr>
        <p:spPr>
          <a:xfrm>
            <a:off x="6940296" y="3593592"/>
            <a:ext cx="1645920" cy="320040"/>
          </a:xfrm>
          <a:prstGeom prst="rect">
            <a:avLst/>
          </a:prstGeom>
          <a:noFill/>
          <a:ln/>
        </p:spPr>
        <p:txBody>
          <a:bodyPr wrap="square" lIns="0" tIns="0" rIns="0" bIns="0" rtlCol="0" anchor="ctr"/>
          <a:lstStyle/>
          <a:p>
            <a:pPr indent="0" marL="0">
              <a:buNone/>
            </a:pPr>
            <a:r>
              <a:rPr lang="en-US" sz="1100" dirty="0">
                <a:solidFill>
                  <a:srgbClr val="A9A7C0"/>
                </a:solidFill>
                <a:latin typeface="Calibri" pitchFamily="34" charset="0"/>
                <a:ea typeface="Calibri" pitchFamily="34" charset="-122"/>
                <a:cs typeface="Calibri" pitchFamily="34" charset="-120"/>
              </a:rPr>
              <a:t>shareable 1080×1350 PNG</a:t>
            </a:r>
            <a:endParaRPr lang="en-US" sz="1100" dirty="0"/>
          </a:p>
        </p:txBody>
      </p:sp>
      <p:sp>
        <p:nvSpPr>
          <p:cNvPr id="39" name="Shape 30"/>
          <p:cNvSpPr/>
          <p:nvPr/>
        </p:nvSpPr>
        <p:spPr>
          <a:xfrm>
            <a:off x="8833104" y="3044952"/>
            <a:ext cx="2606040" cy="1078992"/>
          </a:xfrm>
          <a:prstGeom prst="roundRect">
            <a:avLst>
              <a:gd name="adj" fmla="val 11864"/>
            </a:avLst>
          </a:prstGeom>
          <a:solidFill>
            <a:srgbClr val="15132A"/>
          </a:solidFill>
          <a:ln w="12700">
            <a:solidFill>
              <a:srgbClr val="2E2A4F"/>
            </a:solidFill>
            <a:prstDash val="solid"/>
          </a:ln>
        </p:spPr>
      </p:sp>
      <p:sp>
        <p:nvSpPr>
          <p:cNvPr id="40" name="Shape 31"/>
          <p:cNvSpPr/>
          <p:nvPr/>
        </p:nvSpPr>
        <p:spPr>
          <a:xfrm>
            <a:off x="9015984" y="3282696"/>
            <a:ext cx="566928" cy="566928"/>
          </a:xfrm>
          <a:prstGeom prst="ellipse">
            <a:avLst/>
          </a:prstGeom>
          <a:solidFill>
            <a:srgbClr val="FBBF24">
              <a:alpha val="18000"/>
            </a:srgbClr>
          </a:solidFill>
          <a:ln w="12700">
            <a:solidFill>
              <a:srgbClr val="FBBF24">
                <a:alpha val="60000"/>
              </a:srgbClr>
            </a:solidFill>
            <a:prstDash val="solid"/>
          </a:ln>
        </p:spPr>
      </p:sp>
      <p:pic>
        <p:nvPicPr>
          <p:cNvPr id="41" name="Image 7" descr="preencoded.png">    </p:cNvPr>
          <p:cNvPicPr>
            <a:picLocks noChangeAspect="1"/>
          </p:cNvPicPr>
          <p:nvPr/>
        </p:nvPicPr>
        <p:blipFill>
          <a:blip r:embed="rId9"/>
          <a:stretch>
            <a:fillRect/>
          </a:stretch>
        </p:blipFill>
        <p:spPr>
          <a:xfrm>
            <a:off x="9140708" y="3407420"/>
            <a:ext cx="317480" cy="317480"/>
          </a:xfrm>
          <a:prstGeom prst="rect">
            <a:avLst/>
          </a:prstGeom>
        </p:spPr>
      </p:pic>
      <p:sp>
        <p:nvSpPr>
          <p:cNvPr id="42" name="Text 32"/>
          <p:cNvSpPr txBox="1"/>
          <p:nvPr/>
        </p:nvSpPr>
        <p:spPr>
          <a:xfrm>
            <a:off x="9701784" y="3264408"/>
            <a:ext cx="1645920" cy="320040"/>
          </a:xfrm>
          <a:prstGeom prst="rect">
            <a:avLst/>
          </a:prstGeom>
          <a:noFill/>
          <a:ln/>
        </p:spPr>
        <p:txBody>
          <a:bodyPr wrap="square" lIns="0" tIns="0" rIns="0" bIns="0" rtlCol="0" anchor="ctr"/>
          <a:lstStyle/>
          <a:p>
            <a:pPr indent="0" marL="0">
              <a:buNone/>
            </a:pPr>
            <a:r>
              <a:rPr lang="en-US" sz="1300" b="1" dirty="0">
                <a:solidFill>
                  <a:srgbClr val="F1F0FA"/>
                </a:solidFill>
                <a:latin typeface="Arial" pitchFamily="34" charset="0"/>
                <a:ea typeface="Arial" pitchFamily="34" charset="-122"/>
                <a:cs typeface="Arial" pitchFamily="34" charset="-120"/>
              </a:rPr>
              <a:t>Batch mode</a:t>
            </a:r>
            <a:endParaRPr lang="en-US" sz="1300" dirty="0"/>
          </a:p>
        </p:txBody>
      </p:sp>
      <p:sp>
        <p:nvSpPr>
          <p:cNvPr id="43" name="Text 33"/>
          <p:cNvSpPr txBox="1"/>
          <p:nvPr/>
        </p:nvSpPr>
        <p:spPr>
          <a:xfrm>
            <a:off x="9701784" y="3593592"/>
            <a:ext cx="1645920" cy="320040"/>
          </a:xfrm>
          <a:prstGeom prst="rect">
            <a:avLst/>
          </a:prstGeom>
          <a:noFill/>
          <a:ln/>
        </p:spPr>
        <p:txBody>
          <a:bodyPr wrap="square" lIns="0" tIns="0" rIns="0" bIns="0" rtlCol="0" anchor="ctr"/>
          <a:lstStyle/>
          <a:p>
            <a:pPr indent="0" marL="0">
              <a:buNone/>
            </a:pPr>
            <a:r>
              <a:rPr lang="en-US" sz="1100" dirty="0">
                <a:solidFill>
                  <a:srgbClr val="A9A7C0"/>
                </a:solidFill>
                <a:latin typeface="Calibri" pitchFamily="34" charset="0"/>
                <a:ea typeface="Calibri" pitchFamily="34" charset="-122"/>
                <a:cs typeface="Calibri" pitchFamily="34" charset="-120"/>
              </a:rPr>
              <a:t>12 images → CSV / JSON</a:t>
            </a:r>
            <a:endParaRPr lang="en-US" sz="1100" dirty="0"/>
          </a:p>
        </p:txBody>
      </p:sp>
      <p:sp>
        <p:nvSpPr>
          <p:cNvPr id="44" name="Shape 34"/>
          <p:cNvSpPr/>
          <p:nvPr/>
        </p:nvSpPr>
        <p:spPr>
          <a:xfrm>
            <a:off x="548640" y="4306824"/>
            <a:ext cx="2606040" cy="1078992"/>
          </a:xfrm>
          <a:prstGeom prst="roundRect">
            <a:avLst>
              <a:gd name="adj" fmla="val 11864"/>
            </a:avLst>
          </a:prstGeom>
          <a:solidFill>
            <a:srgbClr val="15132A"/>
          </a:solidFill>
          <a:ln w="12700">
            <a:solidFill>
              <a:srgbClr val="2E2A4F"/>
            </a:solidFill>
            <a:prstDash val="solid"/>
          </a:ln>
        </p:spPr>
      </p:sp>
      <p:sp>
        <p:nvSpPr>
          <p:cNvPr id="45" name="Shape 35"/>
          <p:cNvSpPr/>
          <p:nvPr/>
        </p:nvSpPr>
        <p:spPr>
          <a:xfrm>
            <a:off x="731520" y="4544568"/>
            <a:ext cx="566928" cy="566928"/>
          </a:xfrm>
          <a:prstGeom prst="ellipse">
            <a:avLst/>
          </a:prstGeom>
          <a:solidFill>
            <a:srgbClr val="8B5CF6">
              <a:alpha val="18000"/>
            </a:srgbClr>
          </a:solidFill>
          <a:ln w="12700">
            <a:solidFill>
              <a:srgbClr val="8B5CF6">
                <a:alpha val="60000"/>
              </a:srgbClr>
            </a:solidFill>
            <a:prstDash val="solid"/>
          </a:ln>
        </p:spPr>
      </p:sp>
      <p:pic>
        <p:nvPicPr>
          <p:cNvPr id="46" name="Image 8" descr="preencoded.png">    </p:cNvPr>
          <p:cNvPicPr>
            <a:picLocks noChangeAspect="1"/>
          </p:cNvPicPr>
          <p:nvPr/>
        </p:nvPicPr>
        <p:blipFill>
          <a:blip r:embed="rId10"/>
          <a:stretch>
            <a:fillRect/>
          </a:stretch>
        </p:blipFill>
        <p:spPr>
          <a:xfrm>
            <a:off x="856244" y="4669292"/>
            <a:ext cx="317480" cy="317480"/>
          </a:xfrm>
          <a:prstGeom prst="rect">
            <a:avLst/>
          </a:prstGeom>
        </p:spPr>
      </p:pic>
      <p:sp>
        <p:nvSpPr>
          <p:cNvPr id="47" name="Text 36"/>
          <p:cNvSpPr txBox="1"/>
          <p:nvPr/>
        </p:nvSpPr>
        <p:spPr>
          <a:xfrm>
            <a:off x="1417320" y="4526280"/>
            <a:ext cx="1645920" cy="320040"/>
          </a:xfrm>
          <a:prstGeom prst="rect">
            <a:avLst/>
          </a:prstGeom>
          <a:noFill/>
          <a:ln/>
        </p:spPr>
        <p:txBody>
          <a:bodyPr wrap="square" lIns="0" tIns="0" rIns="0" bIns="0" rtlCol="0" anchor="ctr"/>
          <a:lstStyle/>
          <a:p>
            <a:pPr indent="0" marL="0">
              <a:buNone/>
            </a:pPr>
            <a:r>
              <a:rPr lang="en-US" sz="1300" b="1" dirty="0">
                <a:solidFill>
                  <a:srgbClr val="F1F0FA"/>
                </a:solidFill>
                <a:latin typeface="Arial" pitchFamily="34" charset="0"/>
                <a:ea typeface="Arial" pitchFamily="34" charset="-122"/>
                <a:cs typeface="Arial" pitchFamily="34" charset="-120"/>
              </a:rPr>
              <a:t>History</a:t>
            </a:r>
            <a:endParaRPr lang="en-US" sz="1300" dirty="0"/>
          </a:p>
        </p:txBody>
      </p:sp>
      <p:sp>
        <p:nvSpPr>
          <p:cNvPr id="48" name="Text 37"/>
          <p:cNvSpPr txBox="1"/>
          <p:nvPr/>
        </p:nvSpPr>
        <p:spPr>
          <a:xfrm>
            <a:off x="1417320" y="4855464"/>
            <a:ext cx="1645920" cy="320040"/>
          </a:xfrm>
          <a:prstGeom prst="rect">
            <a:avLst/>
          </a:prstGeom>
          <a:noFill/>
          <a:ln/>
        </p:spPr>
        <p:txBody>
          <a:bodyPr wrap="square" lIns="0" tIns="0" rIns="0" bIns="0" rtlCol="0" anchor="ctr"/>
          <a:lstStyle/>
          <a:p>
            <a:pPr indent="0" marL="0">
              <a:buNone/>
            </a:pPr>
            <a:r>
              <a:rPr lang="en-US" sz="1100" dirty="0">
                <a:solidFill>
                  <a:srgbClr val="A9A7C0"/>
                </a:solidFill>
                <a:latin typeface="Calibri" pitchFamily="34" charset="0"/>
                <a:ea typeface="Calibri" pitchFamily="34" charset="-122"/>
                <a:cs typeface="Calibri" pitchFamily="34" charset="-120"/>
              </a:rPr>
              <a:t>last 30 results, restorable</a:t>
            </a:r>
            <a:endParaRPr lang="en-US" sz="1100" dirty="0"/>
          </a:p>
        </p:txBody>
      </p:sp>
      <p:sp>
        <p:nvSpPr>
          <p:cNvPr id="49" name="Shape 38"/>
          <p:cNvSpPr/>
          <p:nvPr/>
        </p:nvSpPr>
        <p:spPr>
          <a:xfrm>
            <a:off x="3310128" y="4306824"/>
            <a:ext cx="2606040" cy="1078992"/>
          </a:xfrm>
          <a:prstGeom prst="roundRect">
            <a:avLst>
              <a:gd name="adj" fmla="val 11864"/>
            </a:avLst>
          </a:prstGeom>
          <a:solidFill>
            <a:srgbClr val="15132A"/>
          </a:solidFill>
          <a:ln w="12700">
            <a:solidFill>
              <a:srgbClr val="2E2A4F"/>
            </a:solidFill>
            <a:prstDash val="solid"/>
          </a:ln>
        </p:spPr>
      </p:sp>
      <p:sp>
        <p:nvSpPr>
          <p:cNvPr id="50" name="Shape 39"/>
          <p:cNvSpPr/>
          <p:nvPr/>
        </p:nvSpPr>
        <p:spPr>
          <a:xfrm>
            <a:off x="3493008" y="4544568"/>
            <a:ext cx="566928" cy="566928"/>
          </a:xfrm>
          <a:prstGeom prst="ellipse">
            <a:avLst/>
          </a:prstGeom>
          <a:solidFill>
            <a:srgbClr val="22D3EE">
              <a:alpha val="18000"/>
            </a:srgbClr>
          </a:solidFill>
          <a:ln w="12700">
            <a:solidFill>
              <a:srgbClr val="22D3EE">
                <a:alpha val="60000"/>
              </a:srgbClr>
            </a:solidFill>
            <a:prstDash val="solid"/>
          </a:ln>
        </p:spPr>
      </p:sp>
      <p:pic>
        <p:nvPicPr>
          <p:cNvPr id="51" name="Image 9" descr="preencoded.png">    </p:cNvPr>
          <p:cNvPicPr>
            <a:picLocks noChangeAspect="1"/>
          </p:cNvPicPr>
          <p:nvPr/>
        </p:nvPicPr>
        <p:blipFill>
          <a:blip r:embed="rId11"/>
          <a:stretch>
            <a:fillRect/>
          </a:stretch>
        </p:blipFill>
        <p:spPr>
          <a:xfrm>
            <a:off x="3617732" y="4669292"/>
            <a:ext cx="317480" cy="317480"/>
          </a:xfrm>
          <a:prstGeom prst="rect">
            <a:avLst/>
          </a:prstGeom>
        </p:spPr>
      </p:pic>
      <p:sp>
        <p:nvSpPr>
          <p:cNvPr id="52" name="Text 40"/>
          <p:cNvSpPr txBox="1"/>
          <p:nvPr/>
        </p:nvSpPr>
        <p:spPr>
          <a:xfrm>
            <a:off x="4178808" y="4526280"/>
            <a:ext cx="1645920" cy="320040"/>
          </a:xfrm>
          <a:prstGeom prst="rect">
            <a:avLst/>
          </a:prstGeom>
          <a:noFill/>
          <a:ln/>
        </p:spPr>
        <p:txBody>
          <a:bodyPr wrap="square" lIns="0" tIns="0" rIns="0" bIns="0" rtlCol="0" anchor="ctr"/>
          <a:lstStyle/>
          <a:p>
            <a:pPr indent="0" marL="0">
              <a:buNone/>
            </a:pPr>
            <a:r>
              <a:rPr lang="en-US" sz="1300" b="1" dirty="0">
                <a:solidFill>
                  <a:srgbClr val="F1F0FA"/>
                </a:solidFill>
                <a:latin typeface="Arial" pitchFamily="34" charset="0"/>
                <a:ea typeface="Arial" pitchFamily="34" charset="-122"/>
                <a:cs typeface="Arial" pitchFamily="34" charset="-120"/>
              </a:rPr>
              <a:t>Webcam capture</a:t>
            </a:r>
            <a:endParaRPr lang="en-US" sz="1300" dirty="0"/>
          </a:p>
        </p:txBody>
      </p:sp>
      <p:sp>
        <p:nvSpPr>
          <p:cNvPr id="53" name="Text 41"/>
          <p:cNvSpPr txBox="1"/>
          <p:nvPr/>
        </p:nvSpPr>
        <p:spPr>
          <a:xfrm>
            <a:off x="4178808" y="4855464"/>
            <a:ext cx="1645920" cy="320040"/>
          </a:xfrm>
          <a:prstGeom prst="rect">
            <a:avLst/>
          </a:prstGeom>
          <a:noFill/>
          <a:ln/>
        </p:spPr>
        <p:txBody>
          <a:bodyPr wrap="square" lIns="0" tIns="0" rIns="0" bIns="0" rtlCol="0" anchor="ctr"/>
          <a:lstStyle/>
          <a:p>
            <a:pPr indent="0" marL="0">
              <a:buNone/>
            </a:pPr>
            <a:r>
              <a:rPr lang="en-US" sz="1100" dirty="0">
                <a:solidFill>
                  <a:srgbClr val="A9A7C0"/>
                </a:solidFill>
                <a:latin typeface="Calibri" pitchFamily="34" charset="0"/>
                <a:ea typeface="Calibri" pitchFamily="34" charset="-122"/>
                <a:cs typeface="Calibri" pitchFamily="34" charset="-120"/>
              </a:rPr>
              <a:t>snap and caption</a:t>
            </a:r>
            <a:endParaRPr lang="en-US" sz="1100" dirty="0"/>
          </a:p>
        </p:txBody>
      </p:sp>
      <p:sp>
        <p:nvSpPr>
          <p:cNvPr id="54" name="Shape 42"/>
          <p:cNvSpPr/>
          <p:nvPr/>
        </p:nvSpPr>
        <p:spPr>
          <a:xfrm>
            <a:off x="6071616" y="4306824"/>
            <a:ext cx="2606040" cy="1078992"/>
          </a:xfrm>
          <a:prstGeom prst="roundRect">
            <a:avLst>
              <a:gd name="adj" fmla="val 11864"/>
            </a:avLst>
          </a:prstGeom>
          <a:solidFill>
            <a:srgbClr val="15132A"/>
          </a:solidFill>
          <a:ln w="12700">
            <a:solidFill>
              <a:srgbClr val="2E2A4F"/>
            </a:solidFill>
            <a:prstDash val="solid"/>
          </a:ln>
        </p:spPr>
      </p:sp>
      <p:sp>
        <p:nvSpPr>
          <p:cNvPr id="55" name="Shape 43"/>
          <p:cNvSpPr/>
          <p:nvPr/>
        </p:nvSpPr>
        <p:spPr>
          <a:xfrm>
            <a:off x="6254496" y="4544568"/>
            <a:ext cx="566928" cy="566928"/>
          </a:xfrm>
          <a:prstGeom prst="ellipse">
            <a:avLst/>
          </a:prstGeom>
          <a:solidFill>
            <a:srgbClr val="F472B6">
              <a:alpha val="18000"/>
            </a:srgbClr>
          </a:solidFill>
          <a:ln w="12700">
            <a:solidFill>
              <a:srgbClr val="F472B6">
                <a:alpha val="60000"/>
              </a:srgbClr>
            </a:solidFill>
            <a:prstDash val="solid"/>
          </a:ln>
        </p:spPr>
      </p:sp>
      <p:pic>
        <p:nvPicPr>
          <p:cNvPr id="56" name="Image 10" descr="preencoded.png">    </p:cNvPr>
          <p:cNvPicPr>
            <a:picLocks noChangeAspect="1"/>
          </p:cNvPicPr>
          <p:nvPr/>
        </p:nvPicPr>
        <p:blipFill>
          <a:blip r:embed="rId12"/>
          <a:stretch>
            <a:fillRect/>
          </a:stretch>
        </p:blipFill>
        <p:spPr>
          <a:xfrm>
            <a:off x="6379220" y="4669292"/>
            <a:ext cx="317480" cy="317480"/>
          </a:xfrm>
          <a:prstGeom prst="rect">
            <a:avLst/>
          </a:prstGeom>
        </p:spPr>
      </p:pic>
      <p:sp>
        <p:nvSpPr>
          <p:cNvPr id="57" name="Text 44"/>
          <p:cNvSpPr txBox="1"/>
          <p:nvPr/>
        </p:nvSpPr>
        <p:spPr>
          <a:xfrm>
            <a:off x="6940296" y="4526280"/>
            <a:ext cx="1645920" cy="320040"/>
          </a:xfrm>
          <a:prstGeom prst="rect">
            <a:avLst/>
          </a:prstGeom>
          <a:noFill/>
          <a:ln/>
        </p:spPr>
        <p:txBody>
          <a:bodyPr wrap="square" lIns="0" tIns="0" rIns="0" bIns="0" rtlCol="0" anchor="ctr"/>
          <a:lstStyle/>
          <a:p>
            <a:pPr indent="0" marL="0">
              <a:buNone/>
            </a:pPr>
            <a:r>
              <a:rPr lang="en-US" sz="1300" b="1" dirty="0">
                <a:solidFill>
                  <a:srgbClr val="F1F0FA"/>
                </a:solidFill>
                <a:latin typeface="Arial" pitchFamily="34" charset="0"/>
                <a:ea typeface="Arial" pitchFamily="34" charset="-122"/>
                <a:cs typeface="Arial" pitchFamily="34" charset="-120"/>
              </a:rPr>
              <a:t>REST API + docs</a:t>
            </a:r>
            <a:endParaRPr lang="en-US" sz="1300" dirty="0"/>
          </a:p>
        </p:txBody>
      </p:sp>
      <p:sp>
        <p:nvSpPr>
          <p:cNvPr id="58" name="Text 45"/>
          <p:cNvSpPr txBox="1"/>
          <p:nvPr/>
        </p:nvSpPr>
        <p:spPr>
          <a:xfrm>
            <a:off x="6940296" y="4855464"/>
            <a:ext cx="1645920" cy="320040"/>
          </a:xfrm>
          <a:prstGeom prst="rect">
            <a:avLst/>
          </a:prstGeom>
          <a:noFill/>
          <a:ln/>
        </p:spPr>
        <p:txBody>
          <a:bodyPr wrap="square" lIns="0" tIns="0" rIns="0" bIns="0" rtlCol="0" anchor="ctr"/>
          <a:lstStyle/>
          <a:p>
            <a:pPr indent="0" marL="0">
              <a:buNone/>
            </a:pPr>
            <a:r>
              <a:rPr lang="en-US" sz="1100" dirty="0">
                <a:solidFill>
                  <a:srgbClr val="A9A7C0"/>
                </a:solidFill>
                <a:latin typeface="Calibri" pitchFamily="34" charset="0"/>
                <a:ea typeface="Calibri" pitchFamily="34" charset="-122"/>
                <a:cs typeface="Calibri" pitchFamily="34" charset="-120"/>
              </a:rPr>
              <a:t>Swagger UI at /docs</a:t>
            </a:r>
            <a:endParaRPr lang="en-US" sz="1100" dirty="0"/>
          </a:p>
        </p:txBody>
      </p:sp>
      <p:sp>
        <p:nvSpPr>
          <p:cNvPr id="59" name="Shape 46"/>
          <p:cNvSpPr/>
          <p:nvPr/>
        </p:nvSpPr>
        <p:spPr>
          <a:xfrm>
            <a:off x="8833104" y="4306824"/>
            <a:ext cx="2606040" cy="1078992"/>
          </a:xfrm>
          <a:prstGeom prst="roundRect">
            <a:avLst>
              <a:gd name="adj" fmla="val 11864"/>
            </a:avLst>
          </a:prstGeom>
          <a:solidFill>
            <a:srgbClr val="15132A"/>
          </a:solidFill>
          <a:ln w="12700">
            <a:solidFill>
              <a:srgbClr val="2E2A4F"/>
            </a:solidFill>
            <a:prstDash val="solid"/>
          </a:ln>
        </p:spPr>
      </p:sp>
      <p:sp>
        <p:nvSpPr>
          <p:cNvPr id="60" name="Shape 47"/>
          <p:cNvSpPr/>
          <p:nvPr/>
        </p:nvSpPr>
        <p:spPr>
          <a:xfrm>
            <a:off x="9015984" y="4544568"/>
            <a:ext cx="566928" cy="566928"/>
          </a:xfrm>
          <a:prstGeom prst="ellipse">
            <a:avLst/>
          </a:prstGeom>
          <a:solidFill>
            <a:srgbClr val="FBBF24">
              <a:alpha val="18000"/>
            </a:srgbClr>
          </a:solidFill>
          <a:ln w="12700">
            <a:solidFill>
              <a:srgbClr val="FBBF24">
                <a:alpha val="60000"/>
              </a:srgbClr>
            </a:solidFill>
            <a:prstDash val="solid"/>
          </a:ln>
        </p:spPr>
      </p:sp>
      <p:pic>
        <p:nvPicPr>
          <p:cNvPr id="61" name="Image 11" descr="preencoded.png">    </p:cNvPr>
          <p:cNvPicPr>
            <a:picLocks noChangeAspect="1"/>
          </p:cNvPicPr>
          <p:nvPr/>
        </p:nvPicPr>
        <p:blipFill>
          <a:blip r:embed="rId13"/>
          <a:stretch>
            <a:fillRect/>
          </a:stretch>
        </p:blipFill>
        <p:spPr>
          <a:xfrm>
            <a:off x="9140708" y="4669292"/>
            <a:ext cx="317480" cy="317480"/>
          </a:xfrm>
          <a:prstGeom prst="rect">
            <a:avLst/>
          </a:prstGeom>
        </p:spPr>
      </p:pic>
      <p:sp>
        <p:nvSpPr>
          <p:cNvPr id="62" name="Text 48"/>
          <p:cNvSpPr txBox="1"/>
          <p:nvPr/>
        </p:nvSpPr>
        <p:spPr>
          <a:xfrm>
            <a:off x="9701784" y="4526280"/>
            <a:ext cx="1645920" cy="320040"/>
          </a:xfrm>
          <a:prstGeom prst="rect">
            <a:avLst/>
          </a:prstGeom>
          <a:noFill/>
          <a:ln/>
        </p:spPr>
        <p:txBody>
          <a:bodyPr wrap="square" lIns="0" tIns="0" rIns="0" bIns="0" rtlCol="0" anchor="ctr"/>
          <a:lstStyle/>
          <a:p>
            <a:pPr indent="0" marL="0">
              <a:buNone/>
            </a:pPr>
            <a:r>
              <a:rPr lang="en-US" sz="1300" b="1" dirty="0">
                <a:solidFill>
                  <a:srgbClr val="F1F0FA"/>
                </a:solidFill>
                <a:latin typeface="Arial" pitchFamily="34" charset="0"/>
                <a:ea typeface="Arial" pitchFamily="34" charset="-122"/>
                <a:cs typeface="Arial" pitchFamily="34" charset="-120"/>
              </a:rPr>
              <a:t>Command line</a:t>
            </a:r>
            <a:endParaRPr lang="en-US" sz="1300" dirty="0"/>
          </a:p>
        </p:txBody>
      </p:sp>
      <p:sp>
        <p:nvSpPr>
          <p:cNvPr id="63" name="Text 49"/>
          <p:cNvSpPr txBox="1"/>
          <p:nvPr/>
        </p:nvSpPr>
        <p:spPr>
          <a:xfrm>
            <a:off x="9701784" y="4855464"/>
            <a:ext cx="1645920" cy="320040"/>
          </a:xfrm>
          <a:prstGeom prst="rect">
            <a:avLst/>
          </a:prstGeom>
          <a:noFill/>
          <a:ln/>
        </p:spPr>
        <p:txBody>
          <a:bodyPr wrap="square" lIns="0" tIns="0" rIns="0" bIns="0" rtlCol="0" anchor="ctr"/>
          <a:lstStyle/>
          <a:p>
            <a:pPr indent="0" marL="0">
              <a:buNone/>
            </a:pPr>
            <a:r>
              <a:rPr lang="en-US" sz="1100" dirty="0">
                <a:solidFill>
                  <a:srgbClr val="A9A7C0"/>
                </a:solidFill>
                <a:latin typeface="Calibri" pitchFamily="34" charset="0"/>
                <a:ea typeface="Calibri" pitchFamily="34" charset="-122"/>
                <a:cs typeface="Calibri" pitchFamily="34" charset="-120"/>
              </a:rPr>
              <a:t>python cli.py folder/</a:t>
            </a:r>
            <a:endParaRPr lang="en-US" sz="1100" dirty="0"/>
          </a:p>
        </p:txBody>
      </p:sp>
      <p:sp>
        <p:nvSpPr>
          <p:cNvPr id="64" name="Text 50"/>
          <p:cNvSpPr txBox="1"/>
          <p:nvPr/>
        </p:nvSpPr>
        <p:spPr>
          <a:xfrm>
            <a:off x="548640" y="5715000"/>
            <a:ext cx="7315200" cy="320040"/>
          </a:xfrm>
          <a:prstGeom prst="rect">
            <a:avLst/>
          </a:prstGeom>
          <a:noFill/>
          <a:ln/>
        </p:spPr>
        <p:txBody>
          <a:bodyPr wrap="square" lIns="0" tIns="0" rIns="0" bIns="0" rtlCol="0" anchor="ctr"/>
          <a:lstStyle/>
          <a:p>
            <a:pPr indent="0" marL="0">
              <a:buNone/>
            </a:pPr>
            <a:r>
              <a:rPr lang="en-US" sz="1200" i="1" dirty="0">
                <a:solidFill>
                  <a:srgbClr val="74718F"/>
                </a:solidFill>
                <a:latin typeface="Calibri" pitchFamily="34" charset="0"/>
                <a:ea typeface="Calibri" pitchFamily="34" charset="-122"/>
                <a:cs typeface="Calibri" pitchFamily="34" charset="-120"/>
              </a:rPr>
              <a:t>22 features in total: see docs/FEATURES.md</a:t>
            </a:r>
            <a:endParaRPr lang="en-US" sz="1200" dirty="0"/>
          </a:p>
        </p:txBody>
      </p:sp>
      <p:sp>
        <p:nvSpPr>
          <p:cNvPr id="65" name="Text 51"/>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b="1" dirty="0">
                <a:solidFill>
                  <a:srgbClr val="A9A7C0"/>
                </a:solidFill>
                <a:latin typeface="Calibri" pitchFamily="34" charset="0"/>
                <a:ea typeface="Calibri" pitchFamily="34" charset="-122"/>
                <a:cs typeface="Calibri" pitchFamily="34" charset="-120"/>
              </a:rPr>
              <a:t>PixelProse</a:t>
            </a:r>
            <a:pPr algn="r" indent="0" marL="0">
              <a:buNone/>
            </a:pPr>
            <a:r>
              <a:rPr lang="en-US" sz="1000" dirty="0">
                <a:solidFill>
                  <a:srgbClr val="74718F"/>
                </a:solidFill>
                <a:latin typeface="Calibri" pitchFamily="34" charset="0"/>
                <a:ea typeface="Calibri" pitchFamily="34" charset="-122"/>
                <a:cs typeface="Calibri" pitchFamily="34" charset="-120"/>
              </a:rPr>
              <a:t>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indent="0" marL="0">
              <a:buNone/>
            </a:pPr>
            <a:r>
              <a:rPr lang="en-US" sz="1100" b="1" spc="300" kern="0" dirty="0">
                <a:solidFill>
                  <a:srgbClr val="8B5CF6"/>
                </a:solidFill>
                <a:latin typeface="Arial" pitchFamily="34" charset="0"/>
                <a:ea typeface="Arial" pitchFamily="34" charset="-122"/>
                <a:cs typeface="Arial" pitchFamily="34" charset="-120"/>
              </a:rPr>
              <a:t>DESIGN &amp; EXPERIENCE</a:t>
            </a:r>
            <a:endParaRPr lang="en-US" sz="1100" dirty="0"/>
          </a:p>
        </p:txBody>
      </p:sp>
      <p:sp>
        <p:nvSpPr>
          <p:cNvPr id="3" name="Text 1"/>
          <p:cNvSpPr txBox="1"/>
          <p:nvPr/>
        </p:nvSpPr>
        <p:spPr>
          <a:xfrm>
            <a:off x="548640" y="777240"/>
            <a:ext cx="11094415" cy="777240"/>
          </a:xfrm>
          <a:prstGeom prst="rect">
            <a:avLst/>
          </a:prstGeom>
          <a:noFill/>
          <a:ln/>
        </p:spPr>
        <p:txBody>
          <a:bodyPr wrap="square" lIns="0" tIns="0" rIns="0" bIns="0" rtlCol="0" anchor="t"/>
          <a:lstStyle/>
          <a:p>
            <a:pPr indent="0" marL="0">
              <a:buNone/>
            </a:pPr>
            <a:r>
              <a:rPr lang="en-US" sz="3400" b="1" dirty="0">
                <a:solidFill>
                  <a:srgbClr val="F1F0FA"/>
                </a:solidFill>
                <a:latin typeface="Arial" pitchFamily="34" charset="0"/>
                <a:ea typeface="Arial" pitchFamily="34" charset="-122"/>
                <a:cs typeface="Arial" pitchFamily="34" charset="-120"/>
              </a:rPr>
              <a:t>Built to be a joy to use</a:t>
            </a:r>
            <a:endParaRPr lang="en-US" sz="3400" dirty="0"/>
          </a:p>
        </p:txBody>
      </p:sp>
      <p:sp>
        <p:nvSpPr>
          <p:cNvPr id="4" name="Shape 2"/>
          <p:cNvSpPr/>
          <p:nvPr/>
        </p:nvSpPr>
        <p:spPr>
          <a:xfrm>
            <a:off x="493776" y="1682496"/>
            <a:ext cx="4650664" cy="3172968"/>
          </a:xfrm>
          <a:prstGeom prst="roundRect">
            <a:avLst>
              <a:gd name="adj" fmla="val 3458"/>
            </a:avLst>
          </a:prstGeom>
          <a:solidFill>
            <a:srgbClr val="1C1A36"/>
          </a:solidFill>
          <a:ln w="12700">
            <a:solidFill>
              <a:srgbClr val="2E2A4F"/>
            </a:solidFill>
            <a:prstDash val="solid"/>
          </a:ln>
          <a:effectLst>
            <a:outerShdw sx="100000" sy="100000" kx="0" ky="0" algn="bl" rotWithShape="0" blurRad="228600" dist="76200" dir="5400000">
              <a:srgbClr val="000000">
                <a:alpha val="45000"/>
              </a:srgbClr>
            </a:outerShdw>
          </a:effectLst>
        </p:spPr>
      </p:sp>
      <p:pic>
        <p:nvPicPr>
          <p:cNvPr id="5" name="Image 0" descr="/home/user/AAI/docs/images/explain_dog.jpg">    </p:cNvPr>
          <p:cNvPicPr>
            <a:picLocks noChangeAspect="1"/>
          </p:cNvPicPr>
          <p:nvPr/>
        </p:nvPicPr>
        <p:blipFill>
          <a:blip r:embed="rId2"/>
          <a:stretch>
            <a:fillRect/>
          </a:stretch>
        </p:blipFill>
        <p:spPr>
          <a:xfrm>
            <a:off x="548640" y="1737360"/>
            <a:ext cx="4540936" cy="3063240"/>
          </a:xfrm>
          <a:prstGeom prst="rect">
            <a:avLst/>
          </a:prstGeom>
        </p:spPr>
      </p:pic>
      <p:sp>
        <p:nvSpPr>
          <p:cNvPr id="6" name="Shape 3"/>
          <p:cNvSpPr/>
          <p:nvPr/>
        </p:nvSpPr>
        <p:spPr>
          <a:xfrm>
            <a:off x="493776" y="4882896"/>
            <a:ext cx="1877752" cy="1572768"/>
          </a:xfrm>
          <a:prstGeom prst="roundRect">
            <a:avLst>
              <a:gd name="adj" fmla="val 6977"/>
            </a:avLst>
          </a:prstGeom>
          <a:solidFill>
            <a:srgbClr val="1C1A36"/>
          </a:solidFill>
          <a:ln w="12700">
            <a:solidFill>
              <a:srgbClr val="2E2A4F"/>
            </a:solidFill>
            <a:prstDash val="solid"/>
          </a:ln>
          <a:effectLst>
            <a:outerShdw sx="100000" sy="100000" kx="0" ky="0" algn="bl" rotWithShape="0" blurRad="228600" dist="76200" dir="5400000">
              <a:srgbClr val="000000">
                <a:alpha val="45000"/>
              </a:srgbClr>
            </a:outerShdw>
          </a:effectLst>
        </p:spPr>
      </p:sp>
      <p:pic>
        <p:nvPicPr>
          <p:cNvPr id="7" name="Image 1" descr="/home/user/AAI/docs/images/light_theme.jpg">    </p:cNvPr>
          <p:cNvPicPr>
            <a:picLocks noChangeAspect="1"/>
          </p:cNvPicPr>
          <p:nvPr/>
        </p:nvPicPr>
        <p:blipFill>
          <a:blip r:embed="rId3"/>
          <a:stretch>
            <a:fillRect/>
          </a:stretch>
        </p:blipFill>
        <p:spPr>
          <a:xfrm>
            <a:off x="548640" y="4937760"/>
            <a:ext cx="1768024" cy="1463040"/>
          </a:xfrm>
          <a:prstGeom prst="rect">
            <a:avLst/>
          </a:prstGeom>
        </p:spPr>
      </p:pic>
      <p:sp>
        <p:nvSpPr>
          <p:cNvPr id="8" name="Shape 4"/>
          <p:cNvSpPr/>
          <p:nvPr/>
        </p:nvSpPr>
        <p:spPr>
          <a:xfrm>
            <a:off x="3511296" y="4987252"/>
            <a:ext cx="2944368" cy="1364056"/>
          </a:xfrm>
          <a:prstGeom prst="roundRect">
            <a:avLst>
              <a:gd name="adj" fmla="val 8044"/>
            </a:avLst>
          </a:prstGeom>
          <a:solidFill>
            <a:srgbClr val="1C1A36"/>
          </a:solidFill>
          <a:ln w="12700">
            <a:solidFill>
              <a:srgbClr val="2E2A4F"/>
            </a:solidFill>
            <a:prstDash val="solid"/>
          </a:ln>
          <a:effectLst>
            <a:outerShdw sx="100000" sy="100000" kx="0" ky="0" algn="bl" rotWithShape="0" blurRad="228600" dist="76200" dir="5400000">
              <a:srgbClr val="000000">
                <a:alpha val="45000"/>
              </a:srgbClr>
            </a:outerShdw>
          </a:effectLst>
        </p:spPr>
      </p:sp>
      <p:pic>
        <p:nvPicPr>
          <p:cNvPr id="9" name="Image 2" descr="/home/user/AAI/docs/images/batch.jpg">    </p:cNvPr>
          <p:cNvPicPr>
            <a:picLocks noChangeAspect="1"/>
          </p:cNvPicPr>
          <p:nvPr/>
        </p:nvPicPr>
        <p:blipFill>
          <a:blip r:embed="rId4"/>
          <a:stretch>
            <a:fillRect/>
          </a:stretch>
        </p:blipFill>
        <p:spPr>
          <a:xfrm>
            <a:off x="3566160" y="5042116"/>
            <a:ext cx="2834640" cy="1254328"/>
          </a:xfrm>
          <a:prstGeom prst="rect">
            <a:avLst/>
          </a:prstGeom>
        </p:spPr>
      </p:pic>
      <p:sp>
        <p:nvSpPr>
          <p:cNvPr id="10" name="Shape 5"/>
          <p:cNvSpPr/>
          <p:nvPr/>
        </p:nvSpPr>
        <p:spPr>
          <a:xfrm>
            <a:off x="6528816" y="2084832"/>
            <a:ext cx="1892808" cy="3968496"/>
          </a:xfrm>
          <a:prstGeom prst="roundRect">
            <a:avLst>
              <a:gd name="adj" fmla="val 5797"/>
            </a:avLst>
          </a:prstGeom>
          <a:solidFill>
            <a:srgbClr val="1C1A36"/>
          </a:solidFill>
          <a:ln w="12700">
            <a:solidFill>
              <a:srgbClr val="2E2A4F"/>
            </a:solidFill>
            <a:prstDash val="solid"/>
          </a:ln>
          <a:effectLst>
            <a:outerShdw sx="100000" sy="100000" kx="0" ky="0" algn="bl" rotWithShape="0" blurRad="228600" dist="76200" dir="5400000">
              <a:srgbClr val="000000">
                <a:alpha val="45000"/>
              </a:srgbClr>
            </a:outerShdw>
          </a:effectLst>
        </p:spPr>
      </p:sp>
      <p:pic>
        <p:nvPicPr>
          <p:cNvPr id="11" name="Image 3" descr="/home/user/AAI/docs/images/mobile_hero.jpg">    </p:cNvPr>
          <p:cNvPicPr>
            <a:picLocks noChangeAspect="1"/>
          </p:cNvPicPr>
          <p:nvPr/>
        </p:nvPicPr>
        <p:blipFill>
          <a:blip r:embed="rId5"/>
          <a:stretch>
            <a:fillRect/>
          </a:stretch>
        </p:blipFill>
        <p:spPr>
          <a:xfrm>
            <a:off x="6583680" y="2139696"/>
            <a:ext cx="1783080" cy="3858768"/>
          </a:xfrm>
          <a:prstGeom prst="rect">
            <a:avLst/>
          </a:prstGeom>
        </p:spPr>
      </p:pic>
      <p:sp>
        <p:nvSpPr>
          <p:cNvPr id="12" name="Text 6"/>
          <p:cNvSpPr txBox="1"/>
          <p:nvPr/>
        </p:nvSpPr>
        <p:spPr>
          <a:xfrm>
            <a:off x="8641080" y="1783080"/>
            <a:ext cx="3017520" cy="45720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A9A7C0"/>
                </a:solidFill>
                <a:latin typeface="Calibri" pitchFamily="34" charset="0"/>
                <a:ea typeface="Calibri" pitchFamily="34" charset="-122"/>
                <a:cs typeface="Calibri" pitchFamily="34" charset="-120"/>
              </a:rPr>
              <a:t>Glassmorphism + animated aurora, dark &amp; light themes</a:t>
            </a:r>
            <a:endParaRPr lang="en-US" sz="1300" dirty="0"/>
          </a:p>
          <a:p>
            <a:pPr marL="342900" indent="-342900">
              <a:spcAft>
                <a:spcPts val="1000"/>
              </a:spcAft>
              <a:buSzPct val="100000"/>
              <a:buChar char="•"/>
            </a:pPr>
            <a:r>
              <a:rPr lang="en-US" sz="1300" dirty="0">
                <a:solidFill>
                  <a:srgbClr val="A9A7C0"/>
                </a:solidFill>
                <a:latin typeface="Calibri" pitchFamily="34" charset="0"/>
                <a:ea typeface="Calibri" pitchFamily="34" charset="-122"/>
                <a:cs typeface="Calibri" pitchFamily="34" charset="-120"/>
              </a:rPr>
              <a:t>Scanning beam over the ViT's 24×24 patch grid while the AI works</a:t>
            </a:r>
            <a:endParaRPr lang="en-US" sz="1300" dirty="0"/>
          </a:p>
          <a:p>
            <a:pPr marL="342900" indent="-342900">
              <a:spcAft>
                <a:spcPts val="1000"/>
              </a:spcAft>
              <a:buSzPct val="100000"/>
              <a:buChar char="•"/>
            </a:pPr>
            <a:r>
              <a:rPr lang="en-US" sz="1300" dirty="0">
                <a:solidFill>
                  <a:srgbClr val="A9A7C0"/>
                </a:solidFill>
                <a:latin typeface="Calibri" pitchFamily="34" charset="0"/>
                <a:ea typeface="Calibri" pitchFamily="34" charset="-122"/>
                <a:cs typeface="Calibri" pitchFamily="34" charset="-120"/>
              </a:rPr>
              <a:t>Live pipeline checklist and neural-net loader</a:t>
            </a:r>
            <a:endParaRPr lang="en-US" sz="1300" dirty="0"/>
          </a:p>
          <a:p>
            <a:pPr marL="342900" indent="-342900">
              <a:spcAft>
                <a:spcPts val="1000"/>
              </a:spcAft>
              <a:buSzPct val="100000"/>
              <a:buChar char="•"/>
            </a:pPr>
            <a:r>
              <a:rPr lang="en-US" sz="1300" dirty="0">
                <a:solidFill>
                  <a:srgbClr val="A9A7C0"/>
                </a:solidFill>
                <a:latin typeface="Calibri" pitchFamily="34" charset="0"/>
                <a:ea typeface="Calibri" pitchFamily="34" charset="-122"/>
                <a:cs typeface="Calibri" pitchFamily="34" charset="-120"/>
              </a:rPr>
              <a:t>Word-by-word caption reveal, animated score rings</a:t>
            </a:r>
            <a:endParaRPr lang="en-US" sz="1300" dirty="0"/>
          </a:p>
          <a:p>
            <a:pPr marL="342900" indent="-342900">
              <a:spcAft>
                <a:spcPts val="1000"/>
              </a:spcAft>
              <a:buSzPct val="100000"/>
              <a:buChar char="•"/>
            </a:pPr>
            <a:r>
              <a:rPr lang="en-US" sz="1300" dirty="0">
                <a:solidFill>
                  <a:srgbClr val="A9A7C0"/>
                </a:solidFill>
                <a:latin typeface="Calibri" pitchFamily="34" charset="0"/>
                <a:ea typeface="Calibri" pitchFamily="34" charset="-122"/>
                <a:cs typeface="Calibri" pitchFamily="34" charset="-120"/>
              </a:rPr>
              <a:t>Responsive down to phones; reduced-motion support</a:t>
            </a:r>
            <a:endParaRPr lang="en-US" sz="1300" dirty="0"/>
          </a:p>
          <a:p>
            <a:pPr marL="342900" indent="-342900">
              <a:spcAft>
                <a:spcPts val="1000"/>
              </a:spcAft>
              <a:buSzPct val="100000"/>
              <a:buChar char="•"/>
            </a:pPr>
            <a:r>
              <a:rPr lang="en-US" sz="1300" dirty="0">
                <a:solidFill>
                  <a:srgbClr val="A9A7C0"/>
                </a:solidFill>
                <a:latin typeface="Calibri" pitchFamily="34" charset="0"/>
                <a:ea typeface="Calibri" pitchFamily="34" charset="-122"/>
                <a:cs typeface="Calibri" pitchFamily="34" charset="-120"/>
              </a:rPr>
              <a:t>Keyboard shortcuts, focus states, ARIA labels</a:t>
            </a:r>
            <a:endParaRPr lang="en-US" sz="1300" dirty="0"/>
          </a:p>
        </p:txBody>
      </p:sp>
      <p:sp>
        <p:nvSpPr>
          <p:cNvPr id="13" name="Text 7"/>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b="1" dirty="0">
                <a:solidFill>
                  <a:srgbClr val="A9A7C0"/>
                </a:solidFill>
                <a:latin typeface="Calibri" pitchFamily="34" charset="0"/>
                <a:ea typeface="Calibri" pitchFamily="34" charset="-122"/>
                <a:cs typeface="Calibri" pitchFamily="34" charset="-120"/>
              </a:rPr>
              <a:t>PixelProse</a:t>
            </a:r>
            <a:pPr algn="r" indent="0" marL="0">
              <a:buNone/>
            </a:pPr>
            <a:r>
              <a:rPr lang="en-US" sz="1000" dirty="0">
                <a:solidFill>
                  <a:srgbClr val="74718F"/>
                </a:solidFill>
                <a:latin typeface="Calibri" pitchFamily="34" charset="0"/>
                <a:ea typeface="Calibri" pitchFamily="34" charset="-122"/>
                <a:cs typeface="Calibri" pitchFamily="34" charset="-120"/>
              </a:rPr>
              <a:t>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684368" y="1097280"/>
            <a:ext cx="822960" cy="822960"/>
          </a:xfrm>
          <a:prstGeom prst="rect">
            <a:avLst/>
          </a:prstGeom>
        </p:spPr>
      </p:pic>
      <p:sp>
        <p:nvSpPr>
          <p:cNvPr id="3" name="Text 0"/>
          <p:cNvSpPr txBox="1"/>
          <p:nvPr/>
        </p:nvSpPr>
        <p:spPr>
          <a:xfrm>
            <a:off x="0" y="2057400"/>
            <a:ext cx="12191695" cy="1005840"/>
          </a:xfrm>
          <a:prstGeom prst="rect">
            <a:avLst/>
          </a:prstGeom>
          <a:noFill/>
          <a:ln/>
        </p:spPr>
        <p:txBody>
          <a:bodyPr wrap="square" lIns="0" tIns="0" rIns="0" bIns="0" rtlCol="0" anchor="ctr"/>
          <a:lstStyle/>
          <a:p>
            <a:pPr algn="ctr" indent="0" marL="0">
              <a:buNone/>
            </a:pPr>
            <a:r>
              <a:rPr lang="en-US" sz="6000" b="1" dirty="0">
                <a:solidFill>
                  <a:srgbClr val="F1F0FA"/>
                </a:solidFill>
                <a:latin typeface="Arial" pitchFamily="34" charset="0"/>
                <a:ea typeface="Arial" pitchFamily="34" charset="-122"/>
                <a:cs typeface="Arial" pitchFamily="34" charset="-120"/>
              </a:rPr>
              <a:t>Live demo</a:t>
            </a:r>
            <a:endParaRPr lang="en-US" sz="6000" dirty="0"/>
          </a:p>
        </p:txBody>
      </p:sp>
      <p:sp>
        <p:nvSpPr>
          <p:cNvPr id="4" name="Text 1"/>
          <p:cNvSpPr txBox="1"/>
          <p:nvPr/>
        </p:nvSpPr>
        <p:spPr>
          <a:xfrm>
            <a:off x="0" y="3063240"/>
            <a:ext cx="12191695" cy="411480"/>
          </a:xfrm>
          <a:prstGeom prst="rect">
            <a:avLst/>
          </a:prstGeom>
          <a:noFill/>
          <a:ln/>
        </p:spPr>
        <p:txBody>
          <a:bodyPr wrap="square" lIns="0" tIns="0" rIns="0" bIns="0" rtlCol="0" anchor="ctr"/>
          <a:lstStyle/>
          <a:p>
            <a:pPr algn="ctr" indent="0" marL="0">
              <a:buNone/>
            </a:pPr>
            <a:r>
              <a:rPr lang="en-US" sz="1800" dirty="0">
                <a:solidFill>
                  <a:srgbClr val="22D3EE"/>
                </a:solidFill>
                <a:latin typeface="Courier New" pitchFamily="34" charset="0"/>
                <a:ea typeface="Courier New" pitchFamily="34" charset="-122"/>
                <a:cs typeface="Courier New" pitchFamily="34" charset="-120"/>
              </a:rPr>
              <a:t>http://127.0.0.1:8000</a:t>
            </a:r>
            <a:endParaRPr lang="en-US" sz="1800" dirty="0"/>
          </a:p>
        </p:txBody>
      </p:sp>
      <p:sp>
        <p:nvSpPr>
          <p:cNvPr id="5" name="Shape 2"/>
          <p:cNvSpPr/>
          <p:nvPr/>
        </p:nvSpPr>
        <p:spPr>
          <a:xfrm>
            <a:off x="1005840" y="3931920"/>
            <a:ext cx="2377440" cy="548640"/>
          </a:xfrm>
          <a:prstGeom prst="roundRect">
            <a:avLst>
              <a:gd name="adj" fmla="val 50000"/>
            </a:avLst>
          </a:prstGeom>
          <a:solidFill>
            <a:srgbClr val="0B0A14">
              <a:alpha val="70000"/>
            </a:srgbClr>
          </a:solidFill>
          <a:ln w="12700">
            <a:solidFill>
              <a:srgbClr val="2E2A4F"/>
            </a:solidFill>
            <a:prstDash val="solid"/>
          </a:ln>
        </p:spPr>
      </p:sp>
      <p:sp>
        <p:nvSpPr>
          <p:cNvPr id="6" name="Text 3"/>
          <p:cNvSpPr txBox="1"/>
          <p:nvPr/>
        </p:nvSpPr>
        <p:spPr>
          <a:xfrm>
            <a:off x="1005840" y="3931920"/>
            <a:ext cx="2377440" cy="548640"/>
          </a:xfrm>
          <a:prstGeom prst="rect">
            <a:avLst/>
          </a:prstGeom>
          <a:noFill/>
          <a:ln/>
        </p:spPr>
        <p:txBody>
          <a:bodyPr wrap="square" lIns="0" tIns="0" rIns="0" bIns="0" rtlCol="0" anchor="ctr"/>
          <a:lstStyle/>
          <a:p>
            <a:pPr algn="ctr" indent="0" marL="0">
              <a:buNone/>
            </a:pPr>
            <a:r>
              <a:rPr lang="en-US" sz="1300" b="1" dirty="0">
                <a:solidFill>
                  <a:srgbClr val="8B5CF6"/>
                </a:solidFill>
                <a:latin typeface="Calibri" pitchFamily="34" charset="0"/>
                <a:ea typeface="Calibri" pitchFamily="34" charset="-122"/>
                <a:cs typeface="Calibri" pitchFamily="34" charset="-120"/>
              </a:rPr>
              <a:t>1  </a:t>
            </a:r>
            <a:pPr algn="ctr" indent="0" marL="0">
              <a:buNone/>
            </a:pPr>
            <a:r>
              <a:rPr lang="en-US" sz="1300" dirty="0">
                <a:solidFill>
                  <a:srgbClr val="F1F0FA"/>
                </a:solidFill>
                <a:latin typeface="Calibri" pitchFamily="34" charset="0"/>
                <a:ea typeface="Calibri" pitchFamily="34" charset="-122"/>
                <a:cs typeface="Calibri" pitchFamily="34" charset="-120"/>
              </a:rPr>
              <a:t>Sample → Generate</a:t>
            </a:r>
            <a:endParaRPr lang="en-US" sz="1300" dirty="0"/>
          </a:p>
        </p:txBody>
      </p:sp>
      <p:sp>
        <p:nvSpPr>
          <p:cNvPr id="7" name="Shape 4"/>
          <p:cNvSpPr/>
          <p:nvPr/>
        </p:nvSpPr>
        <p:spPr>
          <a:xfrm>
            <a:off x="3611880" y="3931920"/>
            <a:ext cx="2377440" cy="548640"/>
          </a:xfrm>
          <a:prstGeom prst="roundRect">
            <a:avLst>
              <a:gd name="adj" fmla="val 50000"/>
            </a:avLst>
          </a:prstGeom>
          <a:solidFill>
            <a:srgbClr val="0B0A14">
              <a:alpha val="70000"/>
            </a:srgbClr>
          </a:solidFill>
          <a:ln w="12700">
            <a:solidFill>
              <a:srgbClr val="2E2A4F"/>
            </a:solidFill>
            <a:prstDash val="solid"/>
          </a:ln>
        </p:spPr>
      </p:sp>
      <p:sp>
        <p:nvSpPr>
          <p:cNvPr id="8" name="Text 5"/>
          <p:cNvSpPr txBox="1"/>
          <p:nvPr/>
        </p:nvSpPr>
        <p:spPr>
          <a:xfrm>
            <a:off x="3611880" y="3931920"/>
            <a:ext cx="2377440" cy="548640"/>
          </a:xfrm>
          <a:prstGeom prst="rect">
            <a:avLst/>
          </a:prstGeom>
          <a:noFill/>
          <a:ln/>
        </p:spPr>
        <p:txBody>
          <a:bodyPr wrap="square" lIns="0" tIns="0" rIns="0" bIns="0" rtlCol="0" anchor="ctr"/>
          <a:lstStyle/>
          <a:p>
            <a:pPr algn="ctr" indent="0" marL="0">
              <a:buNone/>
            </a:pPr>
            <a:r>
              <a:rPr lang="en-US" sz="1300" b="1" dirty="0">
                <a:solidFill>
                  <a:srgbClr val="8B5CF6"/>
                </a:solidFill>
                <a:latin typeface="Calibri" pitchFamily="34" charset="0"/>
                <a:ea typeface="Calibri" pitchFamily="34" charset="-122"/>
                <a:cs typeface="Calibri" pitchFamily="34" charset="-120"/>
              </a:rPr>
              <a:t>2  </a:t>
            </a:r>
            <a:pPr algn="ctr" indent="0" marL="0">
              <a:buNone/>
            </a:pPr>
            <a:r>
              <a:rPr lang="en-US" sz="1300" dirty="0">
                <a:solidFill>
                  <a:srgbClr val="F1F0FA"/>
                </a:solidFill>
                <a:latin typeface="Calibri" pitchFamily="34" charset="0"/>
                <a:ea typeface="Calibri" pitchFamily="34" charset="-122"/>
                <a:cs typeface="Calibri" pitchFamily="34" charset="-120"/>
              </a:rPr>
              <a:t>Candidates</a:t>
            </a:r>
            <a:endParaRPr lang="en-US" sz="1300" dirty="0"/>
          </a:p>
        </p:txBody>
      </p:sp>
      <p:sp>
        <p:nvSpPr>
          <p:cNvPr id="9" name="Shape 6"/>
          <p:cNvSpPr/>
          <p:nvPr/>
        </p:nvSpPr>
        <p:spPr>
          <a:xfrm>
            <a:off x="6217920" y="3931920"/>
            <a:ext cx="2377440" cy="548640"/>
          </a:xfrm>
          <a:prstGeom prst="roundRect">
            <a:avLst>
              <a:gd name="adj" fmla="val 50000"/>
            </a:avLst>
          </a:prstGeom>
          <a:solidFill>
            <a:srgbClr val="0B0A14">
              <a:alpha val="70000"/>
            </a:srgbClr>
          </a:solidFill>
          <a:ln w="12700">
            <a:solidFill>
              <a:srgbClr val="2E2A4F"/>
            </a:solidFill>
            <a:prstDash val="solid"/>
          </a:ln>
        </p:spPr>
      </p:sp>
      <p:sp>
        <p:nvSpPr>
          <p:cNvPr id="10" name="Text 7"/>
          <p:cNvSpPr txBox="1"/>
          <p:nvPr/>
        </p:nvSpPr>
        <p:spPr>
          <a:xfrm>
            <a:off x="6217920" y="3931920"/>
            <a:ext cx="2377440" cy="548640"/>
          </a:xfrm>
          <a:prstGeom prst="rect">
            <a:avLst/>
          </a:prstGeom>
          <a:noFill/>
          <a:ln/>
        </p:spPr>
        <p:txBody>
          <a:bodyPr wrap="square" lIns="0" tIns="0" rIns="0" bIns="0" rtlCol="0" anchor="ctr"/>
          <a:lstStyle/>
          <a:p>
            <a:pPr algn="ctr" indent="0" marL="0">
              <a:buNone/>
            </a:pPr>
            <a:r>
              <a:rPr lang="en-US" sz="1300" b="1" dirty="0">
                <a:solidFill>
                  <a:srgbClr val="8B5CF6"/>
                </a:solidFill>
                <a:latin typeface="Calibri" pitchFamily="34" charset="0"/>
                <a:ea typeface="Calibri" pitchFamily="34" charset="-122"/>
                <a:cs typeface="Calibri" pitchFamily="34" charset="-120"/>
              </a:rPr>
              <a:t>3  </a:t>
            </a:r>
            <a:pPr algn="ctr" indent="0" marL="0">
              <a:buNone/>
            </a:pPr>
            <a:r>
              <a:rPr lang="en-US" sz="1300" dirty="0">
                <a:solidFill>
                  <a:srgbClr val="F1F0FA"/>
                </a:solidFill>
                <a:latin typeface="Calibri" pitchFamily="34" charset="0"/>
                <a:ea typeface="Calibri" pitchFamily="34" charset="-122"/>
                <a:cs typeface="Calibri" pitchFamily="34" charset="-120"/>
              </a:rPr>
              <a:t>Explain heatmaps</a:t>
            </a:r>
            <a:endParaRPr lang="en-US" sz="1300" dirty="0"/>
          </a:p>
        </p:txBody>
      </p:sp>
      <p:sp>
        <p:nvSpPr>
          <p:cNvPr id="11" name="Shape 8"/>
          <p:cNvSpPr/>
          <p:nvPr/>
        </p:nvSpPr>
        <p:spPr>
          <a:xfrm>
            <a:off x="8823960" y="3931920"/>
            <a:ext cx="2377440" cy="548640"/>
          </a:xfrm>
          <a:prstGeom prst="roundRect">
            <a:avLst>
              <a:gd name="adj" fmla="val 50000"/>
            </a:avLst>
          </a:prstGeom>
          <a:solidFill>
            <a:srgbClr val="0B0A14">
              <a:alpha val="70000"/>
            </a:srgbClr>
          </a:solidFill>
          <a:ln w="12700">
            <a:solidFill>
              <a:srgbClr val="2E2A4F"/>
            </a:solidFill>
            <a:prstDash val="solid"/>
          </a:ln>
        </p:spPr>
      </p:sp>
      <p:sp>
        <p:nvSpPr>
          <p:cNvPr id="12" name="Text 9"/>
          <p:cNvSpPr txBox="1"/>
          <p:nvPr/>
        </p:nvSpPr>
        <p:spPr>
          <a:xfrm>
            <a:off x="8823960" y="3931920"/>
            <a:ext cx="2377440" cy="548640"/>
          </a:xfrm>
          <a:prstGeom prst="rect">
            <a:avLst/>
          </a:prstGeom>
          <a:noFill/>
          <a:ln/>
        </p:spPr>
        <p:txBody>
          <a:bodyPr wrap="square" lIns="0" tIns="0" rIns="0" bIns="0" rtlCol="0" anchor="ctr"/>
          <a:lstStyle/>
          <a:p>
            <a:pPr algn="ctr" indent="0" marL="0">
              <a:buNone/>
            </a:pPr>
            <a:r>
              <a:rPr lang="en-US" sz="1300" b="1" dirty="0">
                <a:solidFill>
                  <a:srgbClr val="8B5CF6"/>
                </a:solidFill>
                <a:latin typeface="Calibri" pitchFamily="34" charset="0"/>
                <a:ea typeface="Calibri" pitchFamily="34" charset="-122"/>
                <a:cs typeface="Calibri" pitchFamily="34" charset="-120"/>
              </a:rPr>
              <a:t>4  </a:t>
            </a:r>
            <a:pPr algn="ctr" indent="0" marL="0">
              <a:buNone/>
            </a:pPr>
            <a:r>
              <a:rPr lang="en-US" sz="1300" dirty="0">
                <a:solidFill>
                  <a:srgbClr val="F1F0FA"/>
                </a:solidFill>
                <a:latin typeface="Calibri" pitchFamily="34" charset="0"/>
                <a:ea typeface="Calibri" pitchFamily="34" charset="-122"/>
                <a:cs typeface="Calibri" pitchFamily="34" charset="-120"/>
              </a:rPr>
              <a:t>Ask questions</a:t>
            </a:r>
            <a:endParaRPr lang="en-US" sz="1300" dirty="0"/>
          </a:p>
        </p:txBody>
      </p:sp>
      <p:sp>
        <p:nvSpPr>
          <p:cNvPr id="13" name="Shape 10"/>
          <p:cNvSpPr/>
          <p:nvPr/>
        </p:nvSpPr>
        <p:spPr>
          <a:xfrm>
            <a:off x="1005840" y="4709160"/>
            <a:ext cx="2377440" cy="548640"/>
          </a:xfrm>
          <a:prstGeom prst="roundRect">
            <a:avLst>
              <a:gd name="adj" fmla="val 50000"/>
            </a:avLst>
          </a:prstGeom>
          <a:solidFill>
            <a:srgbClr val="0B0A14">
              <a:alpha val="70000"/>
            </a:srgbClr>
          </a:solidFill>
          <a:ln w="12700">
            <a:solidFill>
              <a:srgbClr val="2E2A4F"/>
            </a:solidFill>
            <a:prstDash val="solid"/>
          </a:ln>
        </p:spPr>
      </p:sp>
      <p:sp>
        <p:nvSpPr>
          <p:cNvPr id="14" name="Text 11"/>
          <p:cNvSpPr txBox="1"/>
          <p:nvPr/>
        </p:nvSpPr>
        <p:spPr>
          <a:xfrm>
            <a:off x="1005840" y="4709160"/>
            <a:ext cx="2377440" cy="548640"/>
          </a:xfrm>
          <a:prstGeom prst="rect">
            <a:avLst/>
          </a:prstGeom>
          <a:noFill/>
          <a:ln/>
        </p:spPr>
        <p:txBody>
          <a:bodyPr wrap="square" lIns="0" tIns="0" rIns="0" bIns="0" rtlCol="0" anchor="ctr"/>
          <a:lstStyle/>
          <a:p>
            <a:pPr algn="ctr" indent="0" marL="0">
              <a:buNone/>
            </a:pPr>
            <a:r>
              <a:rPr lang="en-US" sz="1300" b="1" dirty="0">
                <a:solidFill>
                  <a:srgbClr val="8B5CF6"/>
                </a:solidFill>
                <a:latin typeface="Calibri" pitchFamily="34" charset="0"/>
                <a:ea typeface="Calibri" pitchFamily="34" charset="-122"/>
                <a:cs typeface="Calibri" pitchFamily="34" charset="-120"/>
              </a:rPr>
              <a:t>5  </a:t>
            </a:r>
            <a:pPr algn="ctr" indent="0" marL="0">
              <a:buNone/>
            </a:pPr>
            <a:r>
              <a:rPr lang="en-US" sz="1300" dirty="0">
                <a:solidFill>
                  <a:srgbClr val="F1F0FA"/>
                </a:solidFill>
                <a:latin typeface="Calibri" pitchFamily="34" charset="0"/>
                <a:ea typeface="Calibri" pitchFamily="34" charset="-122"/>
                <a:cs typeface="Calibri" pitchFamily="34" charset="-120"/>
              </a:rPr>
              <a:t>Match descriptions</a:t>
            </a:r>
            <a:endParaRPr lang="en-US" sz="1300" dirty="0"/>
          </a:p>
        </p:txBody>
      </p:sp>
      <p:sp>
        <p:nvSpPr>
          <p:cNvPr id="15" name="Shape 12"/>
          <p:cNvSpPr/>
          <p:nvPr/>
        </p:nvSpPr>
        <p:spPr>
          <a:xfrm>
            <a:off x="3611880" y="4709160"/>
            <a:ext cx="2377440" cy="548640"/>
          </a:xfrm>
          <a:prstGeom prst="roundRect">
            <a:avLst>
              <a:gd name="adj" fmla="val 50000"/>
            </a:avLst>
          </a:prstGeom>
          <a:solidFill>
            <a:srgbClr val="0B0A14">
              <a:alpha val="70000"/>
            </a:srgbClr>
          </a:solidFill>
          <a:ln w="12700">
            <a:solidFill>
              <a:srgbClr val="2E2A4F"/>
            </a:solidFill>
            <a:prstDash val="solid"/>
          </a:ln>
        </p:spPr>
      </p:sp>
      <p:sp>
        <p:nvSpPr>
          <p:cNvPr id="16" name="Text 13"/>
          <p:cNvSpPr txBox="1"/>
          <p:nvPr/>
        </p:nvSpPr>
        <p:spPr>
          <a:xfrm>
            <a:off x="3611880" y="4709160"/>
            <a:ext cx="2377440" cy="548640"/>
          </a:xfrm>
          <a:prstGeom prst="rect">
            <a:avLst/>
          </a:prstGeom>
          <a:noFill/>
          <a:ln/>
        </p:spPr>
        <p:txBody>
          <a:bodyPr wrap="square" lIns="0" tIns="0" rIns="0" bIns="0" rtlCol="0" anchor="ctr"/>
          <a:lstStyle/>
          <a:p>
            <a:pPr algn="ctr" indent="0" marL="0">
              <a:buNone/>
            </a:pPr>
            <a:r>
              <a:rPr lang="en-US" sz="1300" b="1" dirty="0">
                <a:solidFill>
                  <a:srgbClr val="8B5CF6"/>
                </a:solidFill>
                <a:latin typeface="Calibri" pitchFamily="34" charset="0"/>
                <a:ea typeface="Calibri" pitchFamily="34" charset="-122"/>
                <a:cs typeface="Calibri" pitchFamily="34" charset="-120"/>
              </a:rPr>
              <a:t>6  </a:t>
            </a:r>
            <a:pPr algn="ctr" indent="0" marL="0">
              <a:buNone/>
            </a:pPr>
            <a:r>
              <a:rPr lang="en-US" sz="1300" dirty="0">
                <a:solidFill>
                  <a:srgbClr val="F1F0FA"/>
                </a:solidFill>
                <a:latin typeface="Calibri" pitchFamily="34" charset="0"/>
                <a:ea typeface="Calibri" pitchFamily="34" charset="-122"/>
                <a:cs typeface="Calibri" pitchFamily="34" charset="-120"/>
              </a:rPr>
              <a:t>A fresh photo</a:t>
            </a:r>
            <a:endParaRPr lang="en-US" sz="1300" dirty="0"/>
          </a:p>
        </p:txBody>
      </p:sp>
      <p:sp>
        <p:nvSpPr>
          <p:cNvPr id="17" name="Shape 14"/>
          <p:cNvSpPr/>
          <p:nvPr/>
        </p:nvSpPr>
        <p:spPr>
          <a:xfrm>
            <a:off x="6217920" y="4709160"/>
            <a:ext cx="2377440" cy="548640"/>
          </a:xfrm>
          <a:prstGeom prst="roundRect">
            <a:avLst>
              <a:gd name="adj" fmla="val 50000"/>
            </a:avLst>
          </a:prstGeom>
          <a:solidFill>
            <a:srgbClr val="0B0A14">
              <a:alpha val="70000"/>
            </a:srgbClr>
          </a:solidFill>
          <a:ln w="12700">
            <a:solidFill>
              <a:srgbClr val="2E2A4F"/>
            </a:solidFill>
            <a:prstDash val="solid"/>
          </a:ln>
        </p:spPr>
      </p:sp>
      <p:sp>
        <p:nvSpPr>
          <p:cNvPr id="18" name="Text 15"/>
          <p:cNvSpPr txBox="1"/>
          <p:nvPr/>
        </p:nvSpPr>
        <p:spPr>
          <a:xfrm>
            <a:off x="6217920" y="4709160"/>
            <a:ext cx="2377440" cy="548640"/>
          </a:xfrm>
          <a:prstGeom prst="rect">
            <a:avLst/>
          </a:prstGeom>
          <a:noFill/>
          <a:ln/>
        </p:spPr>
        <p:txBody>
          <a:bodyPr wrap="square" lIns="0" tIns="0" rIns="0" bIns="0" rtlCol="0" anchor="ctr"/>
          <a:lstStyle/>
          <a:p>
            <a:pPr algn="ctr" indent="0" marL="0">
              <a:buNone/>
            </a:pPr>
            <a:r>
              <a:rPr lang="en-US" sz="1300" b="1" dirty="0">
                <a:solidFill>
                  <a:srgbClr val="8B5CF6"/>
                </a:solidFill>
                <a:latin typeface="Calibri" pitchFamily="34" charset="0"/>
                <a:ea typeface="Calibri" pitchFamily="34" charset="-122"/>
                <a:cs typeface="Calibri" pitchFamily="34" charset="-120"/>
              </a:rPr>
              <a:t>7  </a:t>
            </a:r>
            <a:pPr algn="ctr" indent="0" marL="0">
              <a:buNone/>
            </a:pPr>
            <a:r>
              <a:rPr lang="en-US" sz="1300" dirty="0">
                <a:solidFill>
                  <a:srgbClr val="F1F0FA"/>
                </a:solidFill>
                <a:latin typeface="Calibri" pitchFamily="34" charset="0"/>
                <a:ea typeface="Calibri" pitchFamily="34" charset="-122"/>
                <a:cs typeface="Calibri" pitchFamily="34" charset="-120"/>
              </a:rPr>
              <a:t>Guided + fast mode</a:t>
            </a:r>
            <a:endParaRPr lang="en-US" sz="1300" dirty="0"/>
          </a:p>
        </p:txBody>
      </p:sp>
      <p:sp>
        <p:nvSpPr>
          <p:cNvPr id="19" name="Shape 16"/>
          <p:cNvSpPr/>
          <p:nvPr/>
        </p:nvSpPr>
        <p:spPr>
          <a:xfrm>
            <a:off x="8823960" y="4709160"/>
            <a:ext cx="2377440" cy="548640"/>
          </a:xfrm>
          <a:prstGeom prst="roundRect">
            <a:avLst>
              <a:gd name="adj" fmla="val 50000"/>
            </a:avLst>
          </a:prstGeom>
          <a:solidFill>
            <a:srgbClr val="0B0A14">
              <a:alpha val="70000"/>
            </a:srgbClr>
          </a:solidFill>
          <a:ln w="12700">
            <a:solidFill>
              <a:srgbClr val="2E2A4F"/>
            </a:solidFill>
            <a:prstDash val="solid"/>
          </a:ln>
        </p:spPr>
      </p:sp>
      <p:sp>
        <p:nvSpPr>
          <p:cNvPr id="20" name="Text 17"/>
          <p:cNvSpPr txBox="1"/>
          <p:nvPr/>
        </p:nvSpPr>
        <p:spPr>
          <a:xfrm>
            <a:off x="8823960" y="4709160"/>
            <a:ext cx="2377440" cy="548640"/>
          </a:xfrm>
          <a:prstGeom prst="rect">
            <a:avLst/>
          </a:prstGeom>
          <a:noFill/>
          <a:ln/>
        </p:spPr>
        <p:txBody>
          <a:bodyPr wrap="square" lIns="0" tIns="0" rIns="0" bIns="0" rtlCol="0" anchor="ctr"/>
          <a:lstStyle/>
          <a:p>
            <a:pPr algn="ctr" indent="0" marL="0">
              <a:buNone/>
            </a:pPr>
            <a:r>
              <a:rPr lang="en-US" sz="1300" b="1" dirty="0">
                <a:solidFill>
                  <a:srgbClr val="8B5CF6"/>
                </a:solidFill>
                <a:latin typeface="Calibri" pitchFamily="34" charset="0"/>
                <a:ea typeface="Calibri" pitchFamily="34" charset="-122"/>
                <a:cs typeface="Calibri" pitchFamily="34" charset="-120"/>
              </a:rPr>
              <a:t>8  </a:t>
            </a:r>
            <a:pPr algn="ctr" indent="0" marL="0">
              <a:buNone/>
            </a:pPr>
            <a:r>
              <a:rPr lang="en-US" sz="1300" dirty="0">
                <a:solidFill>
                  <a:srgbClr val="F1F0FA"/>
                </a:solidFill>
                <a:latin typeface="Calibri" pitchFamily="34" charset="0"/>
                <a:ea typeface="Calibri" pitchFamily="34" charset="-122"/>
                <a:cs typeface="Calibri" pitchFamily="34" charset="-120"/>
              </a:rPr>
              <a:t>Speak &amp; card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indent="0" marL="0">
              <a:buNone/>
            </a:pPr>
            <a:r>
              <a:rPr lang="en-US" sz="1100" b="1" spc="300" kern="0" dirty="0">
                <a:solidFill>
                  <a:srgbClr val="8B5CF6"/>
                </a:solidFill>
                <a:latin typeface="Arial" pitchFamily="34" charset="0"/>
                <a:ea typeface="Arial" pitchFamily="34" charset="-122"/>
                <a:cs typeface="Arial" pitchFamily="34" charset="-120"/>
              </a:rPr>
              <a:t>EVALUATION</a:t>
            </a:r>
            <a:endParaRPr lang="en-US" sz="1100" dirty="0"/>
          </a:p>
        </p:txBody>
      </p:sp>
      <p:sp>
        <p:nvSpPr>
          <p:cNvPr id="3" name="Text 1"/>
          <p:cNvSpPr txBox="1"/>
          <p:nvPr/>
        </p:nvSpPr>
        <p:spPr>
          <a:xfrm>
            <a:off x="548640" y="777240"/>
            <a:ext cx="11094415" cy="777240"/>
          </a:xfrm>
          <a:prstGeom prst="rect">
            <a:avLst/>
          </a:prstGeom>
          <a:noFill/>
          <a:ln/>
        </p:spPr>
        <p:txBody>
          <a:bodyPr wrap="square" lIns="0" tIns="0" rIns="0" bIns="0" rtlCol="0" anchor="t"/>
          <a:lstStyle/>
          <a:p>
            <a:pPr indent="0" marL="0">
              <a:buNone/>
            </a:pPr>
            <a:r>
              <a:rPr lang="en-US" sz="3400" b="1" dirty="0">
                <a:solidFill>
                  <a:srgbClr val="F1F0FA"/>
                </a:solidFill>
                <a:latin typeface="Arial" pitchFamily="34" charset="0"/>
                <a:ea typeface="Arial" pitchFamily="34" charset="-122"/>
                <a:cs typeface="Arial" pitchFamily="34" charset="-120"/>
              </a:rPr>
              <a:t>Measured, not just claimed</a:t>
            </a:r>
            <a:endParaRPr lang="en-US" sz="3400" dirty="0"/>
          </a:p>
        </p:txBody>
      </p:sp>
      <p:graphicFrame>
        <p:nvGraphicFramePr>
          <p:cNvPr id="4" name="Chart 0" descr=""/>
          <p:cNvGraphicFramePr/>
          <p:nvPr/>
        </p:nvGraphicFramePr>
        <p:xfrm>
          <a:off x="548640" y="1645920"/>
          <a:ext cx="5669280" cy="4069080"/>
        </p:xfrm>
        <a:graphic xmlns:a="http://schemas.openxmlformats.org/drawingml/2006/main">
          <a:graphicData uri="http://schemas.openxmlformats.org/drawingml/2006/chart">
            <c:chart xmlns:c="http://schemas.openxmlformats.org/drawingml/2006/chart" r:id="rId2"/>
          </a:graphicData>
        </a:graphic>
      </p:graphicFrame>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46520" y="1691640"/>
          <a:ext cx="5212080" cy="914400"/>
        </p:xfrm>
        <a:graphic>
          <a:graphicData uri="http://schemas.openxmlformats.org/drawingml/2006/table">
            <a:tbl>
              <a:tblPr/>
              <a:tblGrid>
                <a:gridCol w="1874520"/>
                <a:gridCol w="822960"/>
                <a:gridCol w="868680"/>
                <a:gridCol w="822960"/>
                <a:gridCol w="822960"/>
              </a:tblGrid>
              <a:tr h="347472">
                <a:tc>
                  <a:txBody>
                    <a:bodyPr/>
                    <a:lstStyle/>
                    <a:p>
                      <a:pPr indent="0" marL="0">
                        <a:buNone/>
                      </a:pPr>
                      <a:r>
                        <a:rPr lang="en-US" sz="1100" b="1" dirty="0">
                          <a:solidFill>
                            <a:srgbClr val="F1F0FA"/>
                          </a:solidFill>
                          <a:latin typeface="Calibri" pitchFamily="34" charset="0"/>
                          <a:ea typeface="Calibri" pitchFamily="34" charset="-122"/>
                          <a:cs typeface="Calibri" pitchFamily="34" charset="-120"/>
                        </a:rPr>
                        <a:t>Configuration</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C1A36"/>
                    </a:solidFill>
                  </a:tcPr>
                </a:tc>
                <a:tc>
                  <a:txBody>
                    <a:bodyPr/>
                    <a:lstStyle/>
                    <a:p>
                      <a:pPr indent="0" marL="0">
                        <a:buNone/>
                      </a:pPr>
                      <a:r>
                        <a:rPr lang="en-US" sz="1100" b="1" dirty="0">
                          <a:solidFill>
                            <a:srgbClr val="F1F0FA"/>
                          </a:solidFill>
                          <a:latin typeface="Calibri" pitchFamily="34" charset="0"/>
                          <a:ea typeface="Calibri" pitchFamily="34" charset="-122"/>
                          <a:cs typeface="Calibri" pitchFamily="34" charset="-120"/>
                        </a:rPr>
                        <a:t>BLEU-4</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C1A36"/>
                    </a:solidFill>
                  </a:tcPr>
                </a:tc>
                <a:tc>
                  <a:txBody>
                    <a:bodyPr/>
                    <a:lstStyle/>
                    <a:p>
                      <a:pPr indent="0" marL="0">
                        <a:buNone/>
                      </a:pPr>
                      <a:r>
                        <a:rPr lang="en-US" sz="1100" b="1" dirty="0">
                          <a:solidFill>
                            <a:srgbClr val="F1F0FA"/>
                          </a:solidFill>
                          <a:latin typeface="Calibri" pitchFamily="34" charset="0"/>
                          <a:ea typeface="Calibri" pitchFamily="34" charset="-122"/>
                          <a:cs typeface="Calibri" pitchFamily="34" charset="-120"/>
                        </a:rPr>
                        <a:t>CIDEr-D</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C1A36"/>
                    </a:solidFill>
                  </a:tcPr>
                </a:tc>
                <a:tc>
                  <a:txBody>
                    <a:bodyPr/>
                    <a:lstStyle/>
                    <a:p>
                      <a:pPr indent="0" marL="0">
                        <a:buNone/>
                      </a:pPr>
                      <a:r>
                        <a:rPr lang="en-US" sz="1100" b="1" dirty="0">
                          <a:solidFill>
                            <a:srgbClr val="F1F0FA"/>
                          </a:solidFill>
                          <a:latin typeface="Calibri" pitchFamily="34" charset="0"/>
                          <a:ea typeface="Calibri" pitchFamily="34" charset="-122"/>
                          <a:cs typeface="Calibri" pitchFamily="34" charset="-120"/>
                        </a:rPr>
                        <a:t>Match</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C1A36"/>
                    </a:solidFill>
                  </a:tcPr>
                </a:tc>
                <a:tc>
                  <a:txBody>
                    <a:bodyPr/>
                    <a:lstStyle/>
                    <a:p>
                      <a:pPr indent="0" marL="0">
                        <a:buNone/>
                      </a:pPr>
                      <a:r>
                        <a:rPr lang="en-US" sz="1100" b="1" dirty="0">
                          <a:solidFill>
                            <a:srgbClr val="F1F0FA"/>
                          </a:solidFill>
                          <a:latin typeface="Calibri" pitchFamily="34" charset="0"/>
                          <a:ea typeface="Calibri" pitchFamily="34" charset="-122"/>
                          <a:cs typeface="Calibri" pitchFamily="34" charset="-120"/>
                        </a:rPr>
                        <a:t>sec</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C1A36"/>
                    </a:solidFill>
                  </a:tcPr>
                </a:tc>
              </a:tr>
              <a:tr h="347472">
                <a:tc>
                  <a:txBody>
                    <a:bodyPr/>
                    <a:lstStyle/>
                    <a:p>
                      <a:pPr indent="0" marL="0">
                        <a:buNone/>
                      </a:pPr>
                      <a:r>
                        <a:rPr lang="en-US" sz="1100" dirty="0">
                          <a:solidFill>
                            <a:srgbClr val="A9A7C0"/>
                          </a:solidFill>
                          <a:latin typeface="Calibri" pitchFamily="34" charset="0"/>
                          <a:ea typeface="Calibri" pitchFamily="34" charset="-122"/>
                          <a:cs typeface="Calibri" pitchFamily="34" charset="-120"/>
                        </a:rPr>
                        <a:t>Base · greedy</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c>
                  <a:txBody>
                    <a:bodyPr/>
                    <a:lstStyle/>
                    <a:p>
                      <a:pPr indent="0" marL="0">
                        <a:buNone/>
                      </a:pPr>
                      <a:r>
                        <a:rPr lang="en-US" sz="1100" dirty="0">
                          <a:solidFill>
                            <a:srgbClr val="A9A7C0"/>
                          </a:solidFill>
                          <a:latin typeface="Calibri" pitchFamily="34" charset="0"/>
                          <a:ea typeface="Calibri" pitchFamily="34" charset="-122"/>
                          <a:cs typeface="Calibri" pitchFamily="34" charset="-120"/>
                        </a:rPr>
                        <a:t>0.351</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c>
                  <a:txBody>
                    <a:bodyPr/>
                    <a:lstStyle/>
                    <a:p>
                      <a:pPr indent="0" marL="0">
                        <a:buNone/>
                      </a:pPr>
                      <a:r>
                        <a:rPr lang="en-US" sz="1100" dirty="0">
                          <a:solidFill>
                            <a:srgbClr val="A9A7C0"/>
                          </a:solidFill>
                          <a:latin typeface="Calibri" pitchFamily="34" charset="0"/>
                          <a:ea typeface="Calibri" pitchFamily="34" charset="-122"/>
                          <a:cs typeface="Calibri" pitchFamily="34" charset="-120"/>
                        </a:rPr>
                        <a:t>1.819</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c>
                  <a:txBody>
                    <a:bodyPr/>
                    <a:lstStyle/>
                    <a:p>
                      <a:pPr indent="0" marL="0">
                        <a:buNone/>
                      </a:pPr>
                      <a:r>
                        <a:rPr lang="en-US" sz="1100" dirty="0">
                          <a:solidFill>
                            <a:srgbClr val="A9A7C0"/>
                          </a:solidFill>
                          <a:latin typeface="Calibri" pitchFamily="34" charset="0"/>
                          <a:ea typeface="Calibri" pitchFamily="34" charset="-122"/>
                          <a:cs typeface="Calibri" pitchFamily="34" charset="-120"/>
                        </a:rPr>
                        <a:t>94%</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c>
                  <a:txBody>
                    <a:bodyPr/>
                    <a:lstStyle/>
                    <a:p>
                      <a:pPr indent="0" marL="0">
                        <a:buNone/>
                      </a:pPr>
                      <a:r>
                        <a:rPr lang="en-US" sz="1100" dirty="0">
                          <a:solidFill>
                            <a:srgbClr val="A9A7C0"/>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r>
              <a:tr h="347472">
                <a:tc>
                  <a:txBody>
                    <a:bodyPr/>
                    <a:lstStyle/>
                    <a:p>
                      <a:pPr indent="0" marL="0">
                        <a:buNone/>
                      </a:pPr>
                      <a:r>
                        <a:rPr lang="en-US" sz="1100" dirty="0">
                          <a:solidFill>
                            <a:srgbClr val="A9A7C0"/>
                          </a:solidFill>
                          <a:latin typeface="Calibri" pitchFamily="34" charset="0"/>
                          <a:ea typeface="Calibri" pitchFamily="34" charset="-122"/>
                          <a:cs typeface="Calibri" pitchFamily="34" charset="-120"/>
                        </a:rPr>
                        <a:t>Large · greedy</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c>
                  <a:txBody>
                    <a:bodyPr/>
                    <a:lstStyle/>
                    <a:p>
                      <a:pPr indent="0" marL="0">
                        <a:buNone/>
                      </a:pPr>
                      <a:r>
                        <a:rPr lang="en-US" sz="1100" dirty="0">
                          <a:solidFill>
                            <a:srgbClr val="A9A7C0"/>
                          </a:solidFill>
                          <a:latin typeface="Calibri" pitchFamily="34" charset="0"/>
                          <a:ea typeface="Calibri" pitchFamily="34" charset="-122"/>
                          <a:cs typeface="Calibri" pitchFamily="34" charset="-120"/>
                        </a:rPr>
                        <a:t>0.326</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c>
                  <a:txBody>
                    <a:bodyPr/>
                    <a:lstStyle/>
                    <a:p>
                      <a:pPr indent="0" marL="0">
                        <a:buNone/>
                      </a:pPr>
                      <a:r>
                        <a:rPr lang="en-US" sz="1100" dirty="0">
                          <a:solidFill>
                            <a:srgbClr val="A9A7C0"/>
                          </a:solidFill>
                          <a:latin typeface="Calibri" pitchFamily="34" charset="0"/>
                          <a:ea typeface="Calibri" pitchFamily="34" charset="-122"/>
                          <a:cs typeface="Calibri" pitchFamily="34" charset="-120"/>
                        </a:rPr>
                        <a:t>1.757</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c>
                  <a:txBody>
                    <a:bodyPr/>
                    <a:lstStyle/>
                    <a:p>
                      <a:pPr indent="0" marL="0">
                        <a:buNone/>
                      </a:pPr>
                      <a:r>
                        <a:rPr lang="en-US" sz="1100" dirty="0">
                          <a:solidFill>
                            <a:srgbClr val="A9A7C0"/>
                          </a:solidFill>
                          <a:latin typeface="Calibri" pitchFamily="34" charset="0"/>
                          <a:ea typeface="Calibri" pitchFamily="34" charset="-122"/>
                          <a:cs typeface="Calibri" pitchFamily="34" charset="-120"/>
                        </a:rPr>
                        <a:t>88%</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c>
                  <a:txBody>
                    <a:bodyPr/>
                    <a:lstStyle/>
                    <a:p>
                      <a:pPr indent="0" marL="0">
                        <a:buNone/>
                      </a:pPr>
                      <a:r>
                        <a:rPr lang="en-US" sz="1100" dirty="0">
                          <a:solidFill>
                            <a:srgbClr val="A9A7C0"/>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r>
              <a:tr h="347472">
                <a:tc>
                  <a:txBody>
                    <a:bodyPr/>
                    <a:lstStyle/>
                    <a:p>
                      <a:pPr indent="0" marL="0">
                        <a:buNone/>
                      </a:pPr>
                      <a:r>
                        <a:rPr lang="en-US" sz="1100" dirty="0">
                          <a:solidFill>
                            <a:srgbClr val="A9A7C0"/>
                          </a:solidFill>
                          <a:latin typeface="Calibri" pitchFamily="34" charset="0"/>
                          <a:ea typeface="Calibri" pitchFamily="34" charset="-122"/>
                          <a:cs typeface="Calibri" pitchFamily="34" charset="-120"/>
                        </a:rPr>
                        <a:t>Large · beam 5</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c>
                  <a:txBody>
                    <a:bodyPr/>
                    <a:lstStyle/>
                    <a:p>
                      <a:pPr indent="0" marL="0">
                        <a:buNone/>
                      </a:pPr>
                      <a:r>
                        <a:rPr lang="en-US" sz="1100" dirty="0">
                          <a:solidFill>
                            <a:srgbClr val="A9A7C0"/>
                          </a:solidFill>
                          <a:latin typeface="Calibri" pitchFamily="34" charset="0"/>
                          <a:ea typeface="Calibri" pitchFamily="34" charset="-122"/>
                          <a:cs typeface="Calibri" pitchFamily="34" charset="-120"/>
                        </a:rPr>
                        <a:t>0.416</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c>
                  <a:txBody>
                    <a:bodyPr/>
                    <a:lstStyle/>
                    <a:p>
                      <a:pPr indent="0" marL="0">
                        <a:buNone/>
                      </a:pPr>
                      <a:r>
                        <a:rPr lang="en-US" sz="1100" dirty="0">
                          <a:solidFill>
                            <a:srgbClr val="A9A7C0"/>
                          </a:solidFill>
                          <a:latin typeface="Calibri" pitchFamily="34" charset="0"/>
                          <a:ea typeface="Calibri" pitchFamily="34" charset="-122"/>
                          <a:cs typeface="Calibri" pitchFamily="34" charset="-120"/>
                        </a:rPr>
                        <a:t>1.957</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c>
                  <a:txBody>
                    <a:bodyPr/>
                    <a:lstStyle/>
                    <a:p>
                      <a:pPr indent="0" marL="0">
                        <a:buNone/>
                      </a:pPr>
                      <a:r>
                        <a:rPr lang="en-US" sz="1100" dirty="0">
                          <a:solidFill>
                            <a:srgbClr val="A9A7C0"/>
                          </a:solidFill>
                          <a:latin typeface="Calibri" pitchFamily="34" charset="0"/>
                          <a:ea typeface="Calibri" pitchFamily="34" charset="-122"/>
                          <a:cs typeface="Calibri" pitchFamily="34" charset="-120"/>
                        </a:rPr>
                        <a:t>88%</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c>
                  <a:txBody>
                    <a:bodyPr/>
                    <a:lstStyle/>
                    <a:p>
                      <a:pPr indent="0" marL="0">
                        <a:buNone/>
                      </a:pPr>
                      <a:r>
                        <a:rPr lang="en-US" sz="1100" dirty="0">
                          <a:solidFill>
                            <a:srgbClr val="A9A7C0"/>
                          </a:solidFill>
                          <a:latin typeface="Calibri" pitchFamily="34" charset="0"/>
                          <a:ea typeface="Calibri" pitchFamily="34" charset="-122"/>
                          <a:cs typeface="Calibri" pitchFamily="34" charset="-120"/>
                        </a:rPr>
                        <a:t>3.2</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r>
              <a:tr h="347472">
                <a:tc>
                  <a:txBody>
                    <a:bodyPr/>
                    <a:lstStyle/>
                    <a:p>
                      <a:pPr indent="0" marL="0">
                        <a:buNone/>
                      </a:pPr>
                      <a:r>
                        <a:rPr lang="en-US" sz="1100" b="1" dirty="0">
                          <a:solidFill>
                            <a:srgbClr val="22D3EE"/>
                          </a:solidFill>
                          <a:latin typeface="Calibri" pitchFamily="34" charset="0"/>
                          <a:ea typeface="Calibri" pitchFamily="34" charset="-122"/>
                          <a:cs typeface="Calibri" pitchFamily="34" charset="-120"/>
                        </a:rPr>
                        <a:t>Balanced (default)</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c>
                  <a:txBody>
                    <a:bodyPr/>
                    <a:lstStyle/>
                    <a:p>
                      <a:pPr indent="0" marL="0">
                        <a:buNone/>
                      </a:pPr>
                      <a:r>
                        <a:rPr lang="en-US" sz="1100" b="1" dirty="0">
                          <a:solidFill>
                            <a:srgbClr val="22D3EE"/>
                          </a:solidFill>
                          <a:latin typeface="Calibri" pitchFamily="34" charset="0"/>
                          <a:ea typeface="Calibri" pitchFamily="34" charset="-122"/>
                          <a:cs typeface="Calibri" pitchFamily="34" charset="-120"/>
                        </a:rPr>
                        <a:t>0.408</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c>
                  <a:txBody>
                    <a:bodyPr/>
                    <a:lstStyle/>
                    <a:p>
                      <a:pPr indent="0" marL="0">
                        <a:buNone/>
                      </a:pPr>
                      <a:r>
                        <a:rPr lang="en-US" sz="1100" b="1" dirty="0">
                          <a:solidFill>
                            <a:srgbClr val="22D3EE"/>
                          </a:solidFill>
                          <a:latin typeface="Calibri" pitchFamily="34" charset="0"/>
                          <a:ea typeface="Calibri" pitchFamily="34" charset="-122"/>
                          <a:cs typeface="Calibri" pitchFamily="34" charset="-120"/>
                        </a:rPr>
                        <a:t>1.945</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c>
                  <a:txBody>
                    <a:bodyPr/>
                    <a:lstStyle/>
                    <a:p>
                      <a:pPr indent="0" marL="0">
                        <a:buNone/>
                      </a:pPr>
                      <a:r>
                        <a:rPr lang="en-US" sz="1100" b="1" dirty="0">
                          <a:solidFill>
                            <a:srgbClr val="22D3EE"/>
                          </a:solidFill>
                          <a:latin typeface="Calibri" pitchFamily="34" charset="0"/>
                          <a:ea typeface="Calibri" pitchFamily="34" charset="-122"/>
                          <a:cs typeface="Calibri" pitchFamily="34" charset="-120"/>
                        </a:rPr>
                        <a:t>92%</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c>
                  <a:txBody>
                    <a:bodyPr/>
                    <a:lstStyle/>
                    <a:p>
                      <a:pPr indent="0" marL="0">
                        <a:buNone/>
                      </a:pPr>
                      <a:r>
                        <a:rPr lang="en-US" sz="1100" b="1" dirty="0">
                          <a:solidFill>
                            <a:srgbClr val="22D3EE"/>
                          </a:solidFill>
                          <a:latin typeface="Calibri" pitchFamily="34" charset="0"/>
                          <a:ea typeface="Calibri" pitchFamily="34" charset="-122"/>
                          <a:cs typeface="Calibri" pitchFamily="34" charset="-120"/>
                        </a:rPr>
                        <a:t>3.9</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r>
              <a:tr h="347472">
                <a:tc>
                  <a:txBody>
                    <a:bodyPr/>
                    <a:lstStyle/>
                    <a:p>
                      <a:pPr indent="0" marL="0">
                        <a:buNone/>
                      </a:pPr>
                      <a:r>
                        <a:rPr lang="en-US" sz="1100" dirty="0">
                          <a:solidFill>
                            <a:srgbClr val="A9A7C0"/>
                          </a:solidFill>
                          <a:latin typeface="Calibri" pitchFamily="34" charset="0"/>
                          <a:ea typeface="Calibri" pitchFamily="34" charset="-122"/>
                          <a:cs typeface="Calibri" pitchFamily="34" charset="-120"/>
                        </a:rPr>
                        <a:t>Detailed (hybrid)</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c>
                  <a:txBody>
                    <a:bodyPr/>
                    <a:lstStyle/>
                    <a:p>
                      <a:pPr indent="0" marL="0">
                        <a:buNone/>
                      </a:pPr>
                      <a:r>
                        <a:rPr lang="en-US" sz="1100" dirty="0">
                          <a:solidFill>
                            <a:srgbClr val="A9A7C0"/>
                          </a:solidFill>
                          <a:latin typeface="Calibri" pitchFamily="34" charset="0"/>
                          <a:ea typeface="Calibri" pitchFamily="34" charset="-122"/>
                          <a:cs typeface="Calibri" pitchFamily="34" charset="-120"/>
                        </a:rPr>
                        <a:t>0.399</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c>
                  <a:txBody>
                    <a:bodyPr/>
                    <a:lstStyle/>
                    <a:p>
                      <a:pPr indent="0" marL="0">
                        <a:buNone/>
                      </a:pPr>
                      <a:r>
                        <a:rPr lang="en-US" sz="1100" dirty="0">
                          <a:solidFill>
                            <a:srgbClr val="A9A7C0"/>
                          </a:solidFill>
                          <a:latin typeface="Calibri" pitchFamily="34" charset="0"/>
                          <a:ea typeface="Calibri" pitchFamily="34" charset="-122"/>
                          <a:cs typeface="Calibri" pitchFamily="34" charset="-120"/>
                        </a:rPr>
                        <a:t>1.913</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c>
                  <a:txBody>
                    <a:bodyPr/>
                    <a:lstStyle/>
                    <a:p>
                      <a:pPr indent="0" marL="0">
                        <a:buNone/>
                      </a:pPr>
                      <a:r>
                        <a:rPr lang="en-US" sz="1100" dirty="0">
                          <a:solidFill>
                            <a:srgbClr val="A9A7C0"/>
                          </a:solidFill>
                          <a:latin typeface="Calibri" pitchFamily="34" charset="0"/>
                          <a:ea typeface="Calibri" pitchFamily="34" charset="-122"/>
                          <a:cs typeface="Calibri" pitchFamily="34" charset="-120"/>
                        </a:rPr>
                        <a:t>97%</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c>
                  <a:txBody>
                    <a:bodyPr/>
                    <a:lstStyle/>
                    <a:p>
                      <a:pPr indent="0" marL="0">
                        <a:buNone/>
                      </a:pPr>
                      <a:r>
                        <a:rPr lang="en-US" sz="1100" dirty="0">
                          <a:solidFill>
                            <a:srgbClr val="A9A7C0"/>
                          </a:solidFill>
                          <a:latin typeface="Calibri" pitchFamily="34" charset="0"/>
                          <a:ea typeface="Calibri" pitchFamily="34" charset="-122"/>
                          <a:cs typeface="Calibri" pitchFamily="34" charset="-120"/>
                        </a:rPr>
                        <a:t>5.6</a:t>
                      </a:r>
                      <a:endParaRPr lang="en-US" sz="1100" dirty="0">
                        <a:latin typeface="Calibri" charset="0"/>
                        <a:ea typeface="Calibri" charset="0"/>
                        <a:cs typeface="Calibri" charset="0"/>
                      </a:endParaRPr>
                    </a:p>
                  </a:txBody>
                  <a:tcPr marL="91440" marR="91440" marT="45720" marB="45720" anchor="ctr">
                    <a:lnL w="9525" cap="flat" cmpd="sng" algn="ctr">
                      <a:solidFill>
                        <a:srgbClr val="2E2A4F"/>
                      </a:solidFill>
                      <a:prstDash val="solid"/>
                      <a:round/>
                      <a:headEnd type="none" w="med" len="med"/>
                      <a:tailEnd type="none" w="med" len="med"/>
                    </a:lnL>
                    <a:lnR w="9525" cap="flat" cmpd="sng" algn="ctr">
                      <a:solidFill>
                        <a:srgbClr val="2E2A4F"/>
                      </a:solidFill>
                      <a:prstDash val="solid"/>
                      <a:round/>
                      <a:headEnd type="none" w="med" len="med"/>
                      <a:tailEnd type="none" w="med" len="med"/>
                    </a:lnR>
                    <a:lnT w="9525" cap="flat" cmpd="sng" algn="ctr">
                      <a:solidFill>
                        <a:srgbClr val="2E2A4F"/>
                      </a:solidFill>
                      <a:prstDash val="solid"/>
                      <a:round/>
                      <a:headEnd type="none" w="med" len="med"/>
                      <a:tailEnd type="none" w="med" len="med"/>
                    </a:lnT>
                    <a:lnB w="9525" cap="flat" cmpd="sng" algn="ctr">
                      <a:solidFill>
                        <a:srgbClr val="2E2A4F"/>
                      </a:solidFill>
                      <a:prstDash val="solid"/>
                      <a:round/>
                      <a:headEnd type="none" w="med" len="med"/>
                      <a:tailEnd type="none" w="med" len="med"/>
                    </a:lnB>
                    <a:solidFill>
                      <a:srgbClr val="15132A"/>
                    </a:solidFill>
                  </a:tcPr>
                </a:tc>
              </a:tr>
            </a:tbl>
          </a:graphicData>
        </a:graphic>
      </p:graphicFrame>
      <p:sp>
        <p:nvSpPr>
          <p:cNvPr id="6" name="Shape 2"/>
          <p:cNvSpPr/>
          <p:nvPr/>
        </p:nvSpPr>
        <p:spPr>
          <a:xfrm>
            <a:off x="6446520" y="3931920"/>
            <a:ext cx="5212080" cy="1783080"/>
          </a:xfrm>
          <a:prstGeom prst="roundRect">
            <a:avLst>
              <a:gd name="adj" fmla="val 7179"/>
            </a:avLst>
          </a:prstGeom>
          <a:solidFill>
            <a:srgbClr val="1C1A36"/>
          </a:solidFill>
          <a:ln w="12700">
            <a:solidFill>
              <a:srgbClr val="2E2A4F"/>
            </a:solidFill>
            <a:prstDash val="solid"/>
          </a:ln>
        </p:spPr>
      </p:sp>
      <p:sp>
        <p:nvSpPr>
          <p:cNvPr id="7" name="Text 3"/>
          <p:cNvSpPr txBox="1"/>
          <p:nvPr/>
        </p:nvSpPr>
        <p:spPr>
          <a:xfrm>
            <a:off x="6675120" y="4023360"/>
            <a:ext cx="4800600" cy="1600200"/>
          </a:xfrm>
          <a:prstGeom prst="rect">
            <a:avLst/>
          </a:prstGeom>
          <a:noFill/>
          <a:ln/>
        </p:spPr>
        <p:txBody>
          <a:bodyPr wrap="square" lIns="0" tIns="0" rIns="0" bIns="0" rtlCol="0" anchor="ctr"/>
          <a:lstStyle/>
          <a:p>
            <a:pPr indent="0" marL="0">
              <a:spcAft>
                <a:spcPts val="400"/>
              </a:spcAft>
              <a:buNone/>
            </a:pPr>
            <a:r>
              <a:rPr lang="en-US" sz="1500" b="1" dirty="0">
                <a:solidFill>
                  <a:srgbClr val="8B5CF6"/>
                </a:solidFill>
                <a:latin typeface="Calibri" pitchFamily="34" charset="0"/>
                <a:ea typeface="Calibri" pitchFamily="34" charset="-122"/>
                <a:cs typeface="Calibri" pitchFamily="34" charset="-120"/>
              </a:rPr>
              <a:t>What we learned</a:t>
            </a:r>
            <a:endParaRPr lang="en-US" sz="1500" dirty="0"/>
          </a:p>
          <a:p>
            <a:pPr marL="342900" indent="-342900">
              <a:spcAft>
                <a:spcPts val="400"/>
              </a:spcAft>
              <a:buSzPct val="100000"/>
              <a:buChar char="•"/>
            </a:pPr>
            <a:r>
              <a:rPr lang="en-US" sz="1200" dirty="0">
                <a:solidFill>
                  <a:srgbClr val="F1F0FA"/>
                </a:solidFill>
                <a:latin typeface="Calibri" pitchFamily="34" charset="0"/>
                <a:ea typeface="Calibri" pitchFamily="34" charset="-122"/>
                <a:cs typeface="Calibri" pitchFamily="34" charset="-120"/>
              </a:rPr>
              <a:t>Beam search: +8% CIDEr-D over the baseline.</a:t>
            </a:r>
            <a:endParaRPr lang="en-US" sz="1500" dirty="0"/>
          </a:p>
          <a:p>
            <a:pPr marL="342900" indent="-342900">
              <a:spcAft>
                <a:spcPts val="400"/>
              </a:spcAft>
              <a:buSzPct val="100000"/>
              <a:buChar char="•"/>
            </a:pPr>
            <a:r>
              <a:rPr lang="en-US" sz="1200" dirty="0">
                <a:solidFill>
                  <a:srgbClr val="F1F0FA"/>
                </a:solidFill>
                <a:latin typeface="Calibri" pitchFamily="34" charset="0"/>
                <a:ea typeface="Calibri" pitchFamily="34" charset="-122"/>
                <a:cs typeface="Calibri" pitchFamily="34" charset="-120"/>
              </a:rPr>
              <a:t>ITM re-ranking keeps that score and lifts image-match 88% → 92%: our default.</a:t>
            </a:r>
            <a:endParaRPr lang="en-US" sz="1500" dirty="0"/>
          </a:p>
          <a:p>
            <a:pPr marL="342900" indent="-342900">
              <a:spcAft>
                <a:spcPts val="400"/>
              </a:spcAft>
              <a:buSzPct val="100000"/>
              <a:buChar char="•"/>
            </a:pPr>
            <a:r>
              <a:rPr lang="en-US" sz="1200" dirty="0">
                <a:solidFill>
                  <a:srgbClr val="F1F0FA"/>
                </a:solidFill>
                <a:latin typeface="Calibri" pitchFamily="34" charset="0"/>
                <a:ea typeface="Calibri" pitchFamily="34" charset="-122"/>
                <a:cs typeface="Calibri" pitchFamily="34" charset="-120"/>
              </a:rPr>
              <a:t>Detailed mode: 97% match with richer captions that short references under-reward.</a:t>
            </a:r>
            <a:endParaRPr lang="en-US" sz="1500" dirty="0"/>
          </a:p>
        </p:txBody>
      </p:sp>
      <p:sp>
        <p:nvSpPr>
          <p:cNvPr id="8" name="Text 4"/>
          <p:cNvSpPr txBox="1"/>
          <p:nvPr/>
        </p:nvSpPr>
        <p:spPr>
          <a:xfrm>
            <a:off x="548640" y="5852160"/>
            <a:ext cx="11094415" cy="320040"/>
          </a:xfrm>
          <a:prstGeom prst="rect">
            <a:avLst/>
          </a:prstGeom>
          <a:noFill/>
          <a:ln/>
        </p:spPr>
        <p:txBody>
          <a:bodyPr wrap="square" lIns="0" tIns="0" rIns="0" bIns="0" rtlCol="0" anchor="ctr"/>
          <a:lstStyle/>
          <a:p>
            <a:pPr indent="0" marL="0">
              <a:buNone/>
            </a:pPr>
            <a:r>
              <a:rPr lang="en-US" sz="1000" i="1" dirty="0">
                <a:solidFill>
                  <a:srgbClr val="74718F"/>
                </a:solidFill>
                <a:latin typeface="Calibri" pitchFamily="34" charset="0"/>
                <a:ea typeface="Calibri" pitchFamily="34" charset="-122"/>
                <a:cs typeface="Calibri" pitchFamily="34" charset="-120"/>
              </a:rPr>
              <a:t>44 images · 3 hand-written references each (132 total) · BLEU / ROUGE-L / CIDEr-D implemented from scratch &amp; unit-tested · CPU, 4 cores · *default mode</a:t>
            </a:r>
            <a:endParaRPr lang="en-US" sz="1000" dirty="0"/>
          </a:p>
        </p:txBody>
      </p:sp>
      <p:sp>
        <p:nvSpPr>
          <p:cNvPr id="9" name="Text 5"/>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b="1" dirty="0">
                <a:solidFill>
                  <a:srgbClr val="A9A7C0"/>
                </a:solidFill>
                <a:latin typeface="Calibri" pitchFamily="34" charset="0"/>
                <a:ea typeface="Calibri" pitchFamily="34" charset="-122"/>
                <a:cs typeface="Calibri" pitchFamily="34" charset="-120"/>
              </a:rPr>
              <a:t>PixelProse</a:t>
            </a:r>
            <a:pPr algn="r" indent="0" marL="0">
              <a:buNone/>
            </a:pPr>
            <a:r>
              <a:rPr lang="en-US" sz="1000" dirty="0">
                <a:solidFill>
                  <a:srgbClr val="74718F"/>
                </a:solidFill>
                <a:latin typeface="Calibri" pitchFamily="34" charset="0"/>
                <a:ea typeface="Calibri" pitchFamily="34" charset="-122"/>
                <a:cs typeface="Calibri" pitchFamily="34" charset="-120"/>
              </a:rPr>
              <a:t>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indent="0" marL="0">
              <a:buNone/>
            </a:pPr>
            <a:r>
              <a:rPr lang="en-US" sz="1100" b="1" spc="300" kern="0" dirty="0">
                <a:solidFill>
                  <a:srgbClr val="8B5CF6"/>
                </a:solidFill>
                <a:latin typeface="Arial" pitchFamily="34" charset="0"/>
                <a:ea typeface="Arial" pitchFamily="34" charset="-122"/>
                <a:cs typeface="Arial" pitchFamily="34" charset="-120"/>
              </a:rPr>
              <a:t>ENGINEERING</a:t>
            </a:r>
            <a:endParaRPr lang="en-US" sz="1100" dirty="0"/>
          </a:p>
        </p:txBody>
      </p:sp>
      <p:sp>
        <p:nvSpPr>
          <p:cNvPr id="3" name="Text 1"/>
          <p:cNvSpPr txBox="1"/>
          <p:nvPr/>
        </p:nvSpPr>
        <p:spPr>
          <a:xfrm>
            <a:off x="548640" y="777240"/>
            <a:ext cx="11094415" cy="777240"/>
          </a:xfrm>
          <a:prstGeom prst="rect">
            <a:avLst/>
          </a:prstGeom>
          <a:noFill/>
          <a:ln/>
        </p:spPr>
        <p:txBody>
          <a:bodyPr wrap="square" lIns="0" tIns="0" rIns="0" bIns="0" rtlCol="0" anchor="t"/>
          <a:lstStyle/>
          <a:p>
            <a:pPr indent="0" marL="0">
              <a:buNone/>
            </a:pPr>
            <a:r>
              <a:rPr lang="en-US" sz="3400" b="1" dirty="0">
                <a:solidFill>
                  <a:srgbClr val="F1F0FA"/>
                </a:solidFill>
                <a:latin typeface="Arial" pitchFamily="34" charset="0"/>
                <a:ea typeface="Arial" pitchFamily="34" charset="-122"/>
                <a:cs typeface="Arial" pitchFamily="34" charset="-120"/>
              </a:rPr>
              <a:t>Three bugs that taught us the most</a:t>
            </a:r>
            <a:endParaRPr lang="en-US" sz="3400" dirty="0"/>
          </a:p>
        </p:txBody>
      </p:sp>
      <p:sp>
        <p:nvSpPr>
          <p:cNvPr id="4" name="Shape 2"/>
          <p:cNvSpPr/>
          <p:nvPr/>
        </p:nvSpPr>
        <p:spPr>
          <a:xfrm>
            <a:off x="548640" y="1783080"/>
            <a:ext cx="3520440" cy="4343400"/>
          </a:xfrm>
          <a:prstGeom prst="roundRect">
            <a:avLst>
              <a:gd name="adj" fmla="val 3636"/>
            </a:avLst>
          </a:prstGeom>
          <a:solidFill>
            <a:srgbClr val="15132A"/>
          </a:solidFill>
          <a:ln w="12700">
            <a:solidFill>
              <a:srgbClr val="2E2A4F"/>
            </a:solidFill>
            <a:prstDash val="solid"/>
          </a:ln>
        </p:spPr>
      </p:sp>
      <p:sp>
        <p:nvSpPr>
          <p:cNvPr id="5" name="Shape 3"/>
          <p:cNvSpPr/>
          <p:nvPr/>
        </p:nvSpPr>
        <p:spPr>
          <a:xfrm>
            <a:off x="822960" y="2057400"/>
            <a:ext cx="640080" cy="640080"/>
          </a:xfrm>
          <a:prstGeom prst="ellipse">
            <a:avLst/>
          </a:prstGeom>
          <a:solidFill>
            <a:srgbClr val="F472B6">
              <a:alpha val="18000"/>
            </a:srgbClr>
          </a:solidFill>
          <a:ln w="12700">
            <a:solidFill>
              <a:srgbClr val="F472B6">
                <a:alpha val="60000"/>
              </a:srgbClr>
            </a:solidFill>
            <a:prstDash val="solid"/>
          </a:ln>
        </p:spPr>
      </p:sp>
      <p:pic>
        <p:nvPicPr>
          <p:cNvPr id="6" name="Image 0" descr="preencoded.png">    </p:cNvPr>
          <p:cNvPicPr>
            <a:picLocks noChangeAspect="1"/>
          </p:cNvPicPr>
          <p:nvPr/>
        </p:nvPicPr>
        <p:blipFill>
          <a:blip r:embed="rId2"/>
          <a:stretch>
            <a:fillRect/>
          </a:stretch>
        </p:blipFill>
        <p:spPr>
          <a:xfrm>
            <a:off x="963778" y="2198218"/>
            <a:ext cx="358445" cy="358445"/>
          </a:xfrm>
          <a:prstGeom prst="rect">
            <a:avLst/>
          </a:prstGeom>
        </p:spPr>
      </p:pic>
      <p:sp>
        <p:nvSpPr>
          <p:cNvPr id="7" name="Text 4"/>
          <p:cNvSpPr txBox="1"/>
          <p:nvPr/>
        </p:nvSpPr>
        <p:spPr>
          <a:xfrm>
            <a:off x="822960" y="2880360"/>
            <a:ext cx="2971800" cy="411480"/>
          </a:xfrm>
          <a:prstGeom prst="rect">
            <a:avLst/>
          </a:prstGeom>
          <a:noFill/>
          <a:ln/>
        </p:spPr>
        <p:txBody>
          <a:bodyPr wrap="square" lIns="0" tIns="0" rIns="0" bIns="0" rtlCol="0" anchor="ctr"/>
          <a:lstStyle/>
          <a:p>
            <a:pPr indent="0" marL="0">
              <a:buNone/>
            </a:pPr>
            <a:r>
              <a:rPr lang="en-US" sz="1800" b="1" dirty="0">
                <a:solidFill>
                  <a:srgbClr val="F1F0FA"/>
                </a:solidFill>
                <a:latin typeface="Arial" pitchFamily="34" charset="0"/>
                <a:ea typeface="Arial" pitchFamily="34" charset="-122"/>
                <a:cs typeface="Arial" pitchFamily="34" charset="-120"/>
              </a:rPr>
              <a:t>Silent config error</a:t>
            </a:r>
            <a:endParaRPr lang="en-US" sz="1800" dirty="0"/>
          </a:p>
        </p:txBody>
      </p:sp>
      <p:sp>
        <p:nvSpPr>
          <p:cNvPr id="8" name="Text 5"/>
          <p:cNvSpPr txBox="1"/>
          <p:nvPr/>
        </p:nvSpPr>
        <p:spPr>
          <a:xfrm>
            <a:off x="822960" y="3337560"/>
            <a:ext cx="2971800" cy="1737360"/>
          </a:xfrm>
          <a:prstGeom prst="rect">
            <a:avLst/>
          </a:prstGeom>
          <a:noFill/>
          <a:ln/>
        </p:spPr>
        <p:txBody>
          <a:bodyPr wrap="square" lIns="0" tIns="0" rIns="0" bIns="0" rtlCol="0" anchor="t"/>
          <a:lstStyle/>
          <a:p>
            <a:pPr indent="0" marL="0">
              <a:buNone/>
            </a:pPr>
            <a:r>
              <a:rPr lang="en-US" sz="1300" dirty="0">
                <a:solidFill>
                  <a:srgbClr val="A9A7C0"/>
                </a:solidFill>
                <a:latin typeface="Calibri" pitchFamily="34" charset="0"/>
                <a:ea typeface="Calibri" pitchFamily="34" charset="-122"/>
                <a:cs typeface="Calibri" pitchFamily="34" charset="-120"/>
              </a:rPr>
              <a:t>Matching model gave a correct caption a 2% match. The config used 8 attention heads instead of BLIP's 12: weights loaded fine, the maths was wrong.</a:t>
            </a:r>
            <a:endParaRPr lang="en-US" sz="1300" dirty="0"/>
          </a:p>
        </p:txBody>
      </p:sp>
      <p:sp>
        <p:nvSpPr>
          <p:cNvPr id="9" name="Shape 6"/>
          <p:cNvSpPr/>
          <p:nvPr/>
        </p:nvSpPr>
        <p:spPr>
          <a:xfrm>
            <a:off x="822960" y="5257800"/>
            <a:ext cx="2971800" cy="548640"/>
          </a:xfrm>
          <a:prstGeom prst="roundRect">
            <a:avLst>
              <a:gd name="adj" fmla="val 50000"/>
            </a:avLst>
          </a:prstGeom>
          <a:solidFill>
            <a:srgbClr val="F472B6">
              <a:alpha val="15000"/>
            </a:srgbClr>
          </a:solidFill>
          <a:ln w="12700">
            <a:solidFill>
              <a:srgbClr val="F472B6"/>
            </a:solidFill>
            <a:prstDash val="solid"/>
          </a:ln>
        </p:spPr>
      </p:sp>
      <p:sp>
        <p:nvSpPr>
          <p:cNvPr id="10" name="Text 7"/>
          <p:cNvSpPr txBox="1"/>
          <p:nvPr/>
        </p:nvSpPr>
        <p:spPr>
          <a:xfrm>
            <a:off x="822960" y="5257800"/>
            <a:ext cx="2971800" cy="548640"/>
          </a:xfrm>
          <a:prstGeom prst="rect">
            <a:avLst/>
          </a:prstGeom>
          <a:noFill/>
          <a:ln/>
        </p:spPr>
        <p:txBody>
          <a:bodyPr wrap="square" lIns="0" tIns="0" rIns="0" bIns="0" rtlCol="0" anchor="ctr"/>
          <a:lstStyle/>
          <a:p>
            <a:pPr algn="ctr" indent="0" marL="0">
              <a:buNone/>
            </a:pPr>
            <a:r>
              <a:rPr lang="en-US" sz="1500" b="1" dirty="0">
                <a:solidFill>
                  <a:srgbClr val="F472B6"/>
                </a:solidFill>
                <a:latin typeface="Arial" pitchFamily="34" charset="0"/>
                <a:ea typeface="Arial" pitchFamily="34" charset="-122"/>
                <a:cs typeface="Arial" pitchFamily="34" charset="-120"/>
              </a:rPr>
              <a:t>2% → 99.6% match</a:t>
            </a:r>
            <a:endParaRPr lang="en-US" sz="1500" dirty="0"/>
          </a:p>
        </p:txBody>
      </p:sp>
      <p:sp>
        <p:nvSpPr>
          <p:cNvPr id="11" name="Shape 8"/>
          <p:cNvSpPr/>
          <p:nvPr/>
        </p:nvSpPr>
        <p:spPr>
          <a:xfrm>
            <a:off x="4334256" y="1783080"/>
            <a:ext cx="3520440" cy="4343400"/>
          </a:xfrm>
          <a:prstGeom prst="roundRect">
            <a:avLst>
              <a:gd name="adj" fmla="val 3636"/>
            </a:avLst>
          </a:prstGeom>
          <a:solidFill>
            <a:srgbClr val="15132A"/>
          </a:solidFill>
          <a:ln w="12700">
            <a:solidFill>
              <a:srgbClr val="2E2A4F"/>
            </a:solidFill>
            <a:prstDash val="solid"/>
          </a:ln>
        </p:spPr>
      </p:sp>
      <p:sp>
        <p:nvSpPr>
          <p:cNvPr id="12" name="Shape 9"/>
          <p:cNvSpPr/>
          <p:nvPr/>
        </p:nvSpPr>
        <p:spPr>
          <a:xfrm>
            <a:off x="4608576" y="2057400"/>
            <a:ext cx="640080" cy="640080"/>
          </a:xfrm>
          <a:prstGeom prst="ellipse">
            <a:avLst/>
          </a:prstGeom>
          <a:solidFill>
            <a:srgbClr val="22D3EE">
              <a:alpha val="18000"/>
            </a:srgbClr>
          </a:solidFill>
          <a:ln w="12700">
            <a:solidFill>
              <a:srgbClr val="22D3EE">
                <a:alpha val="60000"/>
              </a:srgbClr>
            </a:solidFill>
            <a:prstDash val="solid"/>
          </a:ln>
        </p:spPr>
      </p:sp>
      <p:pic>
        <p:nvPicPr>
          <p:cNvPr id="13" name="Image 1" descr="preencoded.png">    </p:cNvPr>
          <p:cNvPicPr>
            <a:picLocks noChangeAspect="1"/>
          </p:cNvPicPr>
          <p:nvPr/>
        </p:nvPicPr>
        <p:blipFill>
          <a:blip r:embed="rId3"/>
          <a:stretch>
            <a:fillRect/>
          </a:stretch>
        </p:blipFill>
        <p:spPr>
          <a:xfrm>
            <a:off x="4749394" y="2198218"/>
            <a:ext cx="358445" cy="358445"/>
          </a:xfrm>
          <a:prstGeom prst="rect">
            <a:avLst/>
          </a:prstGeom>
        </p:spPr>
      </p:pic>
      <p:sp>
        <p:nvSpPr>
          <p:cNvPr id="14" name="Text 10"/>
          <p:cNvSpPr txBox="1"/>
          <p:nvPr/>
        </p:nvSpPr>
        <p:spPr>
          <a:xfrm>
            <a:off x="4608576" y="2880360"/>
            <a:ext cx="2971800" cy="411480"/>
          </a:xfrm>
          <a:prstGeom prst="rect">
            <a:avLst/>
          </a:prstGeom>
          <a:noFill/>
          <a:ln/>
        </p:spPr>
        <p:txBody>
          <a:bodyPr wrap="square" lIns="0" tIns="0" rIns="0" bIns="0" rtlCol="0" anchor="ctr"/>
          <a:lstStyle/>
          <a:p>
            <a:pPr indent="0" marL="0">
              <a:buNone/>
            </a:pPr>
            <a:r>
              <a:rPr lang="en-US" sz="1800" b="1" dirty="0">
                <a:solidFill>
                  <a:srgbClr val="F1F0FA"/>
                </a:solidFill>
                <a:latin typeface="Arial" pitchFamily="34" charset="0"/>
                <a:ea typeface="Arial" pitchFamily="34" charset="-122"/>
                <a:cs typeface="Arial" pitchFamily="34" charset="-120"/>
              </a:rPr>
              <a:t>CPU thread contention</a:t>
            </a:r>
            <a:endParaRPr lang="en-US" sz="1800" dirty="0"/>
          </a:p>
        </p:txBody>
      </p:sp>
      <p:sp>
        <p:nvSpPr>
          <p:cNvPr id="15" name="Text 11"/>
          <p:cNvSpPr txBox="1"/>
          <p:nvPr/>
        </p:nvSpPr>
        <p:spPr>
          <a:xfrm>
            <a:off x="4608576" y="3337560"/>
            <a:ext cx="2971800" cy="1737360"/>
          </a:xfrm>
          <a:prstGeom prst="rect">
            <a:avLst/>
          </a:prstGeom>
          <a:noFill/>
          <a:ln/>
        </p:spPr>
        <p:txBody>
          <a:bodyPr wrap="square" lIns="0" tIns="0" rIns="0" bIns="0" rtlCol="0" anchor="t"/>
          <a:lstStyle/>
          <a:p>
            <a:pPr indent="0" marL="0">
              <a:buNone/>
            </a:pPr>
            <a:r>
              <a:rPr lang="en-US" sz="1300" dirty="0">
                <a:solidFill>
                  <a:srgbClr val="A9A7C0"/>
                </a:solidFill>
                <a:latin typeface="Calibri" pitchFamily="34" charset="0"/>
                <a:ea typeface="Calibri" pitchFamily="34" charset="-122"/>
                <a:cs typeface="Calibri" pitchFamily="34" charset="-120"/>
              </a:rPr>
              <a:t>In the browser a caption took &gt;90 s instead of 5 s. PyTorch threads spin-wait; the browser's animations took one core and stalled all four.</a:t>
            </a:r>
            <a:endParaRPr lang="en-US" sz="1300" dirty="0"/>
          </a:p>
        </p:txBody>
      </p:sp>
      <p:sp>
        <p:nvSpPr>
          <p:cNvPr id="16" name="Shape 12"/>
          <p:cNvSpPr/>
          <p:nvPr/>
        </p:nvSpPr>
        <p:spPr>
          <a:xfrm>
            <a:off x="4608576" y="5257800"/>
            <a:ext cx="2971800" cy="548640"/>
          </a:xfrm>
          <a:prstGeom prst="roundRect">
            <a:avLst>
              <a:gd name="adj" fmla="val 50000"/>
            </a:avLst>
          </a:prstGeom>
          <a:solidFill>
            <a:srgbClr val="22D3EE">
              <a:alpha val="15000"/>
            </a:srgbClr>
          </a:solidFill>
          <a:ln w="12700">
            <a:solidFill>
              <a:srgbClr val="22D3EE"/>
            </a:solidFill>
            <a:prstDash val="solid"/>
          </a:ln>
        </p:spPr>
      </p:sp>
      <p:sp>
        <p:nvSpPr>
          <p:cNvPr id="17" name="Text 13"/>
          <p:cNvSpPr txBox="1"/>
          <p:nvPr/>
        </p:nvSpPr>
        <p:spPr>
          <a:xfrm>
            <a:off x="4608576" y="5257800"/>
            <a:ext cx="2971800" cy="548640"/>
          </a:xfrm>
          <a:prstGeom prst="rect">
            <a:avLst/>
          </a:prstGeom>
          <a:noFill/>
          <a:ln/>
        </p:spPr>
        <p:txBody>
          <a:bodyPr wrap="square" lIns="0" tIns="0" rIns="0" bIns="0" rtlCol="0" anchor="ctr"/>
          <a:lstStyle/>
          <a:p>
            <a:pPr algn="ctr" indent="0" marL="0">
              <a:buNone/>
            </a:pPr>
            <a:r>
              <a:rPr lang="en-US" sz="1500" b="1" dirty="0">
                <a:solidFill>
                  <a:srgbClr val="22D3EE"/>
                </a:solidFill>
                <a:latin typeface="Arial" pitchFamily="34" charset="0"/>
                <a:ea typeface="Arial" pitchFamily="34" charset="-122"/>
                <a:cs typeface="Arial" pitchFamily="34" charset="-120"/>
              </a:rPr>
              <a:t>&gt;90 s → ~8 s</a:t>
            </a:r>
            <a:endParaRPr lang="en-US" sz="1500" dirty="0"/>
          </a:p>
        </p:txBody>
      </p:sp>
      <p:sp>
        <p:nvSpPr>
          <p:cNvPr id="18" name="Shape 14"/>
          <p:cNvSpPr/>
          <p:nvPr/>
        </p:nvSpPr>
        <p:spPr>
          <a:xfrm>
            <a:off x="8119872" y="1783080"/>
            <a:ext cx="3520440" cy="4343400"/>
          </a:xfrm>
          <a:prstGeom prst="roundRect">
            <a:avLst>
              <a:gd name="adj" fmla="val 3636"/>
            </a:avLst>
          </a:prstGeom>
          <a:solidFill>
            <a:srgbClr val="15132A"/>
          </a:solidFill>
          <a:ln w="12700">
            <a:solidFill>
              <a:srgbClr val="2E2A4F"/>
            </a:solidFill>
            <a:prstDash val="solid"/>
          </a:ln>
        </p:spPr>
      </p:sp>
      <p:sp>
        <p:nvSpPr>
          <p:cNvPr id="19" name="Shape 15"/>
          <p:cNvSpPr/>
          <p:nvPr/>
        </p:nvSpPr>
        <p:spPr>
          <a:xfrm>
            <a:off x="8394192" y="2057400"/>
            <a:ext cx="640080" cy="640080"/>
          </a:xfrm>
          <a:prstGeom prst="ellipse">
            <a:avLst/>
          </a:prstGeom>
          <a:solidFill>
            <a:srgbClr val="FBBF24">
              <a:alpha val="18000"/>
            </a:srgbClr>
          </a:solidFill>
          <a:ln w="12700">
            <a:solidFill>
              <a:srgbClr val="FBBF24">
                <a:alpha val="60000"/>
              </a:srgbClr>
            </a:solidFill>
            <a:prstDash val="solid"/>
          </a:ln>
        </p:spPr>
      </p:sp>
      <p:pic>
        <p:nvPicPr>
          <p:cNvPr id="20" name="Image 2" descr="preencoded.png">    </p:cNvPr>
          <p:cNvPicPr>
            <a:picLocks noChangeAspect="1"/>
          </p:cNvPicPr>
          <p:nvPr/>
        </p:nvPicPr>
        <p:blipFill>
          <a:blip r:embed="rId4"/>
          <a:stretch>
            <a:fillRect/>
          </a:stretch>
        </p:blipFill>
        <p:spPr>
          <a:xfrm>
            <a:off x="8535010" y="2198218"/>
            <a:ext cx="358445" cy="358445"/>
          </a:xfrm>
          <a:prstGeom prst="rect">
            <a:avLst/>
          </a:prstGeom>
        </p:spPr>
      </p:pic>
      <p:sp>
        <p:nvSpPr>
          <p:cNvPr id="21" name="Text 16"/>
          <p:cNvSpPr txBox="1"/>
          <p:nvPr/>
        </p:nvSpPr>
        <p:spPr>
          <a:xfrm>
            <a:off x="8394192" y="2880360"/>
            <a:ext cx="2971800" cy="411480"/>
          </a:xfrm>
          <a:prstGeom prst="rect">
            <a:avLst/>
          </a:prstGeom>
          <a:noFill/>
          <a:ln/>
        </p:spPr>
        <p:txBody>
          <a:bodyPr wrap="square" lIns="0" tIns="0" rIns="0" bIns="0" rtlCol="0" anchor="ctr"/>
          <a:lstStyle/>
          <a:p>
            <a:pPr indent="0" marL="0">
              <a:buNone/>
            </a:pPr>
            <a:r>
              <a:rPr lang="en-US" sz="1800" b="1" dirty="0">
                <a:solidFill>
                  <a:srgbClr val="F1F0FA"/>
                </a:solidFill>
                <a:latin typeface="Arial" pitchFamily="34" charset="0"/>
                <a:ea typeface="Arial" pitchFamily="34" charset="-122"/>
                <a:cs typeface="Arial" pitchFamily="34" charset="-120"/>
              </a:rPr>
              <a:t>“arafed” artefacts</a:t>
            </a:r>
            <a:endParaRPr lang="en-US" sz="1800" dirty="0"/>
          </a:p>
        </p:txBody>
      </p:sp>
      <p:sp>
        <p:nvSpPr>
          <p:cNvPr id="22" name="Text 17"/>
          <p:cNvSpPr txBox="1"/>
          <p:nvPr/>
        </p:nvSpPr>
        <p:spPr>
          <a:xfrm>
            <a:off x="8394192" y="3337560"/>
            <a:ext cx="2971800" cy="1737360"/>
          </a:xfrm>
          <a:prstGeom prst="rect">
            <a:avLst/>
          </a:prstGeom>
          <a:noFill/>
          <a:ln/>
        </p:spPr>
        <p:txBody>
          <a:bodyPr wrap="square" lIns="0" tIns="0" rIns="0" bIns="0" rtlCol="0" anchor="t"/>
          <a:lstStyle/>
          <a:p>
            <a:pPr indent="0" marL="0">
              <a:buNone/>
            </a:pPr>
            <a:r>
              <a:rPr lang="en-US" sz="1300" dirty="0">
                <a:solidFill>
                  <a:srgbClr val="A9A7C0"/>
                </a:solidFill>
                <a:latin typeface="Calibri" pitchFamily="34" charset="0"/>
                <a:ea typeface="Calibri" pitchFamily="34" charset="-122"/>
                <a:cs typeface="Calibri" pitchFamily="34" charset="-120"/>
              </a:rPr>
              <a:t>BLIP-large sometimes invents words like “arafed” when decoding without context. We condition on its training prompt and clean the output.</a:t>
            </a:r>
            <a:endParaRPr lang="en-US" sz="1300" dirty="0"/>
          </a:p>
        </p:txBody>
      </p:sp>
      <p:sp>
        <p:nvSpPr>
          <p:cNvPr id="23" name="Shape 18"/>
          <p:cNvSpPr/>
          <p:nvPr/>
        </p:nvSpPr>
        <p:spPr>
          <a:xfrm>
            <a:off x="8394192" y="5257800"/>
            <a:ext cx="2971800" cy="548640"/>
          </a:xfrm>
          <a:prstGeom prst="roundRect">
            <a:avLst>
              <a:gd name="adj" fmla="val 50000"/>
            </a:avLst>
          </a:prstGeom>
          <a:solidFill>
            <a:srgbClr val="FBBF24">
              <a:alpha val="15000"/>
            </a:srgbClr>
          </a:solidFill>
          <a:ln w="12700">
            <a:solidFill>
              <a:srgbClr val="FBBF24"/>
            </a:solidFill>
            <a:prstDash val="solid"/>
          </a:ln>
        </p:spPr>
      </p:sp>
      <p:sp>
        <p:nvSpPr>
          <p:cNvPr id="24" name="Text 19"/>
          <p:cNvSpPr txBox="1"/>
          <p:nvPr/>
        </p:nvSpPr>
        <p:spPr>
          <a:xfrm>
            <a:off x="8394192" y="5257800"/>
            <a:ext cx="2971800" cy="548640"/>
          </a:xfrm>
          <a:prstGeom prst="rect">
            <a:avLst/>
          </a:prstGeom>
          <a:noFill/>
          <a:ln/>
        </p:spPr>
        <p:txBody>
          <a:bodyPr wrap="square" lIns="0" tIns="0" rIns="0" bIns="0" rtlCol="0" anchor="ctr"/>
          <a:lstStyle/>
          <a:p>
            <a:pPr algn="ctr" indent="0" marL="0">
              <a:buNone/>
            </a:pPr>
            <a:r>
              <a:rPr lang="en-US" sz="1500" b="1" dirty="0">
                <a:solidFill>
                  <a:srgbClr val="FBBF24"/>
                </a:solidFill>
                <a:latin typeface="Arial" pitchFamily="34" charset="0"/>
                <a:ea typeface="Arial" pitchFamily="34" charset="-122"/>
                <a:cs typeface="Arial" pitchFamily="34" charset="-120"/>
              </a:rPr>
              <a:t>Clean captions</a:t>
            </a:r>
            <a:endParaRPr lang="en-US" sz="1500" dirty="0"/>
          </a:p>
        </p:txBody>
      </p:sp>
      <p:sp>
        <p:nvSpPr>
          <p:cNvPr id="25" name="Text 20"/>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b="1" dirty="0">
                <a:solidFill>
                  <a:srgbClr val="A9A7C0"/>
                </a:solidFill>
                <a:latin typeface="Calibri" pitchFamily="34" charset="0"/>
                <a:ea typeface="Calibri" pitchFamily="34" charset="-122"/>
                <a:cs typeface="Calibri" pitchFamily="34" charset="-120"/>
              </a:rPr>
              <a:t>PixelProse</a:t>
            </a:r>
            <a:pPr algn="r" indent="0" marL="0">
              <a:buNone/>
            </a:pPr>
            <a:r>
              <a:rPr lang="en-US" sz="1000" dirty="0">
                <a:solidFill>
                  <a:srgbClr val="74718F"/>
                </a:solidFill>
                <a:latin typeface="Calibri" pitchFamily="34" charset="0"/>
                <a:ea typeface="Calibri" pitchFamily="34" charset="-122"/>
                <a:cs typeface="Calibri" pitchFamily="34" charset="-120"/>
              </a:rPr>
              <a:t>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indent="0" marL="0">
              <a:buNone/>
            </a:pPr>
            <a:r>
              <a:rPr lang="en-US" sz="1100" b="1" spc="300" kern="0" dirty="0">
                <a:solidFill>
                  <a:srgbClr val="8B5CF6"/>
                </a:solidFill>
                <a:latin typeface="Arial" pitchFamily="34" charset="0"/>
                <a:ea typeface="Arial" pitchFamily="34" charset="-122"/>
                <a:cs typeface="Arial" pitchFamily="34" charset="-120"/>
              </a:rPr>
              <a:t>TECH STACK</a:t>
            </a:r>
            <a:endParaRPr lang="en-US" sz="1100" dirty="0"/>
          </a:p>
        </p:txBody>
      </p:sp>
      <p:sp>
        <p:nvSpPr>
          <p:cNvPr id="3" name="Text 1"/>
          <p:cNvSpPr txBox="1"/>
          <p:nvPr/>
        </p:nvSpPr>
        <p:spPr>
          <a:xfrm>
            <a:off x="548640" y="777240"/>
            <a:ext cx="11094415" cy="777240"/>
          </a:xfrm>
          <a:prstGeom prst="rect">
            <a:avLst/>
          </a:prstGeom>
          <a:noFill/>
          <a:ln/>
        </p:spPr>
        <p:txBody>
          <a:bodyPr wrap="square" lIns="0" tIns="0" rIns="0" bIns="0" rtlCol="0" anchor="t"/>
          <a:lstStyle/>
          <a:p>
            <a:pPr indent="0" marL="0">
              <a:buNone/>
            </a:pPr>
            <a:r>
              <a:rPr lang="en-US" sz="3400" b="1" dirty="0">
                <a:solidFill>
                  <a:srgbClr val="F1F0FA"/>
                </a:solidFill>
                <a:latin typeface="Arial" pitchFamily="34" charset="0"/>
                <a:ea typeface="Arial" pitchFamily="34" charset="-122"/>
                <a:cs typeface="Arial" pitchFamily="34" charset="-120"/>
              </a:rPr>
              <a:t>What it's built with</a:t>
            </a:r>
            <a:endParaRPr lang="en-US" sz="3400" dirty="0"/>
          </a:p>
        </p:txBody>
      </p:sp>
      <p:sp>
        <p:nvSpPr>
          <p:cNvPr id="4" name="Shape 2"/>
          <p:cNvSpPr/>
          <p:nvPr/>
        </p:nvSpPr>
        <p:spPr>
          <a:xfrm>
            <a:off x="548640" y="1783080"/>
            <a:ext cx="2880360" cy="1188720"/>
          </a:xfrm>
          <a:prstGeom prst="roundRect">
            <a:avLst>
              <a:gd name="adj" fmla="val 10769"/>
            </a:avLst>
          </a:prstGeom>
          <a:solidFill>
            <a:srgbClr val="15132A"/>
          </a:solidFill>
          <a:ln w="12700">
            <a:solidFill>
              <a:srgbClr val="2E2A4F"/>
            </a:solidFill>
            <a:prstDash val="solid"/>
          </a:ln>
        </p:spPr>
      </p:sp>
      <p:sp>
        <p:nvSpPr>
          <p:cNvPr id="5" name="Shape 3"/>
          <p:cNvSpPr/>
          <p:nvPr/>
        </p:nvSpPr>
        <p:spPr>
          <a:xfrm>
            <a:off x="777240" y="2075688"/>
            <a:ext cx="603504" cy="603504"/>
          </a:xfrm>
          <a:prstGeom prst="ellipse">
            <a:avLst/>
          </a:prstGeom>
          <a:solidFill>
            <a:srgbClr val="8B5CF6">
              <a:alpha val="18000"/>
            </a:srgbClr>
          </a:solidFill>
          <a:ln w="12700">
            <a:solidFill>
              <a:srgbClr val="8B5CF6">
                <a:alpha val="60000"/>
              </a:srgbClr>
            </a:solidFill>
            <a:prstDash val="solid"/>
          </a:ln>
        </p:spPr>
      </p:sp>
      <p:pic>
        <p:nvPicPr>
          <p:cNvPr id="6" name="Image 0" descr="preencoded.png">    </p:cNvPr>
          <p:cNvPicPr>
            <a:picLocks noChangeAspect="1"/>
          </p:cNvPicPr>
          <p:nvPr/>
        </p:nvPicPr>
        <p:blipFill>
          <a:blip r:embed="rId2"/>
          <a:stretch>
            <a:fillRect/>
          </a:stretch>
        </p:blipFill>
        <p:spPr>
          <a:xfrm>
            <a:off x="910011" y="2208459"/>
            <a:ext cx="337962" cy="337962"/>
          </a:xfrm>
          <a:prstGeom prst="rect">
            <a:avLst/>
          </a:prstGeom>
        </p:spPr>
      </p:pic>
      <p:sp>
        <p:nvSpPr>
          <p:cNvPr id="7" name="Text 4"/>
          <p:cNvSpPr txBox="1"/>
          <p:nvPr/>
        </p:nvSpPr>
        <p:spPr>
          <a:xfrm>
            <a:off x="1536192" y="2039112"/>
            <a:ext cx="1783080" cy="411480"/>
          </a:xfrm>
          <a:prstGeom prst="rect">
            <a:avLst/>
          </a:prstGeom>
          <a:noFill/>
          <a:ln/>
        </p:spPr>
        <p:txBody>
          <a:bodyPr wrap="square" lIns="0" tIns="0" rIns="0" bIns="0" rtlCol="0" anchor="ctr"/>
          <a:lstStyle/>
          <a:p>
            <a:pPr indent="0" marL="0">
              <a:buNone/>
            </a:pPr>
            <a:r>
              <a:rPr lang="en-US" sz="1300" b="1" dirty="0">
                <a:solidFill>
                  <a:srgbClr val="F1F0FA"/>
                </a:solidFill>
                <a:latin typeface="Arial" pitchFamily="34" charset="0"/>
                <a:ea typeface="Arial" pitchFamily="34" charset="-122"/>
                <a:cs typeface="Arial" pitchFamily="34" charset="-120"/>
              </a:rPr>
              <a:t>PyTorch</a:t>
            </a:r>
            <a:endParaRPr lang="en-US" sz="1300" dirty="0"/>
          </a:p>
        </p:txBody>
      </p:sp>
      <p:sp>
        <p:nvSpPr>
          <p:cNvPr id="8" name="Text 5"/>
          <p:cNvSpPr txBox="1"/>
          <p:nvPr/>
        </p:nvSpPr>
        <p:spPr>
          <a:xfrm>
            <a:off x="1536192" y="2441448"/>
            <a:ext cx="1783080" cy="365760"/>
          </a:xfrm>
          <a:prstGeom prst="rect">
            <a:avLst/>
          </a:prstGeom>
          <a:noFill/>
          <a:ln/>
        </p:spPr>
        <p:txBody>
          <a:bodyPr wrap="square" lIns="0" tIns="0" rIns="0" bIns="0" rtlCol="0" anchor="ctr"/>
          <a:lstStyle/>
          <a:p>
            <a:pPr indent="0" marL="0">
              <a:buNone/>
            </a:pPr>
            <a:r>
              <a:rPr lang="en-US" sz="1100" dirty="0">
                <a:solidFill>
                  <a:srgbClr val="A9A7C0"/>
                </a:solidFill>
                <a:latin typeface="Calibri" pitchFamily="34" charset="0"/>
                <a:ea typeface="Calibri" pitchFamily="34" charset="-122"/>
                <a:cs typeface="Calibri" pitchFamily="34" charset="-120"/>
              </a:rPr>
              <a:t>tensor maths &amp; autograd</a:t>
            </a:r>
            <a:endParaRPr lang="en-US" sz="1100" dirty="0"/>
          </a:p>
        </p:txBody>
      </p:sp>
      <p:sp>
        <p:nvSpPr>
          <p:cNvPr id="9" name="Shape 6"/>
          <p:cNvSpPr/>
          <p:nvPr/>
        </p:nvSpPr>
        <p:spPr>
          <a:xfrm>
            <a:off x="3611880" y="1783080"/>
            <a:ext cx="2880360" cy="1188720"/>
          </a:xfrm>
          <a:prstGeom prst="roundRect">
            <a:avLst>
              <a:gd name="adj" fmla="val 10769"/>
            </a:avLst>
          </a:prstGeom>
          <a:solidFill>
            <a:srgbClr val="15132A"/>
          </a:solidFill>
          <a:ln w="12700">
            <a:solidFill>
              <a:srgbClr val="2E2A4F"/>
            </a:solidFill>
            <a:prstDash val="solid"/>
          </a:ln>
        </p:spPr>
      </p:sp>
      <p:sp>
        <p:nvSpPr>
          <p:cNvPr id="10" name="Shape 7"/>
          <p:cNvSpPr/>
          <p:nvPr/>
        </p:nvSpPr>
        <p:spPr>
          <a:xfrm>
            <a:off x="3840480" y="2075688"/>
            <a:ext cx="603504" cy="603504"/>
          </a:xfrm>
          <a:prstGeom prst="ellipse">
            <a:avLst/>
          </a:prstGeom>
          <a:solidFill>
            <a:srgbClr val="8B5CF6">
              <a:alpha val="18000"/>
            </a:srgbClr>
          </a:solidFill>
          <a:ln w="12700">
            <a:solidFill>
              <a:srgbClr val="8B5CF6">
                <a:alpha val="60000"/>
              </a:srgbClr>
            </a:solidFill>
            <a:prstDash val="solid"/>
          </a:ln>
        </p:spPr>
      </p:sp>
      <p:pic>
        <p:nvPicPr>
          <p:cNvPr id="11" name="Image 1" descr="preencoded.png">    </p:cNvPr>
          <p:cNvPicPr>
            <a:picLocks noChangeAspect="1"/>
          </p:cNvPicPr>
          <p:nvPr/>
        </p:nvPicPr>
        <p:blipFill>
          <a:blip r:embed="rId3"/>
          <a:stretch>
            <a:fillRect/>
          </a:stretch>
        </p:blipFill>
        <p:spPr>
          <a:xfrm>
            <a:off x="3973251" y="2208459"/>
            <a:ext cx="337962" cy="337962"/>
          </a:xfrm>
          <a:prstGeom prst="rect">
            <a:avLst/>
          </a:prstGeom>
        </p:spPr>
      </p:pic>
      <p:sp>
        <p:nvSpPr>
          <p:cNvPr id="12" name="Text 8"/>
          <p:cNvSpPr txBox="1"/>
          <p:nvPr/>
        </p:nvSpPr>
        <p:spPr>
          <a:xfrm>
            <a:off x="4599432" y="2039112"/>
            <a:ext cx="1783080" cy="411480"/>
          </a:xfrm>
          <a:prstGeom prst="rect">
            <a:avLst/>
          </a:prstGeom>
          <a:noFill/>
          <a:ln/>
        </p:spPr>
        <p:txBody>
          <a:bodyPr wrap="square" lIns="0" tIns="0" rIns="0" bIns="0" rtlCol="0" anchor="ctr"/>
          <a:lstStyle/>
          <a:p>
            <a:pPr indent="0" marL="0">
              <a:buNone/>
            </a:pPr>
            <a:r>
              <a:rPr lang="en-US" sz="1300" b="1" dirty="0">
                <a:solidFill>
                  <a:srgbClr val="F1F0FA"/>
                </a:solidFill>
                <a:latin typeface="Arial" pitchFamily="34" charset="0"/>
                <a:ea typeface="Arial" pitchFamily="34" charset="-122"/>
                <a:cs typeface="Arial" pitchFamily="34" charset="-120"/>
              </a:rPr>
              <a:t>Hugging Face Transformers</a:t>
            </a:r>
            <a:endParaRPr lang="en-US" sz="1300" dirty="0"/>
          </a:p>
        </p:txBody>
      </p:sp>
      <p:sp>
        <p:nvSpPr>
          <p:cNvPr id="13" name="Text 9"/>
          <p:cNvSpPr txBox="1"/>
          <p:nvPr/>
        </p:nvSpPr>
        <p:spPr>
          <a:xfrm>
            <a:off x="4599432" y="2441448"/>
            <a:ext cx="1783080" cy="365760"/>
          </a:xfrm>
          <a:prstGeom prst="rect">
            <a:avLst/>
          </a:prstGeom>
          <a:noFill/>
          <a:ln/>
        </p:spPr>
        <p:txBody>
          <a:bodyPr wrap="square" lIns="0" tIns="0" rIns="0" bIns="0" rtlCol="0" anchor="ctr"/>
          <a:lstStyle/>
          <a:p>
            <a:pPr indent="0" marL="0">
              <a:buNone/>
            </a:pPr>
            <a:r>
              <a:rPr lang="en-US" sz="1100" dirty="0">
                <a:solidFill>
                  <a:srgbClr val="A9A7C0"/>
                </a:solidFill>
                <a:latin typeface="Calibri" pitchFamily="34" charset="0"/>
                <a:ea typeface="Calibri" pitchFamily="34" charset="-122"/>
                <a:cs typeface="Calibri" pitchFamily="34" charset="-120"/>
              </a:rPr>
              <a:t>BLIP models &amp; generation</a:t>
            </a:r>
            <a:endParaRPr lang="en-US" sz="1100" dirty="0"/>
          </a:p>
        </p:txBody>
      </p:sp>
      <p:sp>
        <p:nvSpPr>
          <p:cNvPr id="14" name="Shape 10"/>
          <p:cNvSpPr/>
          <p:nvPr/>
        </p:nvSpPr>
        <p:spPr>
          <a:xfrm>
            <a:off x="548640" y="3154680"/>
            <a:ext cx="2880360" cy="1188720"/>
          </a:xfrm>
          <a:prstGeom prst="roundRect">
            <a:avLst>
              <a:gd name="adj" fmla="val 10769"/>
            </a:avLst>
          </a:prstGeom>
          <a:solidFill>
            <a:srgbClr val="15132A"/>
          </a:solidFill>
          <a:ln w="12700">
            <a:solidFill>
              <a:srgbClr val="2E2A4F"/>
            </a:solidFill>
            <a:prstDash val="solid"/>
          </a:ln>
        </p:spPr>
      </p:sp>
      <p:sp>
        <p:nvSpPr>
          <p:cNvPr id="15" name="Shape 11"/>
          <p:cNvSpPr/>
          <p:nvPr/>
        </p:nvSpPr>
        <p:spPr>
          <a:xfrm>
            <a:off x="777240" y="3447288"/>
            <a:ext cx="603504" cy="603504"/>
          </a:xfrm>
          <a:prstGeom prst="ellipse">
            <a:avLst/>
          </a:prstGeom>
          <a:solidFill>
            <a:srgbClr val="22D3EE">
              <a:alpha val="18000"/>
            </a:srgbClr>
          </a:solidFill>
          <a:ln w="12700">
            <a:solidFill>
              <a:srgbClr val="22D3EE">
                <a:alpha val="60000"/>
              </a:srgbClr>
            </a:solidFill>
            <a:prstDash val="solid"/>
          </a:ln>
        </p:spPr>
      </p:sp>
      <p:pic>
        <p:nvPicPr>
          <p:cNvPr id="16" name="Image 2" descr="preencoded.png">    </p:cNvPr>
          <p:cNvPicPr>
            <a:picLocks noChangeAspect="1"/>
          </p:cNvPicPr>
          <p:nvPr/>
        </p:nvPicPr>
        <p:blipFill>
          <a:blip r:embed="rId4"/>
          <a:stretch>
            <a:fillRect/>
          </a:stretch>
        </p:blipFill>
        <p:spPr>
          <a:xfrm>
            <a:off x="910011" y="3580059"/>
            <a:ext cx="337962" cy="337962"/>
          </a:xfrm>
          <a:prstGeom prst="rect">
            <a:avLst/>
          </a:prstGeom>
        </p:spPr>
      </p:pic>
      <p:sp>
        <p:nvSpPr>
          <p:cNvPr id="17" name="Text 12"/>
          <p:cNvSpPr txBox="1"/>
          <p:nvPr/>
        </p:nvSpPr>
        <p:spPr>
          <a:xfrm>
            <a:off x="1536192" y="3410712"/>
            <a:ext cx="1783080" cy="411480"/>
          </a:xfrm>
          <a:prstGeom prst="rect">
            <a:avLst/>
          </a:prstGeom>
          <a:noFill/>
          <a:ln/>
        </p:spPr>
        <p:txBody>
          <a:bodyPr wrap="square" lIns="0" tIns="0" rIns="0" bIns="0" rtlCol="0" anchor="ctr"/>
          <a:lstStyle/>
          <a:p>
            <a:pPr indent="0" marL="0">
              <a:buNone/>
            </a:pPr>
            <a:r>
              <a:rPr lang="en-US" sz="1300" b="1" dirty="0">
                <a:solidFill>
                  <a:srgbClr val="F1F0FA"/>
                </a:solidFill>
                <a:latin typeface="Arial" pitchFamily="34" charset="0"/>
                <a:ea typeface="Arial" pitchFamily="34" charset="-122"/>
                <a:cs typeface="Arial" pitchFamily="34" charset="-120"/>
              </a:rPr>
              <a:t>FastAPI + Uvicorn</a:t>
            </a:r>
            <a:endParaRPr lang="en-US" sz="1300" dirty="0"/>
          </a:p>
        </p:txBody>
      </p:sp>
      <p:sp>
        <p:nvSpPr>
          <p:cNvPr id="18" name="Text 13"/>
          <p:cNvSpPr txBox="1"/>
          <p:nvPr/>
        </p:nvSpPr>
        <p:spPr>
          <a:xfrm>
            <a:off x="1536192" y="3813048"/>
            <a:ext cx="1783080" cy="365760"/>
          </a:xfrm>
          <a:prstGeom prst="rect">
            <a:avLst/>
          </a:prstGeom>
          <a:noFill/>
          <a:ln/>
        </p:spPr>
        <p:txBody>
          <a:bodyPr wrap="square" lIns="0" tIns="0" rIns="0" bIns="0" rtlCol="0" anchor="ctr"/>
          <a:lstStyle/>
          <a:p>
            <a:pPr indent="0" marL="0">
              <a:buNone/>
            </a:pPr>
            <a:r>
              <a:rPr lang="en-US" sz="1100" dirty="0">
                <a:solidFill>
                  <a:srgbClr val="A9A7C0"/>
                </a:solidFill>
                <a:latin typeface="Calibri" pitchFamily="34" charset="0"/>
                <a:ea typeface="Calibri" pitchFamily="34" charset="-122"/>
                <a:cs typeface="Calibri" pitchFamily="34" charset="-120"/>
              </a:rPr>
              <a:t>REST API + OpenAPI docs</a:t>
            </a:r>
            <a:endParaRPr lang="en-US" sz="1100" dirty="0"/>
          </a:p>
        </p:txBody>
      </p:sp>
      <p:sp>
        <p:nvSpPr>
          <p:cNvPr id="19" name="Shape 14"/>
          <p:cNvSpPr/>
          <p:nvPr/>
        </p:nvSpPr>
        <p:spPr>
          <a:xfrm>
            <a:off x="3611880" y="3154680"/>
            <a:ext cx="2880360" cy="1188720"/>
          </a:xfrm>
          <a:prstGeom prst="roundRect">
            <a:avLst>
              <a:gd name="adj" fmla="val 10769"/>
            </a:avLst>
          </a:prstGeom>
          <a:solidFill>
            <a:srgbClr val="15132A"/>
          </a:solidFill>
          <a:ln w="12700">
            <a:solidFill>
              <a:srgbClr val="2E2A4F"/>
            </a:solidFill>
            <a:prstDash val="solid"/>
          </a:ln>
        </p:spPr>
      </p:sp>
      <p:sp>
        <p:nvSpPr>
          <p:cNvPr id="20" name="Shape 15"/>
          <p:cNvSpPr/>
          <p:nvPr/>
        </p:nvSpPr>
        <p:spPr>
          <a:xfrm>
            <a:off x="3840480" y="3447288"/>
            <a:ext cx="603504" cy="603504"/>
          </a:xfrm>
          <a:prstGeom prst="ellipse">
            <a:avLst/>
          </a:prstGeom>
          <a:solidFill>
            <a:srgbClr val="22D3EE">
              <a:alpha val="18000"/>
            </a:srgbClr>
          </a:solidFill>
          <a:ln w="12700">
            <a:solidFill>
              <a:srgbClr val="22D3EE">
                <a:alpha val="60000"/>
              </a:srgbClr>
            </a:solidFill>
            <a:prstDash val="solid"/>
          </a:ln>
        </p:spPr>
      </p:sp>
      <p:pic>
        <p:nvPicPr>
          <p:cNvPr id="21" name="Image 3" descr="preencoded.png">    </p:cNvPr>
          <p:cNvPicPr>
            <a:picLocks noChangeAspect="1"/>
          </p:cNvPicPr>
          <p:nvPr/>
        </p:nvPicPr>
        <p:blipFill>
          <a:blip r:embed="rId5"/>
          <a:stretch>
            <a:fillRect/>
          </a:stretch>
        </p:blipFill>
        <p:spPr>
          <a:xfrm>
            <a:off x="3973251" y="3580059"/>
            <a:ext cx="337962" cy="337962"/>
          </a:xfrm>
          <a:prstGeom prst="rect">
            <a:avLst/>
          </a:prstGeom>
        </p:spPr>
      </p:pic>
      <p:sp>
        <p:nvSpPr>
          <p:cNvPr id="22" name="Text 16"/>
          <p:cNvSpPr txBox="1"/>
          <p:nvPr/>
        </p:nvSpPr>
        <p:spPr>
          <a:xfrm>
            <a:off x="4599432" y="3410712"/>
            <a:ext cx="1783080" cy="411480"/>
          </a:xfrm>
          <a:prstGeom prst="rect">
            <a:avLst/>
          </a:prstGeom>
          <a:noFill/>
          <a:ln/>
        </p:spPr>
        <p:txBody>
          <a:bodyPr wrap="square" lIns="0" tIns="0" rIns="0" bIns="0" rtlCol="0" anchor="ctr"/>
          <a:lstStyle/>
          <a:p>
            <a:pPr indent="0" marL="0">
              <a:buNone/>
            </a:pPr>
            <a:r>
              <a:rPr lang="en-US" sz="1300" b="1" dirty="0">
                <a:solidFill>
                  <a:srgbClr val="F1F0FA"/>
                </a:solidFill>
                <a:latin typeface="Arial" pitchFamily="34" charset="0"/>
                <a:ea typeface="Arial" pitchFamily="34" charset="-122"/>
                <a:cs typeface="Arial" pitchFamily="34" charset="-120"/>
              </a:rPr>
              <a:t>Pillow</a:t>
            </a:r>
            <a:endParaRPr lang="en-US" sz="1300" dirty="0"/>
          </a:p>
        </p:txBody>
      </p:sp>
      <p:sp>
        <p:nvSpPr>
          <p:cNvPr id="23" name="Text 17"/>
          <p:cNvSpPr txBox="1"/>
          <p:nvPr/>
        </p:nvSpPr>
        <p:spPr>
          <a:xfrm>
            <a:off x="4599432" y="3813048"/>
            <a:ext cx="1783080" cy="365760"/>
          </a:xfrm>
          <a:prstGeom prst="rect">
            <a:avLst/>
          </a:prstGeom>
          <a:noFill/>
          <a:ln/>
        </p:spPr>
        <p:txBody>
          <a:bodyPr wrap="square" lIns="0" tIns="0" rIns="0" bIns="0" rtlCol="0" anchor="ctr"/>
          <a:lstStyle/>
          <a:p>
            <a:pPr indent="0" marL="0">
              <a:buNone/>
            </a:pPr>
            <a:r>
              <a:rPr lang="en-US" sz="1100" dirty="0">
                <a:solidFill>
                  <a:srgbClr val="A9A7C0"/>
                </a:solidFill>
                <a:latin typeface="Calibri" pitchFamily="34" charset="0"/>
                <a:ea typeface="Calibri" pitchFamily="34" charset="-122"/>
                <a:cs typeface="Calibri" pitchFamily="34" charset="-120"/>
              </a:rPr>
              <a:t>decoding, EXIF, palette</a:t>
            </a:r>
            <a:endParaRPr lang="en-US" sz="1100" dirty="0"/>
          </a:p>
        </p:txBody>
      </p:sp>
      <p:sp>
        <p:nvSpPr>
          <p:cNvPr id="24" name="Shape 18"/>
          <p:cNvSpPr/>
          <p:nvPr/>
        </p:nvSpPr>
        <p:spPr>
          <a:xfrm>
            <a:off x="548640" y="4526280"/>
            <a:ext cx="2880360" cy="1188720"/>
          </a:xfrm>
          <a:prstGeom prst="roundRect">
            <a:avLst>
              <a:gd name="adj" fmla="val 10769"/>
            </a:avLst>
          </a:prstGeom>
          <a:solidFill>
            <a:srgbClr val="15132A"/>
          </a:solidFill>
          <a:ln w="12700">
            <a:solidFill>
              <a:srgbClr val="2E2A4F"/>
            </a:solidFill>
            <a:prstDash val="solid"/>
          </a:ln>
        </p:spPr>
      </p:sp>
      <p:sp>
        <p:nvSpPr>
          <p:cNvPr id="25" name="Shape 19"/>
          <p:cNvSpPr/>
          <p:nvPr/>
        </p:nvSpPr>
        <p:spPr>
          <a:xfrm>
            <a:off x="777240" y="4818888"/>
            <a:ext cx="603504" cy="603504"/>
          </a:xfrm>
          <a:prstGeom prst="ellipse">
            <a:avLst/>
          </a:prstGeom>
          <a:solidFill>
            <a:srgbClr val="F472B6">
              <a:alpha val="18000"/>
            </a:srgbClr>
          </a:solidFill>
          <a:ln w="12700">
            <a:solidFill>
              <a:srgbClr val="F472B6">
                <a:alpha val="60000"/>
              </a:srgbClr>
            </a:solidFill>
            <a:prstDash val="solid"/>
          </a:ln>
        </p:spPr>
      </p:sp>
      <p:pic>
        <p:nvPicPr>
          <p:cNvPr id="26" name="Image 4" descr="preencoded.png">    </p:cNvPr>
          <p:cNvPicPr>
            <a:picLocks noChangeAspect="1"/>
          </p:cNvPicPr>
          <p:nvPr/>
        </p:nvPicPr>
        <p:blipFill>
          <a:blip r:embed="rId6"/>
          <a:stretch>
            <a:fillRect/>
          </a:stretch>
        </p:blipFill>
        <p:spPr>
          <a:xfrm>
            <a:off x="910011" y="4951659"/>
            <a:ext cx="337962" cy="337962"/>
          </a:xfrm>
          <a:prstGeom prst="rect">
            <a:avLst/>
          </a:prstGeom>
        </p:spPr>
      </p:pic>
      <p:sp>
        <p:nvSpPr>
          <p:cNvPr id="27" name="Text 20"/>
          <p:cNvSpPr txBox="1"/>
          <p:nvPr/>
        </p:nvSpPr>
        <p:spPr>
          <a:xfrm>
            <a:off x="1536192" y="4782312"/>
            <a:ext cx="1783080" cy="411480"/>
          </a:xfrm>
          <a:prstGeom prst="rect">
            <a:avLst/>
          </a:prstGeom>
          <a:noFill/>
          <a:ln/>
        </p:spPr>
        <p:txBody>
          <a:bodyPr wrap="square" lIns="0" tIns="0" rIns="0" bIns="0" rtlCol="0" anchor="ctr"/>
          <a:lstStyle/>
          <a:p>
            <a:pPr indent="0" marL="0">
              <a:buNone/>
            </a:pPr>
            <a:r>
              <a:rPr lang="en-US" sz="1300" b="1" dirty="0">
                <a:solidFill>
                  <a:srgbClr val="F1F0FA"/>
                </a:solidFill>
                <a:latin typeface="Arial" pitchFamily="34" charset="0"/>
                <a:ea typeface="Arial" pitchFamily="34" charset="-122"/>
                <a:cs typeface="Arial" pitchFamily="34" charset="-120"/>
              </a:rPr>
              <a:t>HTML · CSS · JavaScript</a:t>
            </a:r>
            <a:endParaRPr lang="en-US" sz="1300" dirty="0"/>
          </a:p>
        </p:txBody>
      </p:sp>
      <p:sp>
        <p:nvSpPr>
          <p:cNvPr id="28" name="Text 21"/>
          <p:cNvSpPr txBox="1"/>
          <p:nvPr/>
        </p:nvSpPr>
        <p:spPr>
          <a:xfrm>
            <a:off x="1536192" y="5184648"/>
            <a:ext cx="1783080" cy="365760"/>
          </a:xfrm>
          <a:prstGeom prst="rect">
            <a:avLst/>
          </a:prstGeom>
          <a:noFill/>
          <a:ln/>
        </p:spPr>
        <p:txBody>
          <a:bodyPr wrap="square" lIns="0" tIns="0" rIns="0" bIns="0" rtlCol="0" anchor="ctr"/>
          <a:lstStyle/>
          <a:p>
            <a:pPr indent="0" marL="0">
              <a:buNone/>
            </a:pPr>
            <a:r>
              <a:rPr lang="en-US" sz="1100" dirty="0">
                <a:solidFill>
                  <a:srgbClr val="A9A7C0"/>
                </a:solidFill>
                <a:latin typeface="Calibri" pitchFamily="34" charset="0"/>
                <a:ea typeface="Calibri" pitchFamily="34" charset="-122"/>
                <a:cs typeface="Calibri" pitchFamily="34" charset="-120"/>
              </a:rPr>
              <a:t>ES modules, Canvas, Web Speech</a:t>
            </a:r>
            <a:endParaRPr lang="en-US" sz="1100" dirty="0"/>
          </a:p>
        </p:txBody>
      </p:sp>
      <p:sp>
        <p:nvSpPr>
          <p:cNvPr id="29" name="Shape 22"/>
          <p:cNvSpPr/>
          <p:nvPr/>
        </p:nvSpPr>
        <p:spPr>
          <a:xfrm>
            <a:off x="3611880" y="4526280"/>
            <a:ext cx="2880360" cy="1188720"/>
          </a:xfrm>
          <a:prstGeom prst="roundRect">
            <a:avLst>
              <a:gd name="adj" fmla="val 10769"/>
            </a:avLst>
          </a:prstGeom>
          <a:solidFill>
            <a:srgbClr val="15132A"/>
          </a:solidFill>
          <a:ln w="12700">
            <a:solidFill>
              <a:srgbClr val="2E2A4F"/>
            </a:solidFill>
            <a:prstDash val="solid"/>
          </a:ln>
        </p:spPr>
      </p:sp>
      <p:sp>
        <p:nvSpPr>
          <p:cNvPr id="30" name="Shape 23"/>
          <p:cNvSpPr/>
          <p:nvPr/>
        </p:nvSpPr>
        <p:spPr>
          <a:xfrm>
            <a:off x="3840480" y="4818888"/>
            <a:ext cx="603504" cy="603504"/>
          </a:xfrm>
          <a:prstGeom prst="ellipse">
            <a:avLst/>
          </a:prstGeom>
          <a:solidFill>
            <a:srgbClr val="F472B6">
              <a:alpha val="18000"/>
            </a:srgbClr>
          </a:solidFill>
          <a:ln w="12700">
            <a:solidFill>
              <a:srgbClr val="F472B6">
                <a:alpha val="60000"/>
              </a:srgbClr>
            </a:solidFill>
            <a:prstDash val="solid"/>
          </a:ln>
        </p:spPr>
      </p:sp>
      <p:pic>
        <p:nvPicPr>
          <p:cNvPr id="31" name="Image 5" descr="preencoded.png">    </p:cNvPr>
          <p:cNvPicPr>
            <a:picLocks noChangeAspect="1"/>
          </p:cNvPicPr>
          <p:nvPr/>
        </p:nvPicPr>
        <p:blipFill>
          <a:blip r:embed="rId7"/>
          <a:stretch>
            <a:fillRect/>
          </a:stretch>
        </p:blipFill>
        <p:spPr>
          <a:xfrm>
            <a:off x="3973251" y="4951659"/>
            <a:ext cx="337962" cy="337962"/>
          </a:xfrm>
          <a:prstGeom prst="rect">
            <a:avLst/>
          </a:prstGeom>
        </p:spPr>
      </p:pic>
      <p:sp>
        <p:nvSpPr>
          <p:cNvPr id="32" name="Text 24"/>
          <p:cNvSpPr txBox="1"/>
          <p:nvPr/>
        </p:nvSpPr>
        <p:spPr>
          <a:xfrm>
            <a:off x="4599432" y="4782312"/>
            <a:ext cx="1783080" cy="411480"/>
          </a:xfrm>
          <a:prstGeom prst="rect">
            <a:avLst/>
          </a:prstGeom>
          <a:noFill/>
          <a:ln/>
        </p:spPr>
        <p:txBody>
          <a:bodyPr wrap="square" lIns="0" tIns="0" rIns="0" bIns="0" rtlCol="0" anchor="ctr"/>
          <a:lstStyle/>
          <a:p>
            <a:pPr indent="0" marL="0">
              <a:buNone/>
            </a:pPr>
            <a:r>
              <a:rPr lang="en-US" sz="1300" b="1" dirty="0">
                <a:solidFill>
                  <a:srgbClr val="F1F0FA"/>
                </a:solidFill>
                <a:latin typeface="Arial" pitchFamily="34" charset="0"/>
                <a:ea typeface="Arial" pitchFamily="34" charset="-122"/>
                <a:cs typeface="Arial" pitchFamily="34" charset="-120"/>
              </a:rPr>
              <a:t>pytest</a:t>
            </a:r>
            <a:endParaRPr lang="en-US" sz="1300" dirty="0"/>
          </a:p>
        </p:txBody>
      </p:sp>
      <p:sp>
        <p:nvSpPr>
          <p:cNvPr id="33" name="Text 25"/>
          <p:cNvSpPr txBox="1"/>
          <p:nvPr/>
        </p:nvSpPr>
        <p:spPr>
          <a:xfrm>
            <a:off x="4599432" y="5184648"/>
            <a:ext cx="1783080" cy="365760"/>
          </a:xfrm>
          <a:prstGeom prst="rect">
            <a:avLst/>
          </a:prstGeom>
          <a:noFill/>
          <a:ln/>
        </p:spPr>
        <p:txBody>
          <a:bodyPr wrap="square" lIns="0" tIns="0" rIns="0" bIns="0" rtlCol="0" anchor="ctr"/>
          <a:lstStyle/>
          <a:p>
            <a:pPr indent="0" marL="0">
              <a:buNone/>
            </a:pPr>
            <a:r>
              <a:rPr lang="en-US" sz="1100" dirty="0">
                <a:solidFill>
                  <a:srgbClr val="A9A7C0"/>
                </a:solidFill>
                <a:latin typeface="Calibri" pitchFamily="34" charset="0"/>
                <a:ea typeface="Calibri" pitchFamily="34" charset="-122"/>
                <a:cs typeface="Calibri" pitchFamily="34" charset="-120"/>
              </a:rPr>
              <a:t>35 tests, models mocked</a:t>
            </a:r>
            <a:endParaRPr lang="en-US" sz="1100" dirty="0"/>
          </a:p>
        </p:txBody>
      </p:sp>
      <p:sp>
        <p:nvSpPr>
          <p:cNvPr id="34" name="Shape 26"/>
          <p:cNvSpPr/>
          <p:nvPr/>
        </p:nvSpPr>
        <p:spPr>
          <a:xfrm>
            <a:off x="6812280" y="1783080"/>
            <a:ext cx="4846320" cy="3931920"/>
          </a:xfrm>
          <a:prstGeom prst="roundRect">
            <a:avLst>
              <a:gd name="adj" fmla="val 3256"/>
            </a:avLst>
          </a:prstGeom>
          <a:solidFill>
            <a:srgbClr val="1C1A36"/>
          </a:solidFill>
          <a:ln w="12700">
            <a:solidFill>
              <a:srgbClr val="2E2A4F"/>
            </a:solidFill>
            <a:prstDash val="solid"/>
          </a:ln>
        </p:spPr>
      </p:sp>
      <p:sp>
        <p:nvSpPr>
          <p:cNvPr id="35" name="Text 27"/>
          <p:cNvSpPr txBox="1"/>
          <p:nvPr/>
        </p:nvSpPr>
        <p:spPr>
          <a:xfrm>
            <a:off x="7086600" y="1920240"/>
            <a:ext cx="4297680" cy="365760"/>
          </a:xfrm>
          <a:prstGeom prst="rect">
            <a:avLst/>
          </a:prstGeom>
          <a:noFill/>
          <a:ln/>
        </p:spPr>
        <p:txBody>
          <a:bodyPr wrap="square" lIns="0" tIns="0" rIns="0" bIns="0" rtlCol="0" anchor="ctr"/>
          <a:lstStyle/>
          <a:p>
            <a:pPr indent="0" marL="0">
              <a:buNone/>
            </a:pPr>
            <a:r>
              <a:rPr lang="en-US" sz="1600" b="1" dirty="0">
                <a:solidFill>
                  <a:srgbClr val="F1F0FA"/>
                </a:solidFill>
                <a:latin typeface="Arial" pitchFamily="34" charset="0"/>
                <a:ea typeface="Arial" pitchFamily="34" charset="-122"/>
                <a:cs typeface="Arial" pitchFamily="34" charset="-120"/>
              </a:rPr>
              <a:t>By the numbers</a:t>
            </a:r>
            <a:endParaRPr lang="en-US" sz="1600" dirty="0"/>
          </a:p>
        </p:txBody>
      </p:sp>
      <p:sp>
        <p:nvSpPr>
          <p:cNvPr id="36" name="Text 28"/>
          <p:cNvSpPr txBox="1"/>
          <p:nvPr/>
        </p:nvSpPr>
        <p:spPr>
          <a:xfrm>
            <a:off x="7086600" y="2468880"/>
            <a:ext cx="2103120" cy="502920"/>
          </a:xfrm>
          <a:prstGeom prst="rect">
            <a:avLst/>
          </a:prstGeom>
          <a:noFill/>
          <a:ln/>
        </p:spPr>
        <p:txBody>
          <a:bodyPr wrap="square" lIns="0" tIns="0" rIns="0" bIns="0" rtlCol="0" anchor="ctr"/>
          <a:lstStyle/>
          <a:p>
            <a:pPr indent="0" marL="0">
              <a:buNone/>
            </a:pPr>
            <a:r>
              <a:rPr lang="en-US" sz="2800" b="1" dirty="0">
                <a:solidFill>
                  <a:srgbClr val="8B5CF6"/>
                </a:solidFill>
                <a:latin typeface="Arial" pitchFamily="34" charset="0"/>
                <a:ea typeface="Arial" pitchFamily="34" charset="-122"/>
                <a:cs typeface="Arial" pitchFamily="34" charset="-120"/>
              </a:rPr>
              <a:t>4</a:t>
            </a:r>
            <a:endParaRPr lang="en-US" sz="2800" dirty="0"/>
          </a:p>
        </p:txBody>
      </p:sp>
      <p:sp>
        <p:nvSpPr>
          <p:cNvPr id="37" name="Text 29"/>
          <p:cNvSpPr txBox="1"/>
          <p:nvPr/>
        </p:nvSpPr>
        <p:spPr>
          <a:xfrm>
            <a:off x="7086600" y="2944368"/>
            <a:ext cx="2103120" cy="320040"/>
          </a:xfrm>
          <a:prstGeom prst="rect">
            <a:avLst/>
          </a:prstGeom>
          <a:noFill/>
          <a:ln/>
        </p:spPr>
        <p:txBody>
          <a:bodyPr wrap="square" lIns="0" tIns="0" rIns="0" bIns="0" rtlCol="0" anchor="ctr"/>
          <a:lstStyle/>
          <a:p>
            <a:pPr indent="0" marL="0">
              <a:buNone/>
            </a:pPr>
            <a:r>
              <a:rPr lang="en-US" sz="1200" dirty="0">
                <a:solidFill>
                  <a:srgbClr val="A9A7C0"/>
                </a:solidFill>
                <a:latin typeface="Calibri" pitchFamily="34" charset="0"/>
                <a:ea typeface="Calibri" pitchFamily="34" charset="-122"/>
                <a:cs typeface="Calibri" pitchFamily="34" charset="-120"/>
              </a:rPr>
              <a:t>transformer models</a:t>
            </a:r>
            <a:endParaRPr lang="en-US" sz="1200" dirty="0"/>
          </a:p>
        </p:txBody>
      </p:sp>
      <p:sp>
        <p:nvSpPr>
          <p:cNvPr id="38" name="Text 30"/>
          <p:cNvSpPr txBox="1"/>
          <p:nvPr/>
        </p:nvSpPr>
        <p:spPr>
          <a:xfrm>
            <a:off x="9372600" y="2468880"/>
            <a:ext cx="2103120" cy="502920"/>
          </a:xfrm>
          <a:prstGeom prst="rect">
            <a:avLst/>
          </a:prstGeom>
          <a:noFill/>
          <a:ln/>
        </p:spPr>
        <p:txBody>
          <a:bodyPr wrap="square" lIns="0" tIns="0" rIns="0" bIns="0" rtlCol="0" anchor="ctr"/>
          <a:lstStyle/>
          <a:p>
            <a:pPr indent="0" marL="0">
              <a:buNone/>
            </a:pPr>
            <a:r>
              <a:rPr lang="en-US" sz="2800" b="1" dirty="0">
                <a:solidFill>
                  <a:srgbClr val="22D3EE"/>
                </a:solidFill>
                <a:latin typeface="Arial" pitchFamily="34" charset="0"/>
                <a:ea typeface="Arial" pitchFamily="34" charset="-122"/>
                <a:cs typeface="Arial" pitchFamily="34" charset="-120"/>
              </a:rPr>
              <a:t>~1.25 B</a:t>
            </a:r>
            <a:endParaRPr lang="en-US" sz="2800" dirty="0"/>
          </a:p>
        </p:txBody>
      </p:sp>
      <p:sp>
        <p:nvSpPr>
          <p:cNvPr id="39" name="Text 31"/>
          <p:cNvSpPr txBox="1"/>
          <p:nvPr/>
        </p:nvSpPr>
        <p:spPr>
          <a:xfrm>
            <a:off x="9372600" y="2944368"/>
            <a:ext cx="2103120" cy="320040"/>
          </a:xfrm>
          <a:prstGeom prst="rect">
            <a:avLst/>
          </a:prstGeom>
          <a:noFill/>
          <a:ln/>
        </p:spPr>
        <p:txBody>
          <a:bodyPr wrap="square" lIns="0" tIns="0" rIns="0" bIns="0" rtlCol="0" anchor="ctr"/>
          <a:lstStyle/>
          <a:p>
            <a:pPr indent="0" marL="0">
              <a:buNone/>
            </a:pPr>
            <a:r>
              <a:rPr lang="en-US" sz="1200" dirty="0">
                <a:solidFill>
                  <a:srgbClr val="A9A7C0"/>
                </a:solidFill>
                <a:latin typeface="Calibri" pitchFamily="34" charset="0"/>
                <a:ea typeface="Calibri" pitchFamily="34" charset="-122"/>
                <a:cs typeface="Calibri" pitchFamily="34" charset="-120"/>
              </a:rPr>
              <a:t>parameters in total</a:t>
            </a:r>
            <a:endParaRPr lang="en-US" sz="1200" dirty="0"/>
          </a:p>
        </p:txBody>
      </p:sp>
      <p:sp>
        <p:nvSpPr>
          <p:cNvPr id="40" name="Text 32"/>
          <p:cNvSpPr txBox="1"/>
          <p:nvPr/>
        </p:nvSpPr>
        <p:spPr>
          <a:xfrm>
            <a:off x="7086600" y="3493008"/>
            <a:ext cx="2103120" cy="502920"/>
          </a:xfrm>
          <a:prstGeom prst="rect">
            <a:avLst/>
          </a:prstGeom>
          <a:noFill/>
          <a:ln/>
        </p:spPr>
        <p:txBody>
          <a:bodyPr wrap="square" lIns="0" tIns="0" rIns="0" bIns="0" rtlCol="0" anchor="ctr"/>
          <a:lstStyle/>
          <a:p>
            <a:pPr indent="0" marL="0">
              <a:buNone/>
            </a:pPr>
            <a:r>
              <a:rPr lang="en-US" sz="2800" b="1" dirty="0">
                <a:solidFill>
                  <a:srgbClr val="8B5CF6"/>
                </a:solidFill>
                <a:latin typeface="Arial" pitchFamily="34" charset="0"/>
                <a:ea typeface="Arial" pitchFamily="34" charset="-122"/>
                <a:cs typeface="Arial" pitchFamily="34" charset="-120"/>
              </a:rPr>
              <a:t>8</a:t>
            </a:r>
            <a:endParaRPr lang="en-US" sz="2800" dirty="0"/>
          </a:p>
        </p:txBody>
      </p:sp>
      <p:sp>
        <p:nvSpPr>
          <p:cNvPr id="41" name="Text 33"/>
          <p:cNvSpPr txBox="1"/>
          <p:nvPr/>
        </p:nvSpPr>
        <p:spPr>
          <a:xfrm>
            <a:off x="7086600" y="3968496"/>
            <a:ext cx="2103120" cy="320040"/>
          </a:xfrm>
          <a:prstGeom prst="rect">
            <a:avLst/>
          </a:prstGeom>
          <a:noFill/>
          <a:ln/>
        </p:spPr>
        <p:txBody>
          <a:bodyPr wrap="square" lIns="0" tIns="0" rIns="0" bIns="0" rtlCol="0" anchor="ctr"/>
          <a:lstStyle/>
          <a:p>
            <a:pPr indent="0" marL="0">
              <a:buNone/>
            </a:pPr>
            <a:r>
              <a:rPr lang="en-US" sz="1200" dirty="0">
                <a:solidFill>
                  <a:srgbClr val="A9A7C0"/>
                </a:solidFill>
                <a:latin typeface="Calibri" pitchFamily="34" charset="0"/>
                <a:ea typeface="Calibri" pitchFamily="34" charset="-122"/>
                <a:cs typeface="Calibri" pitchFamily="34" charset="-120"/>
              </a:rPr>
              <a:t>REST endpoints</a:t>
            </a:r>
            <a:endParaRPr lang="en-US" sz="1200" dirty="0"/>
          </a:p>
        </p:txBody>
      </p:sp>
      <p:sp>
        <p:nvSpPr>
          <p:cNvPr id="42" name="Text 34"/>
          <p:cNvSpPr txBox="1"/>
          <p:nvPr/>
        </p:nvSpPr>
        <p:spPr>
          <a:xfrm>
            <a:off x="9372600" y="3493008"/>
            <a:ext cx="2103120" cy="502920"/>
          </a:xfrm>
          <a:prstGeom prst="rect">
            <a:avLst/>
          </a:prstGeom>
          <a:noFill/>
          <a:ln/>
        </p:spPr>
        <p:txBody>
          <a:bodyPr wrap="square" lIns="0" tIns="0" rIns="0" bIns="0" rtlCol="0" anchor="ctr"/>
          <a:lstStyle/>
          <a:p>
            <a:pPr indent="0" marL="0">
              <a:buNone/>
            </a:pPr>
            <a:r>
              <a:rPr lang="en-US" sz="2800" b="1" dirty="0">
                <a:solidFill>
                  <a:srgbClr val="22D3EE"/>
                </a:solidFill>
                <a:latin typeface="Arial" pitchFamily="34" charset="0"/>
                <a:ea typeface="Arial" pitchFamily="34" charset="-122"/>
                <a:cs typeface="Arial" pitchFamily="34" charset="-120"/>
              </a:rPr>
              <a:t>22</a:t>
            </a:r>
            <a:endParaRPr lang="en-US" sz="2800" dirty="0"/>
          </a:p>
        </p:txBody>
      </p:sp>
      <p:sp>
        <p:nvSpPr>
          <p:cNvPr id="43" name="Text 35"/>
          <p:cNvSpPr txBox="1"/>
          <p:nvPr/>
        </p:nvSpPr>
        <p:spPr>
          <a:xfrm>
            <a:off x="9372600" y="3968496"/>
            <a:ext cx="2103120" cy="320040"/>
          </a:xfrm>
          <a:prstGeom prst="rect">
            <a:avLst/>
          </a:prstGeom>
          <a:noFill/>
          <a:ln/>
        </p:spPr>
        <p:txBody>
          <a:bodyPr wrap="square" lIns="0" tIns="0" rIns="0" bIns="0" rtlCol="0" anchor="ctr"/>
          <a:lstStyle/>
          <a:p>
            <a:pPr indent="0" marL="0">
              <a:buNone/>
            </a:pPr>
            <a:r>
              <a:rPr lang="en-US" sz="1200" dirty="0">
                <a:solidFill>
                  <a:srgbClr val="A9A7C0"/>
                </a:solidFill>
                <a:latin typeface="Calibri" pitchFamily="34" charset="0"/>
                <a:ea typeface="Calibri" pitchFamily="34" charset="-122"/>
                <a:cs typeface="Calibri" pitchFamily="34" charset="-120"/>
              </a:rPr>
              <a:t>features</a:t>
            </a:r>
            <a:endParaRPr lang="en-US" sz="1200" dirty="0"/>
          </a:p>
        </p:txBody>
      </p:sp>
      <p:sp>
        <p:nvSpPr>
          <p:cNvPr id="44" name="Text 36"/>
          <p:cNvSpPr txBox="1"/>
          <p:nvPr/>
        </p:nvSpPr>
        <p:spPr>
          <a:xfrm>
            <a:off x="7086600" y="4517136"/>
            <a:ext cx="2103120" cy="502920"/>
          </a:xfrm>
          <a:prstGeom prst="rect">
            <a:avLst/>
          </a:prstGeom>
          <a:noFill/>
          <a:ln/>
        </p:spPr>
        <p:txBody>
          <a:bodyPr wrap="square" lIns="0" tIns="0" rIns="0" bIns="0" rtlCol="0" anchor="ctr"/>
          <a:lstStyle/>
          <a:p>
            <a:pPr indent="0" marL="0">
              <a:buNone/>
            </a:pPr>
            <a:r>
              <a:rPr lang="en-US" sz="2800" b="1" dirty="0">
                <a:solidFill>
                  <a:srgbClr val="8B5CF6"/>
                </a:solidFill>
                <a:latin typeface="Arial" pitchFamily="34" charset="0"/>
                <a:ea typeface="Arial" pitchFamily="34" charset="-122"/>
                <a:cs typeface="Arial" pitchFamily="34" charset="-120"/>
              </a:rPr>
              <a:t>44</a:t>
            </a:r>
            <a:endParaRPr lang="en-US" sz="2800" dirty="0"/>
          </a:p>
        </p:txBody>
      </p:sp>
      <p:sp>
        <p:nvSpPr>
          <p:cNvPr id="45" name="Text 37"/>
          <p:cNvSpPr txBox="1"/>
          <p:nvPr/>
        </p:nvSpPr>
        <p:spPr>
          <a:xfrm>
            <a:off x="7086600" y="4992624"/>
            <a:ext cx="2103120" cy="320040"/>
          </a:xfrm>
          <a:prstGeom prst="rect">
            <a:avLst/>
          </a:prstGeom>
          <a:noFill/>
          <a:ln/>
        </p:spPr>
        <p:txBody>
          <a:bodyPr wrap="square" lIns="0" tIns="0" rIns="0" bIns="0" rtlCol="0" anchor="ctr"/>
          <a:lstStyle/>
          <a:p>
            <a:pPr indent="0" marL="0">
              <a:buNone/>
            </a:pPr>
            <a:r>
              <a:rPr lang="en-US" sz="1200" dirty="0">
                <a:solidFill>
                  <a:srgbClr val="A9A7C0"/>
                </a:solidFill>
                <a:latin typeface="Calibri" pitchFamily="34" charset="0"/>
                <a:ea typeface="Calibri" pitchFamily="34" charset="-122"/>
                <a:cs typeface="Calibri" pitchFamily="34" charset="-120"/>
              </a:rPr>
              <a:t>sample images</a:t>
            </a:r>
            <a:endParaRPr lang="en-US" sz="1200" dirty="0"/>
          </a:p>
        </p:txBody>
      </p:sp>
      <p:sp>
        <p:nvSpPr>
          <p:cNvPr id="46" name="Text 38"/>
          <p:cNvSpPr txBox="1"/>
          <p:nvPr/>
        </p:nvSpPr>
        <p:spPr>
          <a:xfrm>
            <a:off x="9372600" y="4517136"/>
            <a:ext cx="2103120" cy="502920"/>
          </a:xfrm>
          <a:prstGeom prst="rect">
            <a:avLst/>
          </a:prstGeom>
          <a:noFill/>
          <a:ln/>
        </p:spPr>
        <p:txBody>
          <a:bodyPr wrap="square" lIns="0" tIns="0" rIns="0" bIns="0" rtlCol="0" anchor="ctr"/>
          <a:lstStyle/>
          <a:p>
            <a:pPr indent="0" marL="0">
              <a:buNone/>
            </a:pPr>
            <a:r>
              <a:rPr lang="en-US" sz="2800" b="1" dirty="0">
                <a:solidFill>
                  <a:srgbClr val="22D3EE"/>
                </a:solidFill>
                <a:latin typeface="Arial" pitchFamily="34" charset="0"/>
                <a:ea typeface="Arial" pitchFamily="34" charset="-122"/>
                <a:cs typeface="Arial" pitchFamily="34" charset="-120"/>
              </a:rPr>
              <a:t>35</a:t>
            </a:r>
            <a:endParaRPr lang="en-US" sz="2800" dirty="0"/>
          </a:p>
        </p:txBody>
      </p:sp>
      <p:sp>
        <p:nvSpPr>
          <p:cNvPr id="47" name="Text 39"/>
          <p:cNvSpPr txBox="1"/>
          <p:nvPr/>
        </p:nvSpPr>
        <p:spPr>
          <a:xfrm>
            <a:off x="9372600" y="4992624"/>
            <a:ext cx="2103120" cy="320040"/>
          </a:xfrm>
          <a:prstGeom prst="rect">
            <a:avLst/>
          </a:prstGeom>
          <a:noFill/>
          <a:ln/>
        </p:spPr>
        <p:txBody>
          <a:bodyPr wrap="square" lIns="0" tIns="0" rIns="0" bIns="0" rtlCol="0" anchor="ctr"/>
          <a:lstStyle/>
          <a:p>
            <a:pPr indent="0" marL="0">
              <a:buNone/>
            </a:pPr>
            <a:r>
              <a:rPr lang="en-US" sz="1200" dirty="0">
                <a:solidFill>
                  <a:srgbClr val="A9A7C0"/>
                </a:solidFill>
                <a:latin typeface="Calibri" pitchFamily="34" charset="0"/>
                <a:ea typeface="Calibri" pitchFamily="34" charset="-122"/>
                <a:cs typeface="Calibri" pitchFamily="34" charset="-120"/>
              </a:rPr>
              <a:t>automated tests</a:t>
            </a:r>
            <a:endParaRPr lang="en-US" sz="1200" dirty="0"/>
          </a:p>
        </p:txBody>
      </p:sp>
      <p:sp>
        <p:nvSpPr>
          <p:cNvPr id="48" name="Text 40"/>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b="1" dirty="0">
                <a:solidFill>
                  <a:srgbClr val="A9A7C0"/>
                </a:solidFill>
                <a:latin typeface="Calibri" pitchFamily="34" charset="0"/>
                <a:ea typeface="Calibri" pitchFamily="34" charset="-122"/>
                <a:cs typeface="Calibri" pitchFamily="34" charset="-120"/>
              </a:rPr>
              <a:t>PixelProse</a:t>
            </a:r>
            <a:pPr algn="r" indent="0" marL="0">
              <a:buNone/>
            </a:pPr>
            <a:r>
              <a:rPr lang="en-US" sz="1000" dirty="0">
                <a:solidFill>
                  <a:srgbClr val="74718F"/>
                </a:solidFill>
                <a:latin typeface="Calibri" pitchFamily="34" charset="0"/>
                <a:ea typeface="Calibri" pitchFamily="34" charset="-122"/>
                <a:cs typeface="Calibri" pitchFamily="34" charset="-120"/>
              </a:rPr>
              <a:t>   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indent="0" marL="0">
              <a:buNone/>
            </a:pPr>
            <a:r>
              <a:rPr lang="en-US" sz="1100" b="1" spc="300" kern="0" dirty="0">
                <a:solidFill>
                  <a:srgbClr val="8B5CF6"/>
                </a:solidFill>
                <a:latin typeface="Arial" pitchFamily="34" charset="0"/>
                <a:ea typeface="Arial" pitchFamily="34" charset="-122"/>
                <a:cs typeface="Arial" pitchFamily="34" charset="-120"/>
              </a:rPr>
              <a:t>WHAT'S NEXT</a:t>
            </a:r>
            <a:endParaRPr lang="en-US" sz="1100" dirty="0"/>
          </a:p>
        </p:txBody>
      </p:sp>
      <p:sp>
        <p:nvSpPr>
          <p:cNvPr id="3" name="Text 1"/>
          <p:cNvSpPr txBox="1"/>
          <p:nvPr/>
        </p:nvSpPr>
        <p:spPr>
          <a:xfrm>
            <a:off x="548640" y="777240"/>
            <a:ext cx="11094415" cy="777240"/>
          </a:xfrm>
          <a:prstGeom prst="rect">
            <a:avLst/>
          </a:prstGeom>
          <a:noFill/>
          <a:ln/>
        </p:spPr>
        <p:txBody>
          <a:bodyPr wrap="square" lIns="0" tIns="0" rIns="0" bIns="0" rtlCol="0" anchor="t"/>
          <a:lstStyle/>
          <a:p>
            <a:pPr indent="0" marL="0">
              <a:buNone/>
            </a:pPr>
            <a:r>
              <a:rPr lang="en-US" sz="3400" b="1" dirty="0">
                <a:solidFill>
                  <a:srgbClr val="F1F0FA"/>
                </a:solidFill>
                <a:latin typeface="Arial" pitchFamily="34" charset="0"/>
                <a:ea typeface="Arial" pitchFamily="34" charset="-122"/>
                <a:cs typeface="Arial" pitchFamily="34" charset="-120"/>
              </a:rPr>
              <a:t>Future scope</a:t>
            </a:r>
            <a:endParaRPr lang="en-US" sz="3400" dirty="0"/>
          </a:p>
        </p:txBody>
      </p:sp>
      <p:sp>
        <p:nvSpPr>
          <p:cNvPr id="4" name="Shape 2"/>
          <p:cNvSpPr/>
          <p:nvPr/>
        </p:nvSpPr>
        <p:spPr>
          <a:xfrm>
            <a:off x="548640" y="1874520"/>
            <a:ext cx="640080" cy="640080"/>
          </a:xfrm>
          <a:prstGeom prst="ellipse">
            <a:avLst/>
          </a:prstGeom>
          <a:solidFill>
            <a:srgbClr val="8B5CF6">
              <a:alpha val="18000"/>
            </a:srgbClr>
          </a:solidFill>
          <a:ln w="12700">
            <a:solidFill>
              <a:srgbClr val="8B5CF6">
                <a:alpha val="60000"/>
              </a:srgbClr>
            </a:solidFill>
            <a:prstDash val="solid"/>
          </a:ln>
        </p:spPr>
      </p:sp>
      <p:pic>
        <p:nvPicPr>
          <p:cNvPr id="5" name="Image 0" descr="preencoded.png">    </p:cNvPr>
          <p:cNvPicPr>
            <a:picLocks noChangeAspect="1"/>
          </p:cNvPicPr>
          <p:nvPr/>
        </p:nvPicPr>
        <p:blipFill>
          <a:blip r:embed="rId2"/>
          <a:stretch>
            <a:fillRect/>
          </a:stretch>
        </p:blipFill>
        <p:spPr>
          <a:xfrm>
            <a:off x="689458" y="2015338"/>
            <a:ext cx="358445" cy="358445"/>
          </a:xfrm>
          <a:prstGeom prst="rect">
            <a:avLst/>
          </a:prstGeom>
        </p:spPr>
      </p:pic>
      <p:sp>
        <p:nvSpPr>
          <p:cNvPr id="6" name="Text 3"/>
          <p:cNvSpPr txBox="1"/>
          <p:nvPr/>
        </p:nvSpPr>
        <p:spPr>
          <a:xfrm>
            <a:off x="1417320" y="1828800"/>
            <a:ext cx="4572000" cy="365760"/>
          </a:xfrm>
          <a:prstGeom prst="rect">
            <a:avLst/>
          </a:prstGeom>
          <a:noFill/>
          <a:ln/>
        </p:spPr>
        <p:txBody>
          <a:bodyPr wrap="square" lIns="0" tIns="0" rIns="0" bIns="0" rtlCol="0" anchor="ctr"/>
          <a:lstStyle/>
          <a:p>
            <a:pPr indent="0" marL="0">
              <a:buNone/>
            </a:pPr>
            <a:r>
              <a:rPr lang="en-US" sz="1700" b="1" dirty="0">
                <a:solidFill>
                  <a:srgbClr val="F1F0FA"/>
                </a:solidFill>
                <a:latin typeface="Arial" pitchFamily="34" charset="0"/>
                <a:ea typeface="Arial" pitchFamily="34" charset="-122"/>
                <a:cs typeface="Arial" pitchFamily="34" charset="-120"/>
              </a:rPr>
              <a:t>Indian languages</a:t>
            </a:r>
            <a:endParaRPr lang="en-US" sz="1700" dirty="0"/>
          </a:p>
        </p:txBody>
      </p:sp>
      <p:sp>
        <p:nvSpPr>
          <p:cNvPr id="7" name="Text 4"/>
          <p:cNvSpPr txBox="1"/>
          <p:nvPr/>
        </p:nvSpPr>
        <p:spPr>
          <a:xfrm>
            <a:off x="1417320" y="2212848"/>
            <a:ext cx="4572000" cy="457200"/>
          </a:xfrm>
          <a:prstGeom prst="rect">
            <a:avLst/>
          </a:prstGeom>
          <a:noFill/>
          <a:ln/>
        </p:spPr>
        <p:txBody>
          <a:bodyPr wrap="square" lIns="0" tIns="0" rIns="0" bIns="0" rtlCol="0" anchor="t"/>
          <a:lstStyle/>
          <a:p>
            <a:pPr indent="0" marL="0">
              <a:buNone/>
            </a:pPr>
            <a:r>
              <a:rPr lang="en-US" sz="1300" dirty="0">
                <a:solidFill>
                  <a:srgbClr val="A9A7C0"/>
                </a:solidFill>
                <a:latin typeface="Calibri" pitchFamily="34" charset="0"/>
                <a:ea typeface="Calibri" pitchFamily="34" charset="-122"/>
                <a:cs typeface="Calibri" pitchFamily="34" charset="-120"/>
              </a:rPr>
              <a:t>Hindi, Gujarati, Marathi captions via a translation model</a:t>
            </a:r>
            <a:endParaRPr lang="en-US" sz="1300" dirty="0"/>
          </a:p>
        </p:txBody>
      </p:sp>
      <p:sp>
        <p:nvSpPr>
          <p:cNvPr id="8" name="Shape 5"/>
          <p:cNvSpPr/>
          <p:nvPr/>
        </p:nvSpPr>
        <p:spPr>
          <a:xfrm>
            <a:off x="6172200" y="1874520"/>
            <a:ext cx="640080" cy="640080"/>
          </a:xfrm>
          <a:prstGeom prst="ellipse">
            <a:avLst/>
          </a:prstGeom>
          <a:solidFill>
            <a:srgbClr val="22D3EE">
              <a:alpha val="18000"/>
            </a:srgbClr>
          </a:solidFill>
          <a:ln w="12700">
            <a:solidFill>
              <a:srgbClr val="22D3EE">
                <a:alpha val="60000"/>
              </a:srgbClr>
            </a:solidFill>
            <a:prstDash val="solid"/>
          </a:ln>
        </p:spPr>
      </p:sp>
      <p:pic>
        <p:nvPicPr>
          <p:cNvPr id="9" name="Image 1" descr="preencoded.png">    </p:cNvPr>
          <p:cNvPicPr>
            <a:picLocks noChangeAspect="1"/>
          </p:cNvPicPr>
          <p:nvPr/>
        </p:nvPicPr>
        <p:blipFill>
          <a:blip r:embed="rId3"/>
          <a:stretch>
            <a:fillRect/>
          </a:stretch>
        </p:blipFill>
        <p:spPr>
          <a:xfrm>
            <a:off x="6313018" y="2015338"/>
            <a:ext cx="358445" cy="358445"/>
          </a:xfrm>
          <a:prstGeom prst="rect">
            <a:avLst/>
          </a:prstGeom>
        </p:spPr>
      </p:pic>
      <p:sp>
        <p:nvSpPr>
          <p:cNvPr id="10" name="Text 6"/>
          <p:cNvSpPr txBox="1"/>
          <p:nvPr/>
        </p:nvSpPr>
        <p:spPr>
          <a:xfrm>
            <a:off x="7040880" y="1828800"/>
            <a:ext cx="4572000" cy="365760"/>
          </a:xfrm>
          <a:prstGeom prst="rect">
            <a:avLst/>
          </a:prstGeom>
          <a:noFill/>
          <a:ln/>
        </p:spPr>
        <p:txBody>
          <a:bodyPr wrap="square" lIns="0" tIns="0" rIns="0" bIns="0" rtlCol="0" anchor="ctr"/>
          <a:lstStyle/>
          <a:p>
            <a:pPr indent="0" marL="0">
              <a:buNone/>
            </a:pPr>
            <a:r>
              <a:rPr lang="en-US" sz="1700" b="1" dirty="0">
                <a:solidFill>
                  <a:srgbClr val="F1F0FA"/>
                </a:solidFill>
                <a:latin typeface="Arial" pitchFamily="34" charset="0"/>
                <a:ea typeface="Arial" pitchFamily="34" charset="-122"/>
                <a:cs typeface="Arial" pitchFamily="34" charset="-120"/>
              </a:rPr>
              <a:t>Bigger vision-language models</a:t>
            </a:r>
            <a:endParaRPr lang="en-US" sz="1700" dirty="0"/>
          </a:p>
        </p:txBody>
      </p:sp>
      <p:sp>
        <p:nvSpPr>
          <p:cNvPr id="11" name="Text 7"/>
          <p:cNvSpPr txBox="1"/>
          <p:nvPr/>
        </p:nvSpPr>
        <p:spPr>
          <a:xfrm>
            <a:off x="7040880" y="2212848"/>
            <a:ext cx="4572000" cy="457200"/>
          </a:xfrm>
          <a:prstGeom prst="rect">
            <a:avLst/>
          </a:prstGeom>
          <a:noFill/>
          <a:ln/>
        </p:spPr>
        <p:txBody>
          <a:bodyPr wrap="square" lIns="0" tIns="0" rIns="0" bIns="0" rtlCol="0" anchor="t"/>
          <a:lstStyle/>
          <a:p>
            <a:pPr indent="0" marL="0">
              <a:buNone/>
            </a:pPr>
            <a:r>
              <a:rPr lang="en-US" sz="1300" dirty="0">
                <a:solidFill>
                  <a:srgbClr val="A9A7C0"/>
                </a:solidFill>
                <a:latin typeface="Calibri" pitchFamily="34" charset="0"/>
                <a:ea typeface="Calibri" pitchFamily="34" charset="-122"/>
                <a:cs typeface="Calibri" pitchFamily="34" charset="-120"/>
              </a:rPr>
              <a:t>BLIP-2 / Florence-2 for paragraph-length descriptions on GPU</a:t>
            </a:r>
            <a:endParaRPr lang="en-US" sz="1300" dirty="0"/>
          </a:p>
        </p:txBody>
      </p:sp>
      <p:sp>
        <p:nvSpPr>
          <p:cNvPr id="12" name="Shape 8"/>
          <p:cNvSpPr/>
          <p:nvPr/>
        </p:nvSpPr>
        <p:spPr>
          <a:xfrm>
            <a:off x="548640" y="3291840"/>
            <a:ext cx="640080" cy="640080"/>
          </a:xfrm>
          <a:prstGeom prst="ellipse">
            <a:avLst/>
          </a:prstGeom>
          <a:solidFill>
            <a:srgbClr val="8B5CF6">
              <a:alpha val="18000"/>
            </a:srgbClr>
          </a:solidFill>
          <a:ln w="12700">
            <a:solidFill>
              <a:srgbClr val="8B5CF6">
                <a:alpha val="60000"/>
              </a:srgbClr>
            </a:solidFill>
            <a:prstDash val="solid"/>
          </a:ln>
        </p:spPr>
      </p:sp>
      <p:pic>
        <p:nvPicPr>
          <p:cNvPr id="13" name="Image 2" descr="preencoded.png">    </p:cNvPr>
          <p:cNvPicPr>
            <a:picLocks noChangeAspect="1"/>
          </p:cNvPicPr>
          <p:nvPr/>
        </p:nvPicPr>
        <p:blipFill>
          <a:blip r:embed="rId4"/>
          <a:stretch>
            <a:fillRect/>
          </a:stretch>
        </p:blipFill>
        <p:spPr>
          <a:xfrm>
            <a:off x="689458" y="3432658"/>
            <a:ext cx="358445" cy="358445"/>
          </a:xfrm>
          <a:prstGeom prst="rect">
            <a:avLst/>
          </a:prstGeom>
        </p:spPr>
      </p:pic>
      <p:sp>
        <p:nvSpPr>
          <p:cNvPr id="14" name="Text 9"/>
          <p:cNvSpPr txBox="1"/>
          <p:nvPr/>
        </p:nvSpPr>
        <p:spPr>
          <a:xfrm>
            <a:off x="1417320" y="3246120"/>
            <a:ext cx="4572000" cy="365760"/>
          </a:xfrm>
          <a:prstGeom prst="rect">
            <a:avLst/>
          </a:prstGeom>
          <a:noFill/>
          <a:ln/>
        </p:spPr>
        <p:txBody>
          <a:bodyPr wrap="square" lIns="0" tIns="0" rIns="0" bIns="0" rtlCol="0" anchor="ctr"/>
          <a:lstStyle/>
          <a:p>
            <a:pPr indent="0" marL="0">
              <a:buNone/>
            </a:pPr>
            <a:r>
              <a:rPr lang="en-US" sz="1700" b="1" dirty="0">
                <a:solidFill>
                  <a:srgbClr val="F1F0FA"/>
                </a:solidFill>
                <a:latin typeface="Arial" pitchFamily="34" charset="0"/>
                <a:ea typeface="Arial" pitchFamily="34" charset="-122"/>
                <a:cs typeface="Arial" pitchFamily="34" charset="-120"/>
              </a:rPr>
              <a:t>Video captioning</a:t>
            </a:r>
            <a:endParaRPr lang="en-US" sz="1700" dirty="0"/>
          </a:p>
        </p:txBody>
      </p:sp>
      <p:sp>
        <p:nvSpPr>
          <p:cNvPr id="15" name="Text 10"/>
          <p:cNvSpPr txBox="1"/>
          <p:nvPr/>
        </p:nvSpPr>
        <p:spPr>
          <a:xfrm>
            <a:off x="1417320" y="3630168"/>
            <a:ext cx="4572000" cy="457200"/>
          </a:xfrm>
          <a:prstGeom prst="rect">
            <a:avLst/>
          </a:prstGeom>
          <a:noFill/>
          <a:ln/>
        </p:spPr>
        <p:txBody>
          <a:bodyPr wrap="square" lIns="0" tIns="0" rIns="0" bIns="0" rtlCol="0" anchor="t"/>
          <a:lstStyle/>
          <a:p>
            <a:pPr indent="0" marL="0">
              <a:buNone/>
            </a:pPr>
            <a:r>
              <a:rPr lang="en-US" sz="1300" dirty="0">
                <a:solidFill>
                  <a:srgbClr val="A9A7C0"/>
                </a:solidFill>
                <a:latin typeface="Calibri" pitchFamily="34" charset="0"/>
                <a:ea typeface="Calibri" pitchFamily="34" charset="-122"/>
                <a:cs typeface="Calibri" pitchFamily="34" charset="-120"/>
              </a:rPr>
              <a:t>Describe clips scene by scene</a:t>
            </a:r>
            <a:endParaRPr lang="en-US" sz="1300" dirty="0"/>
          </a:p>
        </p:txBody>
      </p:sp>
      <p:sp>
        <p:nvSpPr>
          <p:cNvPr id="16" name="Shape 11"/>
          <p:cNvSpPr/>
          <p:nvPr/>
        </p:nvSpPr>
        <p:spPr>
          <a:xfrm>
            <a:off x="6172200" y="3291840"/>
            <a:ext cx="640080" cy="640080"/>
          </a:xfrm>
          <a:prstGeom prst="ellipse">
            <a:avLst/>
          </a:prstGeom>
          <a:solidFill>
            <a:srgbClr val="22D3EE">
              <a:alpha val="18000"/>
            </a:srgbClr>
          </a:solidFill>
          <a:ln w="12700">
            <a:solidFill>
              <a:srgbClr val="22D3EE">
                <a:alpha val="60000"/>
              </a:srgbClr>
            </a:solidFill>
            <a:prstDash val="solid"/>
          </a:ln>
        </p:spPr>
      </p:sp>
      <p:pic>
        <p:nvPicPr>
          <p:cNvPr id="17" name="Image 3" descr="preencoded.png">    </p:cNvPr>
          <p:cNvPicPr>
            <a:picLocks noChangeAspect="1"/>
          </p:cNvPicPr>
          <p:nvPr/>
        </p:nvPicPr>
        <p:blipFill>
          <a:blip r:embed="rId5"/>
          <a:stretch>
            <a:fillRect/>
          </a:stretch>
        </p:blipFill>
        <p:spPr>
          <a:xfrm>
            <a:off x="6313018" y="3432658"/>
            <a:ext cx="358445" cy="358445"/>
          </a:xfrm>
          <a:prstGeom prst="rect">
            <a:avLst/>
          </a:prstGeom>
        </p:spPr>
      </p:pic>
      <p:sp>
        <p:nvSpPr>
          <p:cNvPr id="18" name="Text 12"/>
          <p:cNvSpPr txBox="1"/>
          <p:nvPr/>
        </p:nvSpPr>
        <p:spPr>
          <a:xfrm>
            <a:off x="7040880" y="3246120"/>
            <a:ext cx="4572000" cy="365760"/>
          </a:xfrm>
          <a:prstGeom prst="rect">
            <a:avLst/>
          </a:prstGeom>
          <a:noFill/>
          <a:ln/>
        </p:spPr>
        <p:txBody>
          <a:bodyPr wrap="square" lIns="0" tIns="0" rIns="0" bIns="0" rtlCol="0" anchor="ctr"/>
          <a:lstStyle/>
          <a:p>
            <a:pPr indent="0" marL="0">
              <a:buNone/>
            </a:pPr>
            <a:r>
              <a:rPr lang="en-US" sz="1700" b="1" dirty="0">
                <a:solidFill>
                  <a:srgbClr val="F1F0FA"/>
                </a:solidFill>
                <a:latin typeface="Arial" pitchFamily="34" charset="0"/>
                <a:ea typeface="Arial" pitchFamily="34" charset="-122"/>
                <a:cs typeface="Arial" pitchFamily="34" charset="-120"/>
              </a:rPr>
              <a:t>Fine-tuning</a:t>
            </a:r>
            <a:endParaRPr lang="en-US" sz="1700" dirty="0"/>
          </a:p>
        </p:txBody>
      </p:sp>
      <p:sp>
        <p:nvSpPr>
          <p:cNvPr id="19" name="Text 13"/>
          <p:cNvSpPr txBox="1"/>
          <p:nvPr/>
        </p:nvSpPr>
        <p:spPr>
          <a:xfrm>
            <a:off x="7040880" y="3630168"/>
            <a:ext cx="4572000" cy="457200"/>
          </a:xfrm>
          <a:prstGeom prst="rect">
            <a:avLst/>
          </a:prstGeom>
          <a:noFill/>
          <a:ln/>
        </p:spPr>
        <p:txBody>
          <a:bodyPr wrap="square" lIns="0" tIns="0" rIns="0" bIns="0" rtlCol="0" anchor="t"/>
          <a:lstStyle/>
          <a:p>
            <a:pPr indent="0" marL="0">
              <a:buNone/>
            </a:pPr>
            <a:r>
              <a:rPr lang="en-US" sz="1300" dirty="0">
                <a:solidFill>
                  <a:srgbClr val="A9A7C0"/>
                </a:solidFill>
                <a:latin typeface="Calibri" pitchFamily="34" charset="0"/>
                <a:ea typeface="Calibri" pitchFamily="34" charset="-122"/>
                <a:cs typeface="Calibri" pitchFamily="34" charset="-120"/>
              </a:rPr>
              <a:t>Adapt to Indian scenes and domain data (medical, retail)</a:t>
            </a:r>
            <a:endParaRPr lang="en-US" sz="1300" dirty="0"/>
          </a:p>
        </p:txBody>
      </p:sp>
      <p:sp>
        <p:nvSpPr>
          <p:cNvPr id="20" name="Shape 14"/>
          <p:cNvSpPr/>
          <p:nvPr/>
        </p:nvSpPr>
        <p:spPr>
          <a:xfrm>
            <a:off x="548640" y="4709160"/>
            <a:ext cx="640080" cy="640080"/>
          </a:xfrm>
          <a:prstGeom prst="ellipse">
            <a:avLst/>
          </a:prstGeom>
          <a:solidFill>
            <a:srgbClr val="8B5CF6">
              <a:alpha val="18000"/>
            </a:srgbClr>
          </a:solidFill>
          <a:ln w="12700">
            <a:solidFill>
              <a:srgbClr val="8B5CF6">
                <a:alpha val="60000"/>
              </a:srgbClr>
            </a:solidFill>
            <a:prstDash val="solid"/>
          </a:ln>
        </p:spPr>
      </p:sp>
      <p:pic>
        <p:nvPicPr>
          <p:cNvPr id="21" name="Image 4" descr="preencoded.png">    </p:cNvPr>
          <p:cNvPicPr>
            <a:picLocks noChangeAspect="1"/>
          </p:cNvPicPr>
          <p:nvPr/>
        </p:nvPicPr>
        <p:blipFill>
          <a:blip r:embed="rId6"/>
          <a:stretch>
            <a:fillRect/>
          </a:stretch>
        </p:blipFill>
        <p:spPr>
          <a:xfrm>
            <a:off x="689458" y="4849978"/>
            <a:ext cx="358445" cy="358445"/>
          </a:xfrm>
          <a:prstGeom prst="rect">
            <a:avLst/>
          </a:prstGeom>
        </p:spPr>
      </p:pic>
      <p:sp>
        <p:nvSpPr>
          <p:cNvPr id="22" name="Text 15"/>
          <p:cNvSpPr txBox="1"/>
          <p:nvPr/>
        </p:nvSpPr>
        <p:spPr>
          <a:xfrm>
            <a:off x="1417320" y="4663440"/>
            <a:ext cx="4572000" cy="365760"/>
          </a:xfrm>
          <a:prstGeom prst="rect">
            <a:avLst/>
          </a:prstGeom>
          <a:noFill/>
          <a:ln/>
        </p:spPr>
        <p:txBody>
          <a:bodyPr wrap="square" lIns="0" tIns="0" rIns="0" bIns="0" rtlCol="0" anchor="ctr"/>
          <a:lstStyle/>
          <a:p>
            <a:pPr indent="0" marL="0">
              <a:buNone/>
            </a:pPr>
            <a:r>
              <a:rPr lang="en-US" sz="1700" b="1" dirty="0">
                <a:solidFill>
                  <a:srgbClr val="F1F0FA"/>
                </a:solidFill>
                <a:latin typeface="Arial" pitchFamily="34" charset="0"/>
                <a:ea typeface="Arial" pitchFamily="34" charset="-122"/>
                <a:cs typeface="Arial" pitchFamily="34" charset="-120"/>
              </a:rPr>
              <a:t>On-device</a:t>
            </a:r>
            <a:endParaRPr lang="en-US" sz="1700" dirty="0"/>
          </a:p>
        </p:txBody>
      </p:sp>
      <p:sp>
        <p:nvSpPr>
          <p:cNvPr id="23" name="Text 16"/>
          <p:cNvSpPr txBox="1"/>
          <p:nvPr/>
        </p:nvSpPr>
        <p:spPr>
          <a:xfrm>
            <a:off x="1417320" y="5047488"/>
            <a:ext cx="4572000" cy="457200"/>
          </a:xfrm>
          <a:prstGeom prst="rect">
            <a:avLst/>
          </a:prstGeom>
          <a:noFill/>
          <a:ln/>
        </p:spPr>
        <p:txBody>
          <a:bodyPr wrap="square" lIns="0" tIns="0" rIns="0" bIns="0" rtlCol="0" anchor="t"/>
          <a:lstStyle/>
          <a:p>
            <a:pPr indent="0" marL="0">
              <a:buNone/>
            </a:pPr>
            <a:r>
              <a:rPr lang="en-US" sz="1300" dirty="0">
                <a:solidFill>
                  <a:srgbClr val="A9A7C0"/>
                </a:solidFill>
                <a:latin typeface="Calibri" pitchFamily="34" charset="0"/>
                <a:ea typeface="Calibri" pitchFamily="34" charset="-122"/>
                <a:cs typeface="Calibri" pitchFamily="34" charset="-120"/>
              </a:rPr>
              <a:t>Quantised ONNX model inside a mobile app</a:t>
            </a:r>
            <a:endParaRPr lang="en-US" sz="1300" dirty="0"/>
          </a:p>
        </p:txBody>
      </p:sp>
      <p:sp>
        <p:nvSpPr>
          <p:cNvPr id="24" name="Shape 17"/>
          <p:cNvSpPr/>
          <p:nvPr/>
        </p:nvSpPr>
        <p:spPr>
          <a:xfrm>
            <a:off x="6172200" y="4709160"/>
            <a:ext cx="640080" cy="640080"/>
          </a:xfrm>
          <a:prstGeom prst="ellipse">
            <a:avLst/>
          </a:prstGeom>
          <a:solidFill>
            <a:srgbClr val="22D3EE">
              <a:alpha val="18000"/>
            </a:srgbClr>
          </a:solidFill>
          <a:ln w="12700">
            <a:solidFill>
              <a:srgbClr val="22D3EE">
                <a:alpha val="60000"/>
              </a:srgbClr>
            </a:solidFill>
            <a:prstDash val="solid"/>
          </a:ln>
        </p:spPr>
      </p:sp>
      <p:pic>
        <p:nvPicPr>
          <p:cNvPr id="25" name="Image 5" descr="preencoded.png">    </p:cNvPr>
          <p:cNvPicPr>
            <a:picLocks noChangeAspect="1"/>
          </p:cNvPicPr>
          <p:nvPr/>
        </p:nvPicPr>
        <p:blipFill>
          <a:blip r:embed="rId7"/>
          <a:stretch>
            <a:fillRect/>
          </a:stretch>
        </p:blipFill>
        <p:spPr>
          <a:xfrm>
            <a:off x="6313018" y="4849978"/>
            <a:ext cx="358445" cy="358445"/>
          </a:xfrm>
          <a:prstGeom prst="rect">
            <a:avLst/>
          </a:prstGeom>
        </p:spPr>
      </p:pic>
      <p:sp>
        <p:nvSpPr>
          <p:cNvPr id="26" name="Text 18"/>
          <p:cNvSpPr txBox="1"/>
          <p:nvPr/>
        </p:nvSpPr>
        <p:spPr>
          <a:xfrm>
            <a:off x="7040880" y="4663440"/>
            <a:ext cx="4572000" cy="365760"/>
          </a:xfrm>
          <a:prstGeom prst="rect">
            <a:avLst/>
          </a:prstGeom>
          <a:noFill/>
          <a:ln/>
        </p:spPr>
        <p:txBody>
          <a:bodyPr wrap="square" lIns="0" tIns="0" rIns="0" bIns="0" rtlCol="0" anchor="ctr"/>
          <a:lstStyle/>
          <a:p>
            <a:pPr indent="0" marL="0">
              <a:buNone/>
            </a:pPr>
            <a:r>
              <a:rPr lang="en-US" sz="1700" b="1" dirty="0">
                <a:solidFill>
                  <a:srgbClr val="F1F0FA"/>
                </a:solidFill>
                <a:latin typeface="Arial" pitchFamily="34" charset="0"/>
                <a:ea typeface="Arial" pitchFamily="34" charset="-122"/>
                <a:cs typeface="Arial" pitchFamily="34" charset="-120"/>
              </a:rPr>
              <a:t>Bias &amp; safety audit</a:t>
            </a:r>
            <a:endParaRPr lang="en-US" sz="1700" dirty="0"/>
          </a:p>
        </p:txBody>
      </p:sp>
      <p:sp>
        <p:nvSpPr>
          <p:cNvPr id="27" name="Text 19"/>
          <p:cNvSpPr txBox="1"/>
          <p:nvPr/>
        </p:nvSpPr>
        <p:spPr>
          <a:xfrm>
            <a:off x="7040880" y="5047488"/>
            <a:ext cx="4572000" cy="457200"/>
          </a:xfrm>
          <a:prstGeom prst="rect">
            <a:avLst/>
          </a:prstGeom>
          <a:noFill/>
          <a:ln/>
        </p:spPr>
        <p:txBody>
          <a:bodyPr wrap="square" lIns="0" tIns="0" rIns="0" bIns="0" rtlCol="0" anchor="t"/>
          <a:lstStyle/>
          <a:p>
            <a:pPr indent="0" marL="0">
              <a:buNone/>
            </a:pPr>
            <a:r>
              <a:rPr lang="en-US" sz="1300" dirty="0">
                <a:solidFill>
                  <a:srgbClr val="A9A7C0"/>
                </a:solidFill>
                <a:latin typeface="Calibri" pitchFamily="34" charset="0"/>
                <a:ea typeface="Calibri" pitchFamily="34" charset="-122"/>
                <a:cs typeface="Calibri" pitchFamily="34" charset="-120"/>
              </a:rPr>
              <a:t>Measure and reduce demographic bias in captions</a:t>
            </a:r>
            <a:endParaRPr lang="en-US" sz="1300" dirty="0"/>
          </a:p>
        </p:txBody>
      </p:sp>
      <p:sp>
        <p:nvSpPr>
          <p:cNvPr id="28" name="Text 20"/>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b="1" dirty="0">
                <a:solidFill>
                  <a:srgbClr val="A9A7C0"/>
                </a:solidFill>
                <a:latin typeface="Calibri" pitchFamily="34" charset="0"/>
                <a:ea typeface="Calibri" pitchFamily="34" charset="-122"/>
                <a:cs typeface="Calibri" pitchFamily="34" charset="-120"/>
              </a:rPr>
              <a:t>PixelProse</a:t>
            </a:r>
            <a:pPr algn="r" indent="0" marL="0">
              <a:buNone/>
            </a:pPr>
            <a:r>
              <a:rPr lang="en-US" sz="1000" dirty="0">
                <a:solidFill>
                  <a:srgbClr val="74718F"/>
                </a:solidFill>
                <a:latin typeface="Calibri" pitchFamily="34" charset="0"/>
                <a:ea typeface="Calibri" pitchFamily="34" charset="-122"/>
                <a:cs typeface="Calibri" pitchFamily="34" charset="-120"/>
              </a:rPr>
              <a:t>   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1188720"/>
            <a:ext cx="6400800" cy="1097280"/>
          </a:xfrm>
          <a:prstGeom prst="rect">
            <a:avLst/>
          </a:prstGeom>
          <a:noFill/>
          <a:ln/>
        </p:spPr>
        <p:txBody>
          <a:bodyPr wrap="square" lIns="0" tIns="0" rIns="0" bIns="0" rtlCol="0" anchor="ctr"/>
          <a:lstStyle/>
          <a:p>
            <a:pPr indent="0" marL="0">
              <a:buNone/>
            </a:pPr>
            <a:r>
              <a:rPr lang="en-US" sz="6400" b="1" dirty="0">
                <a:solidFill>
                  <a:srgbClr val="F1F0FA"/>
                </a:solidFill>
                <a:latin typeface="Arial" pitchFamily="34" charset="0"/>
                <a:ea typeface="Arial" pitchFamily="34" charset="-122"/>
                <a:cs typeface="Arial" pitchFamily="34" charset="-120"/>
              </a:rPr>
              <a:t>Thank you</a:t>
            </a:r>
            <a:endParaRPr lang="en-US" sz="6400" dirty="0"/>
          </a:p>
        </p:txBody>
      </p:sp>
      <p:sp>
        <p:nvSpPr>
          <p:cNvPr id="3" name="Text 1"/>
          <p:cNvSpPr txBox="1"/>
          <p:nvPr/>
        </p:nvSpPr>
        <p:spPr>
          <a:xfrm>
            <a:off x="548640" y="2286000"/>
            <a:ext cx="6400800" cy="640080"/>
          </a:xfrm>
          <a:prstGeom prst="rect">
            <a:avLst/>
          </a:prstGeom>
          <a:noFill/>
          <a:ln/>
        </p:spPr>
        <p:txBody>
          <a:bodyPr wrap="square" lIns="0" tIns="0" rIns="0" bIns="0" rtlCol="0" anchor="ctr"/>
          <a:lstStyle/>
          <a:p>
            <a:pPr indent="0" marL="0">
              <a:buNone/>
            </a:pPr>
            <a:r>
              <a:rPr lang="en-US" sz="3000" b="1" dirty="0">
                <a:solidFill>
                  <a:srgbClr val="8B5CF6"/>
                </a:solidFill>
                <a:latin typeface="Arial" pitchFamily="34" charset="0"/>
                <a:ea typeface="Arial" pitchFamily="34" charset="-122"/>
                <a:cs typeface="Arial" pitchFamily="34" charset="-120"/>
              </a:rPr>
              <a:t>Questions?</a:t>
            </a:r>
            <a:endParaRPr lang="en-US" sz="3000" dirty="0"/>
          </a:p>
        </p:txBody>
      </p:sp>
      <p:sp>
        <p:nvSpPr>
          <p:cNvPr id="4" name="Text 2"/>
          <p:cNvSpPr txBox="1"/>
          <p:nvPr/>
        </p:nvSpPr>
        <p:spPr>
          <a:xfrm>
            <a:off x="548640" y="3200400"/>
            <a:ext cx="5760720"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A9A7C0"/>
                </a:solidFill>
                <a:latin typeface="Calibri" pitchFamily="34" charset="0"/>
                <a:ea typeface="Calibri" pitchFamily="34" charset="-122"/>
                <a:cs typeface="Calibri" pitchFamily="34" charset="-120"/>
              </a:rPr>
              <a:t>Accurate captions, verified by a second model</a:t>
            </a:r>
            <a:endParaRPr lang="en-US" sz="1600" dirty="0"/>
          </a:p>
          <a:p>
            <a:pPr marL="342900" indent="-342900">
              <a:spcAft>
                <a:spcPts val="800"/>
              </a:spcAft>
              <a:buSzPct val="100000"/>
              <a:buChar char="•"/>
            </a:pPr>
            <a:r>
              <a:rPr lang="en-US" sz="1600" dirty="0">
                <a:solidFill>
                  <a:srgbClr val="A9A7C0"/>
                </a:solidFill>
                <a:latin typeface="Calibri" pitchFamily="34" charset="0"/>
                <a:ea typeface="Calibri" pitchFamily="34" charset="-122"/>
                <a:cs typeface="Calibri" pitchFamily="34" charset="-120"/>
              </a:rPr>
              <a:t>Word-level explanations with Grad-CAM</a:t>
            </a:r>
            <a:endParaRPr lang="en-US" sz="1600" dirty="0"/>
          </a:p>
          <a:p>
            <a:pPr marL="342900" indent="-342900">
              <a:spcAft>
                <a:spcPts val="800"/>
              </a:spcAft>
              <a:buSzPct val="100000"/>
              <a:buChar char="•"/>
            </a:pPr>
            <a:r>
              <a:rPr lang="en-US" sz="1600" dirty="0">
                <a:solidFill>
                  <a:srgbClr val="A9A7C0"/>
                </a:solidFill>
                <a:latin typeface="Calibri" pitchFamily="34" charset="0"/>
                <a:ea typeface="Calibri" pitchFamily="34" charset="-122"/>
                <a:cs typeface="Calibri" pitchFamily="34" charset="-120"/>
              </a:rPr>
              <a:t>Visual Q&amp;A and description matching</a:t>
            </a:r>
            <a:endParaRPr lang="en-US" sz="1600" dirty="0"/>
          </a:p>
          <a:p>
            <a:pPr marL="342900" indent="-342900">
              <a:spcAft>
                <a:spcPts val="800"/>
              </a:spcAft>
              <a:buSzPct val="100000"/>
              <a:buChar char="•"/>
            </a:pPr>
            <a:r>
              <a:rPr lang="en-US" sz="1600" dirty="0">
                <a:solidFill>
                  <a:srgbClr val="A9A7C0"/>
                </a:solidFill>
                <a:latin typeface="Calibri" pitchFamily="34" charset="0"/>
                <a:ea typeface="Calibri" pitchFamily="34" charset="-122"/>
                <a:cs typeface="Calibri" pitchFamily="34" charset="-120"/>
              </a:rPr>
              <a:t>Runs offline on a laptop CPU</a:t>
            </a:r>
            <a:endParaRPr lang="en-US" sz="1600" dirty="0"/>
          </a:p>
        </p:txBody>
      </p:sp>
      <p:sp>
        <p:nvSpPr>
          <p:cNvPr id="5" name="Shape 3"/>
          <p:cNvSpPr/>
          <p:nvPr/>
        </p:nvSpPr>
        <p:spPr>
          <a:xfrm>
            <a:off x="548640" y="5257800"/>
            <a:ext cx="1783080" cy="502920"/>
          </a:xfrm>
          <a:prstGeom prst="roundRect">
            <a:avLst>
              <a:gd name="adj" fmla="val 49091"/>
            </a:avLst>
          </a:prstGeom>
          <a:solidFill>
            <a:srgbClr val="1C1A36"/>
          </a:solidFill>
          <a:ln w="15875">
            <a:solidFill>
              <a:srgbClr val="8B5CF6"/>
            </a:solidFill>
            <a:prstDash val="solid"/>
          </a:ln>
        </p:spPr>
      </p:sp>
      <p:sp>
        <p:nvSpPr>
          <p:cNvPr id="6" name="Text 4"/>
          <p:cNvSpPr txBox="1"/>
          <p:nvPr/>
        </p:nvSpPr>
        <p:spPr>
          <a:xfrm>
            <a:off x="548640" y="5257800"/>
            <a:ext cx="1783080" cy="502920"/>
          </a:xfrm>
          <a:prstGeom prst="rect">
            <a:avLst/>
          </a:prstGeom>
          <a:noFill/>
          <a:ln/>
        </p:spPr>
        <p:txBody>
          <a:bodyPr wrap="square" lIns="0" tIns="0" rIns="0" bIns="0" rtlCol="0" anchor="ctr"/>
          <a:lstStyle/>
          <a:p>
            <a:pPr algn="ctr" indent="0" marL="0">
              <a:buNone/>
            </a:pPr>
            <a:r>
              <a:rPr lang="en-US" sz="1400" b="1" dirty="0">
                <a:solidFill>
                  <a:srgbClr val="F1F0FA"/>
                </a:solidFill>
                <a:latin typeface="Calibri" pitchFamily="34" charset="0"/>
                <a:ea typeface="Calibri" pitchFamily="34" charset="-122"/>
                <a:cs typeface="Calibri" pitchFamily="34" charset="-120"/>
              </a:rPr>
              <a:t>Kartik Verma</a:t>
            </a:r>
            <a:endParaRPr lang="en-US" sz="1400" dirty="0"/>
          </a:p>
        </p:txBody>
      </p:sp>
      <p:sp>
        <p:nvSpPr>
          <p:cNvPr id="7" name="Shape 5"/>
          <p:cNvSpPr/>
          <p:nvPr/>
        </p:nvSpPr>
        <p:spPr>
          <a:xfrm>
            <a:off x="2468880" y="5257800"/>
            <a:ext cx="1783080" cy="502920"/>
          </a:xfrm>
          <a:prstGeom prst="roundRect">
            <a:avLst>
              <a:gd name="adj" fmla="val 49091"/>
            </a:avLst>
          </a:prstGeom>
          <a:solidFill>
            <a:srgbClr val="1C1A36"/>
          </a:solidFill>
          <a:ln w="15875">
            <a:solidFill>
              <a:srgbClr val="22D3EE"/>
            </a:solidFill>
            <a:prstDash val="solid"/>
          </a:ln>
        </p:spPr>
      </p:sp>
      <p:sp>
        <p:nvSpPr>
          <p:cNvPr id="8" name="Text 6"/>
          <p:cNvSpPr txBox="1"/>
          <p:nvPr/>
        </p:nvSpPr>
        <p:spPr>
          <a:xfrm>
            <a:off x="2468880" y="5257800"/>
            <a:ext cx="1783080" cy="502920"/>
          </a:xfrm>
          <a:prstGeom prst="rect">
            <a:avLst/>
          </a:prstGeom>
          <a:noFill/>
          <a:ln/>
        </p:spPr>
        <p:txBody>
          <a:bodyPr wrap="square" lIns="0" tIns="0" rIns="0" bIns="0" rtlCol="0" anchor="ctr"/>
          <a:lstStyle/>
          <a:p>
            <a:pPr algn="ctr" indent="0" marL="0">
              <a:buNone/>
            </a:pPr>
            <a:r>
              <a:rPr lang="en-US" sz="1400" b="1" dirty="0">
                <a:solidFill>
                  <a:srgbClr val="F1F0FA"/>
                </a:solidFill>
                <a:latin typeface="Calibri" pitchFamily="34" charset="0"/>
                <a:ea typeface="Calibri" pitchFamily="34" charset="-122"/>
                <a:cs typeface="Calibri" pitchFamily="34" charset="-120"/>
              </a:rPr>
              <a:t>Dhir Thakar</a:t>
            </a:r>
            <a:endParaRPr lang="en-US" sz="1400" dirty="0"/>
          </a:p>
        </p:txBody>
      </p:sp>
      <p:sp>
        <p:nvSpPr>
          <p:cNvPr id="9" name="Shape 7"/>
          <p:cNvSpPr/>
          <p:nvPr/>
        </p:nvSpPr>
        <p:spPr>
          <a:xfrm>
            <a:off x="4389120" y="5257800"/>
            <a:ext cx="1783080" cy="502920"/>
          </a:xfrm>
          <a:prstGeom prst="roundRect">
            <a:avLst>
              <a:gd name="adj" fmla="val 49091"/>
            </a:avLst>
          </a:prstGeom>
          <a:solidFill>
            <a:srgbClr val="1C1A36"/>
          </a:solidFill>
          <a:ln w="15875">
            <a:solidFill>
              <a:srgbClr val="F472B6"/>
            </a:solidFill>
            <a:prstDash val="solid"/>
          </a:ln>
        </p:spPr>
      </p:sp>
      <p:sp>
        <p:nvSpPr>
          <p:cNvPr id="10" name="Text 8"/>
          <p:cNvSpPr txBox="1"/>
          <p:nvPr/>
        </p:nvSpPr>
        <p:spPr>
          <a:xfrm>
            <a:off x="4389120" y="5257800"/>
            <a:ext cx="1783080" cy="502920"/>
          </a:xfrm>
          <a:prstGeom prst="rect">
            <a:avLst/>
          </a:prstGeom>
          <a:noFill/>
          <a:ln/>
        </p:spPr>
        <p:txBody>
          <a:bodyPr wrap="square" lIns="0" tIns="0" rIns="0" bIns="0" rtlCol="0" anchor="ctr"/>
          <a:lstStyle/>
          <a:p>
            <a:pPr algn="ctr" indent="0" marL="0">
              <a:buNone/>
            </a:pPr>
            <a:r>
              <a:rPr lang="en-US" sz="1400" b="1" dirty="0">
                <a:solidFill>
                  <a:srgbClr val="F1F0FA"/>
                </a:solidFill>
                <a:latin typeface="Calibri" pitchFamily="34" charset="0"/>
                <a:ea typeface="Calibri" pitchFamily="34" charset="-122"/>
                <a:cs typeface="Calibri" pitchFamily="34" charset="-120"/>
              </a:rPr>
              <a:t>Kushal Soni</a:t>
            </a:r>
            <a:endParaRPr lang="en-US" sz="1400" dirty="0"/>
          </a:p>
        </p:txBody>
      </p:sp>
      <p:sp>
        <p:nvSpPr>
          <p:cNvPr id="11" name="Shape 9"/>
          <p:cNvSpPr/>
          <p:nvPr/>
        </p:nvSpPr>
        <p:spPr>
          <a:xfrm>
            <a:off x="7620996" y="768096"/>
            <a:ext cx="3320328" cy="5321808"/>
          </a:xfrm>
          <a:prstGeom prst="roundRect">
            <a:avLst>
              <a:gd name="adj" fmla="val 3305"/>
            </a:avLst>
          </a:prstGeom>
          <a:solidFill>
            <a:srgbClr val="1C1A36"/>
          </a:solidFill>
          <a:ln w="12700">
            <a:solidFill>
              <a:srgbClr val="2E2A4F"/>
            </a:solidFill>
            <a:prstDash val="solid"/>
          </a:ln>
          <a:effectLst>
            <a:outerShdw sx="100000" sy="100000" kx="0" ky="0" algn="bl" rotWithShape="0" blurRad="228600" dist="76200" dir="5400000">
              <a:srgbClr val="000000">
                <a:alpha val="45000"/>
              </a:srgbClr>
            </a:outerShdw>
          </a:effectLst>
        </p:spPr>
      </p:sp>
      <p:pic>
        <p:nvPicPr>
          <p:cNvPr id="12" name="Image 0" descr="/home/user/AAI/docs/images/result_panel.jpg">    </p:cNvPr>
          <p:cNvPicPr>
            <a:picLocks noChangeAspect="1"/>
          </p:cNvPicPr>
          <p:nvPr/>
        </p:nvPicPr>
        <p:blipFill>
          <a:blip r:embed="rId2"/>
          <a:stretch>
            <a:fillRect/>
          </a:stretch>
        </p:blipFill>
        <p:spPr>
          <a:xfrm>
            <a:off x="7675860" y="822960"/>
            <a:ext cx="321060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PixelProse — Explainable AI Image Caption Generator</dc:title>
  <dc:subject>PptxGenJS Presentation</dc:subject>
  <dc:creator>Kartik Verma, Dhir Thakar, Kushal Soni</dc:creator>
  <cp:lastModifiedBy>Kartik Verma, Dhir Thakar, Kushal Soni</cp:lastModifiedBy>
  <cp:revision>1</cp:revision>
  <dcterms:created xsi:type="dcterms:W3CDTF">2026-09-30T14:57:03Z</dcterms:created>
  <dcterms:modified xsi:type="dcterms:W3CDTF">2026-09-30T14:57:03Z</dcterms:modified>
</cp:coreProperties>
</file>